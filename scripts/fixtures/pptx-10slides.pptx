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333" r:id="rId2"/>
    <p:sldId id="334" r:id="rId3"/>
    <p:sldId id="365" r:id="rId4"/>
    <p:sldId id="379" r:id="rId5"/>
    <p:sldId id="380" r:id="rId6"/>
    <p:sldId id="381" r:id="rId7"/>
    <p:sldId id="382" r:id="rId8"/>
    <p:sldId id="383" r:id="rId9"/>
    <p:sldId id="384" r:id="rId10"/>
    <p:sldId id="385" r:id="rId11"/>
    <p:sldId id="386" r:id="rId12"/>
    <p:sldId id="364" r:id="rId13"/>
    <p:sldId id="287" r:id="rId14"/>
    <p:sldId id="294" r:id="rId15"/>
    <p:sldId id="322" r:id="rId16"/>
    <p:sldId id="332" r:id="rId17"/>
    <p:sldId id="318" r:id="rId18"/>
    <p:sldId id="325" r:id="rId19"/>
    <p:sldId id="308" r:id="rId20"/>
    <p:sldId id="306" r:id="rId21"/>
    <p:sldId id="326" r:id="rId22"/>
    <p:sldId id="301" r:id="rId23"/>
    <p:sldId id="327" r:id="rId24"/>
    <p:sldId id="328" r:id="rId25"/>
    <p:sldId id="330" r:id="rId26"/>
    <p:sldId id="329" r:id="rId27"/>
    <p:sldId id="377" r:id="rId28"/>
    <p:sldId id="346" r:id="rId29"/>
    <p:sldId id="347" r:id="rId30"/>
    <p:sldId id="348" r:id="rId31"/>
    <p:sldId id="349" r:id="rId32"/>
    <p:sldId id="350" r:id="rId33"/>
    <p:sldId id="351" r:id="rId34"/>
    <p:sldId id="352" r:id="rId35"/>
    <p:sldId id="387" r:id="rId36"/>
    <p:sldId id="353" r:id="rId37"/>
    <p:sldId id="354" r:id="rId38"/>
    <p:sldId id="356" r:id="rId39"/>
    <p:sldId id="358" r:id="rId40"/>
    <p:sldId id="359" r:id="rId41"/>
    <p:sldId id="388" r:id="rId42"/>
    <p:sldId id="360" r:id="rId43"/>
    <p:sldId id="361" r:id="rId44"/>
    <p:sldId id="362" r:id="rId45"/>
    <p:sldId id="357" r:id="rId46"/>
    <p:sldId id="366" r:id="rId47"/>
    <p:sldId id="363" r:id="rId4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66"/>
    <a:srgbClr val="FA0000"/>
    <a:srgbClr val="D122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55" autoAdjust="0"/>
    <p:restoredTop sz="71991" autoAdjust="0"/>
  </p:normalViewPr>
  <p:slideViewPr>
    <p:cSldViewPr>
      <p:cViewPr>
        <p:scale>
          <a:sx n="80" d="100"/>
          <a:sy n="80" d="100"/>
        </p:scale>
        <p:origin x="-2322" y="-240"/>
      </p:cViewPr>
      <p:guideLst>
        <p:guide orient="horz" pos="2160"/>
        <p:guide pos="2880"/>
      </p:guideLst>
    </p:cSldViewPr>
  </p:slideViewPr>
  <p:notesTextViewPr>
    <p:cViewPr>
      <p:scale>
        <a:sx n="1" d="1"/>
        <a:sy n="1" d="1"/>
      </p:scale>
      <p:origin x="0" y="0"/>
    </p:cViewPr>
  </p:notesTextViewPr>
  <p:notesViewPr>
    <p:cSldViewPr>
      <p:cViewPr>
        <p:scale>
          <a:sx n="88" d="100"/>
          <a:sy n="88" d="100"/>
        </p:scale>
        <p:origin x="-1776" y="-4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it172oafs-oa06\HOME_L\long0354\2020%20IPC\Budget%20(color)%20chart%203-17-1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it172oafs-oa06\HOME_L\long0354\2020%20IPC\Budget%20(color)%20chart%203-17-1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dLbls>
            <c:dLbl>
              <c:idx val="0"/>
              <c:layout>
                <c:manualLayout>
                  <c:x val="-0.2086279372558745"/>
                  <c:y val="0.19167850366581768"/>
                </c:manualLayout>
              </c:layout>
              <c:tx>
                <c:rich>
                  <a:bodyPr/>
                  <a:lstStyle/>
                  <a:p>
                    <a:r>
                      <a:rPr lang="en-US" sz="1200" b="1" i="0" baseline="0" dirty="0" smtClean="0">
                        <a:solidFill>
                          <a:schemeClr val="bg1"/>
                        </a:solidFill>
                        <a:effectLst/>
                      </a:rPr>
                      <a:t>Local Buys (Mostly directed to HTC population)</a:t>
                    </a:r>
                    <a:endParaRPr lang="en-US" sz="1200" dirty="0" smtClean="0">
                      <a:solidFill>
                        <a:schemeClr val="bg1"/>
                      </a:solidFill>
                      <a:effectLst/>
                    </a:endParaRPr>
                  </a:p>
                  <a:p>
                    <a:r>
                      <a:rPr lang="en-US" sz="1200" b="1" dirty="0" smtClean="0">
                        <a:solidFill>
                          <a:schemeClr val="bg1"/>
                        </a:solidFill>
                        <a:latin typeface="+mn-lt"/>
                      </a:rPr>
                      <a:t>34</a:t>
                    </a:r>
                    <a:r>
                      <a:rPr lang="en-US" sz="1200" b="1" dirty="0">
                        <a:solidFill>
                          <a:schemeClr val="bg1"/>
                        </a:solidFill>
                        <a:latin typeface="+mn-lt"/>
                      </a:rPr>
                      <a:t>%</a:t>
                    </a:r>
                    <a:endParaRPr lang="en-US" sz="1050" b="1" dirty="0">
                      <a:latin typeface="+mn-lt"/>
                    </a:endParaRPr>
                  </a:p>
                </c:rich>
              </c:tx>
              <c:showLegendKey val="0"/>
              <c:showVal val="1"/>
              <c:showCatName val="0"/>
              <c:showSerName val="0"/>
              <c:showPercent val="0"/>
              <c:showBubbleSize val="0"/>
            </c:dLbl>
            <c:dLbl>
              <c:idx val="1"/>
              <c:layout>
                <c:manualLayout>
                  <c:x val="0.21409345485357636"/>
                  <c:y val="-0.26170573950524351"/>
                </c:manualLayout>
              </c:layout>
              <c:tx>
                <c:rich>
                  <a:bodyPr/>
                  <a:lstStyle/>
                  <a:p>
                    <a:pPr>
                      <a:defRPr sz="1200" b="1">
                        <a:solidFill>
                          <a:schemeClr val="bg1"/>
                        </a:solidFill>
                      </a:defRPr>
                    </a:pPr>
                    <a:r>
                      <a:rPr lang="en-US" sz="1200" b="1" i="0" baseline="0" dirty="0" smtClean="0">
                        <a:solidFill>
                          <a:schemeClr val="bg1"/>
                        </a:solidFill>
                        <a:effectLst/>
                      </a:rPr>
                      <a:t>National Buys (All audiences)</a:t>
                    </a:r>
                    <a:endParaRPr lang="en-US" sz="1200" dirty="0" smtClean="0">
                      <a:solidFill>
                        <a:schemeClr val="bg1"/>
                      </a:solidFill>
                      <a:effectLst/>
                    </a:endParaRPr>
                  </a:p>
                  <a:p>
                    <a:pPr>
                      <a:defRPr sz="1200" b="1">
                        <a:solidFill>
                          <a:schemeClr val="bg1"/>
                        </a:solidFill>
                      </a:defRPr>
                    </a:pPr>
                    <a:r>
                      <a:rPr lang="en-US" sz="1200" b="1" dirty="0" smtClean="0">
                        <a:solidFill>
                          <a:schemeClr val="bg1"/>
                        </a:solidFill>
                      </a:rPr>
                      <a:t>66</a:t>
                    </a:r>
                    <a:r>
                      <a:rPr lang="en-US" sz="1200" b="1" dirty="0">
                        <a:solidFill>
                          <a:schemeClr val="bg1"/>
                        </a:solidFill>
                      </a:rPr>
                      <a:t>%</a:t>
                    </a:r>
                    <a:endParaRPr lang="en-US" sz="1200" b="1" dirty="0"/>
                  </a:p>
                </c:rich>
              </c:tx>
              <c:spPr/>
              <c:showLegendKey val="0"/>
              <c:showVal val="1"/>
              <c:showCatName val="0"/>
              <c:showSerName val="0"/>
              <c:showPercent val="0"/>
              <c:showBubbleSize val="0"/>
            </c:dLbl>
            <c:txPr>
              <a:bodyPr/>
              <a:lstStyle/>
              <a:p>
                <a:pPr>
                  <a:defRPr sz="1200">
                    <a:solidFill>
                      <a:schemeClr val="bg1"/>
                    </a:solidFill>
                  </a:defRPr>
                </a:pPr>
                <a:endParaRPr lang="en-US"/>
              </a:p>
            </c:txPr>
            <c:showLegendKey val="0"/>
            <c:showVal val="1"/>
            <c:showCatName val="0"/>
            <c:showSerName val="0"/>
            <c:showPercent val="0"/>
            <c:showBubbleSize val="0"/>
            <c:showLeaderLines val="1"/>
          </c:dLbls>
          <c:cat>
            <c:strRef>
              <c:f>Sheet4!$C$9:$C$10</c:f>
              <c:strCache>
                <c:ptCount val="2"/>
                <c:pt idx="0">
                  <c:v>Local Buys (Mostly directed to HTC population)</c:v>
                </c:pt>
                <c:pt idx="1">
                  <c:v>National Buys (All audiences)</c:v>
                </c:pt>
              </c:strCache>
            </c:strRef>
          </c:cat>
          <c:val>
            <c:numRef>
              <c:f>Sheet4!$D$9:$D$10</c:f>
              <c:numCache>
                <c:formatCode>0%</c:formatCode>
                <c:ptCount val="2"/>
                <c:pt idx="0">
                  <c:v>0.34</c:v>
                </c:pt>
                <c:pt idx="1">
                  <c:v>0.66</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dLbls>
            <c:dLbl>
              <c:idx val="0"/>
              <c:layout>
                <c:manualLayout>
                  <c:x val="-0.21709284776902887"/>
                  <c:y val="1.0446558763487898E-2"/>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200" b="1" i="0" u="none" strike="noStrike" kern="1200" baseline="0">
                        <a:solidFill>
                          <a:schemeClr val="bg1"/>
                        </a:solidFill>
                        <a:latin typeface="+mn-lt"/>
                        <a:ea typeface="+mn-ea"/>
                        <a:cs typeface="+mn-cs"/>
                      </a:defRPr>
                    </a:pPr>
                    <a:r>
                      <a:rPr lang="en-US" sz="1200" b="1" i="0" baseline="0" dirty="0" smtClean="0">
                        <a:solidFill>
                          <a:schemeClr val="bg1"/>
                        </a:solidFill>
                        <a:effectLst/>
                      </a:rPr>
                      <a:t>Local Buys (Mostly directed to HTC population)</a:t>
                    </a:r>
                    <a:endParaRPr lang="en-US" sz="1200" b="1" dirty="0">
                      <a:solidFill>
                        <a:schemeClr val="bg1"/>
                      </a:solidFill>
                    </a:endParaRPr>
                  </a:p>
                  <a:p>
                    <a:pPr marL="0" marR="0" indent="0" algn="ctr" defTabSz="914400" rtl="0" eaLnBrk="1" fontAlgn="auto" latinLnBrk="0" hangingPunct="1">
                      <a:lnSpc>
                        <a:spcPct val="100000"/>
                      </a:lnSpc>
                      <a:spcBef>
                        <a:spcPts val="0"/>
                      </a:spcBef>
                      <a:spcAft>
                        <a:spcPts val="0"/>
                      </a:spcAft>
                      <a:buClrTx/>
                      <a:buSzTx/>
                      <a:buFontTx/>
                      <a:buNone/>
                      <a:tabLst/>
                      <a:defRPr sz="1200" b="1" i="0" u="none" strike="noStrike" kern="1200" baseline="0">
                        <a:solidFill>
                          <a:schemeClr val="bg1"/>
                        </a:solidFill>
                        <a:latin typeface="+mn-lt"/>
                        <a:ea typeface="+mn-ea"/>
                        <a:cs typeface="+mn-cs"/>
                      </a:defRPr>
                    </a:pPr>
                    <a:r>
                      <a:rPr lang="en-US" sz="1200" b="1" dirty="0">
                        <a:solidFill>
                          <a:schemeClr val="bg1"/>
                        </a:solidFill>
                      </a:rPr>
                      <a:t>48%</a:t>
                    </a:r>
                    <a:endParaRPr lang="en-US" b="1" dirty="0"/>
                  </a:p>
                </c:rich>
              </c:tx>
              <c:spPr/>
              <c:showLegendKey val="0"/>
              <c:showVal val="1"/>
              <c:showCatName val="0"/>
              <c:showSerName val="0"/>
              <c:showPercent val="0"/>
              <c:showBubbleSize val="0"/>
            </c:dLbl>
            <c:dLbl>
              <c:idx val="1"/>
              <c:layout>
                <c:manualLayout>
                  <c:x val="0.23836811023622048"/>
                  <c:y val="-3.3352653834937303E-2"/>
                </c:manualLayout>
              </c:layout>
              <c:tx>
                <c:rich>
                  <a:bodyPr/>
                  <a:lstStyle/>
                  <a:p>
                    <a:pPr>
                      <a:defRPr sz="1200" b="1">
                        <a:solidFill>
                          <a:schemeClr val="bg1"/>
                        </a:solidFill>
                      </a:defRPr>
                    </a:pPr>
                    <a:r>
                      <a:rPr lang="en-US" sz="1200" b="1" i="0" baseline="0" dirty="0" smtClean="0">
                        <a:solidFill>
                          <a:schemeClr val="bg1"/>
                        </a:solidFill>
                        <a:effectLst/>
                      </a:rPr>
                      <a:t>National Buys (All audiences)</a:t>
                    </a:r>
                    <a:endParaRPr lang="en-US" sz="1200" dirty="0" smtClean="0">
                      <a:solidFill>
                        <a:schemeClr val="bg1"/>
                      </a:solidFill>
                      <a:effectLst/>
                    </a:endParaRPr>
                  </a:p>
                  <a:p>
                    <a:pPr>
                      <a:defRPr sz="1200" b="1">
                        <a:solidFill>
                          <a:schemeClr val="bg1"/>
                        </a:solidFill>
                      </a:defRPr>
                    </a:pPr>
                    <a:r>
                      <a:rPr lang="en-US" sz="1200" b="1" dirty="0" smtClean="0">
                        <a:solidFill>
                          <a:schemeClr val="bg1"/>
                        </a:solidFill>
                      </a:rPr>
                      <a:t>52</a:t>
                    </a:r>
                    <a:r>
                      <a:rPr lang="en-US" sz="1200" b="1" dirty="0">
                        <a:solidFill>
                          <a:schemeClr val="bg1"/>
                        </a:solidFill>
                      </a:rPr>
                      <a:t>%</a:t>
                    </a:r>
                    <a:endParaRPr lang="en-US" b="1" dirty="0"/>
                  </a:p>
                </c:rich>
              </c:tx>
              <c:spPr/>
              <c:showLegendKey val="0"/>
              <c:showVal val="1"/>
              <c:showCatName val="0"/>
              <c:showSerName val="0"/>
              <c:showPercent val="0"/>
              <c:showBubbleSize val="0"/>
            </c:dLbl>
            <c:txPr>
              <a:bodyPr/>
              <a:lstStyle/>
              <a:p>
                <a:pPr>
                  <a:defRPr sz="1200">
                    <a:solidFill>
                      <a:schemeClr val="bg1"/>
                    </a:solidFill>
                  </a:defRPr>
                </a:pPr>
                <a:endParaRPr lang="en-US"/>
              </a:p>
            </c:txPr>
            <c:showLegendKey val="0"/>
            <c:showVal val="1"/>
            <c:showCatName val="0"/>
            <c:showSerName val="0"/>
            <c:showPercent val="0"/>
            <c:showBubbleSize val="0"/>
            <c:showLeaderLines val="1"/>
          </c:dLbls>
          <c:cat>
            <c:strRef>
              <c:f>Sheet4!$C$9:$C$10</c:f>
              <c:strCache>
                <c:ptCount val="2"/>
                <c:pt idx="0">
                  <c:v>Local Buys (Mostly directed to HTC population)</c:v>
                </c:pt>
                <c:pt idx="1">
                  <c:v>National Buys (All audiences)</c:v>
                </c:pt>
              </c:strCache>
            </c:strRef>
          </c:cat>
          <c:val>
            <c:numRef>
              <c:f>Sheet4!$E$9:$E$10</c:f>
              <c:numCache>
                <c:formatCode>0%</c:formatCode>
                <c:ptCount val="2"/>
                <c:pt idx="0">
                  <c:v>0.48</c:v>
                </c:pt>
                <c:pt idx="1">
                  <c:v>0.52</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59EFFC-0D5B-48D5-9892-6E31046C11EA}"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en-US"/>
        </a:p>
      </dgm:t>
    </dgm:pt>
    <dgm:pt modelId="{1FACB61D-08B0-4A51-BFCD-81D3A199A087}">
      <dgm:prSet phldrT="[Text]" custT="1"/>
      <dgm:spPr>
        <a:solidFill>
          <a:schemeClr val="accent1"/>
        </a:solidFill>
      </dgm:spPr>
      <dgm:t>
        <a:bodyPr/>
        <a:lstStyle/>
        <a:p>
          <a:r>
            <a:rPr lang="en-US" sz="1600" b="1" dirty="0" smtClean="0">
              <a:latin typeface="Calibri" panose="020F0502020204030204" pitchFamily="34" charset="0"/>
            </a:rPr>
            <a:t>2020 Census</a:t>
          </a:r>
          <a:endParaRPr lang="en-US" sz="1600" b="1" dirty="0">
            <a:latin typeface="Calibri" panose="020F0502020204030204" pitchFamily="34" charset="0"/>
          </a:endParaRPr>
        </a:p>
      </dgm:t>
    </dgm:pt>
    <dgm:pt modelId="{DF8C65FB-68E6-4282-A1EB-6371DBCD1E7C}" type="parTrans" cxnId="{A243357F-1840-41A6-9091-C5A63D35C171}">
      <dgm:prSet/>
      <dgm:spPr/>
      <dgm:t>
        <a:bodyPr/>
        <a:lstStyle/>
        <a:p>
          <a:endParaRPr lang="en-US" sz="1200"/>
        </a:p>
      </dgm:t>
    </dgm:pt>
    <dgm:pt modelId="{BE86D30A-9680-430F-B16D-9DC8E906758C}" type="sibTrans" cxnId="{A243357F-1840-41A6-9091-C5A63D35C171}">
      <dgm:prSet/>
      <dgm:spPr/>
      <dgm:t>
        <a:bodyPr/>
        <a:lstStyle/>
        <a:p>
          <a:endParaRPr lang="en-US" sz="1200"/>
        </a:p>
      </dgm:t>
    </dgm:pt>
    <dgm:pt modelId="{4C77BFA6-770B-44EA-9D02-FC0CE3A547D9}">
      <dgm:prSet phldrT="[Text]" custT="1"/>
      <dgm:spPr>
        <a:solidFill>
          <a:schemeClr val="tx2"/>
        </a:solidFill>
      </dgm:spPr>
      <dgm:t>
        <a:bodyPr lIns="9144" rIns="91440"/>
        <a:lstStyle/>
        <a:p>
          <a:r>
            <a:rPr lang="en-US" sz="1200" b="1" dirty="0" smtClean="0">
              <a:latin typeface="Calibri" panose="020F0502020204030204" pitchFamily="34" charset="0"/>
            </a:rPr>
            <a:t>Constrained fiscal environment</a:t>
          </a:r>
          <a:endParaRPr lang="en-US" sz="1200" b="1" dirty="0">
            <a:latin typeface="Calibri" panose="020F0502020204030204" pitchFamily="34" charset="0"/>
          </a:endParaRPr>
        </a:p>
      </dgm:t>
    </dgm:pt>
    <dgm:pt modelId="{12101831-C41D-4D6F-985F-49E11C3E96F9}" type="parTrans" cxnId="{6016448F-1571-4CB2-A006-8DDEBD90D830}">
      <dgm:prSet custT="1"/>
      <dgm:spPr>
        <a:solidFill>
          <a:srgbClr val="F9B47B"/>
        </a:solidFill>
      </dgm:spPr>
      <dgm:t>
        <a:bodyPr/>
        <a:lstStyle/>
        <a:p>
          <a:endParaRPr lang="en-US" sz="1200" dirty="0"/>
        </a:p>
      </dgm:t>
    </dgm:pt>
    <dgm:pt modelId="{DFCE447F-DA1E-4F54-B4EB-2D46C35B91BD}" type="sibTrans" cxnId="{6016448F-1571-4CB2-A006-8DDEBD90D830}">
      <dgm:prSet/>
      <dgm:spPr/>
      <dgm:t>
        <a:bodyPr/>
        <a:lstStyle/>
        <a:p>
          <a:endParaRPr lang="en-US" sz="1200"/>
        </a:p>
      </dgm:t>
    </dgm:pt>
    <dgm:pt modelId="{25029C5C-319B-4903-ABF1-D44919CA8C91}">
      <dgm:prSet phldrT="[Text]" custT="1"/>
      <dgm:spPr>
        <a:solidFill>
          <a:schemeClr val="tx2"/>
        </a:solidFill>
      </dgm:spPr>
      <dgm:t>
        <a:bodyPr lIns="9144" rIns="91440"/>
        <a:lstStyle/>
        <a:p>
          <a:r>
            <a:rPr lang="en-US" sz="1200" b="1" dirty="0" smtClean="0">
              <a:latin typeface="Calibri" panose="020F0502020204030204" pitchFamily="34" charset="0"/>
            </a:rPr>
            <a:t>Rapidly changing use of  technology</a:t>
          </a:r>
          <a:endParaRPr lang="en-US" sz="1200" b="1" dirty="0">
            <a:latin typeface="Calibri" panose="020F0502020204030204" pitchFamily="34" charset="0"/>
          </a:endParaRPr>
        </a:p>
      </dgm:t>
    </dgm:pt>
    <dgm:pt modelId="{629E86B3-FAEE-4410-A00E-5F8739D290EE}" type="parTrans" cxnId="{BE798690-E83A-4429-875C-8F3A807F168B}">
      <dgm:prSet custT="1"/>
      <dgm:spPr>
        <a:solidFill>
          <a:srgbClr val="F9B47B"/>
        </a:solidFill>
      </dgm:spPr>
      <dgm:t>
        <a:bodyPr/>
        <a:lstStyle/>
        <a:p>
          <a:endParaRPr lang="en-US" sz="1200" dirty="0"/>
        </a:p>
      </dgm:t>
    </dgm:pt>
    <dgm:pt modelId="{8D7ABE3A-442E-4D76-BAAF-245327ABED99}" type="sibTrans" cxnId="{BE798690-E83A-4429-875C-8F3A807F168B}">
      <dgm:prSet/>
      <dgm:spPr/>
      <dgm:t>
        <a:bodyPr/>
        <a:lstStyle/>
        <a:p>
          <a:endParaRPr lang="en-US" sz="1200"/>
        </a:p>
      </dgm:t>
    </dgm:pt>
    <dgm:pt modelId="{B18A482D-51D8-49D8-A18D-2080A8B8EADA}">
      <dgm:prSet phldrT="[Text]" custT="1"/>
      <dgm:spPr>
        <a:solidFill>
          <a:schemeClr val="tx2"/>
        </a:solidFill>
      </dgm:spPr>
      <dgm:t>
        <a:bodyPr lIns="9144" rIns="91440"/>
        <a:lstStyle/>
        <a:p>
          <a:r>
            <a:rPr lang="en-US" sz="1200" b="1" dirty="0" smtClean="0">
              <a:latin typeface="Calibri" panose="020F0502020204030204" pitchFamily="34" charset="0"/>
            </a:rPr>
            <a:t>Information explosion</a:t>
          </a:r>
          <a:endParaRPr lang="en-US" sz="1200" b="1" dirty="0">
            <a:latin typeface="Calibri" panose="020F0502020204030204" pitchFamily="34" charset="0"/>
          </a:endParaRPr>
        </a:p>
      </dgm:t>
    </dgm:pt>
    <dgm:pt modelId="{9A34B328-25D5-43A5-BBA1-4072DD0B40EA}" type="parTrans" cxnId="{00CD3892-1221-4C42-B254-86BFBB7C5949}">
      <dgm:prSet custT="1"/>
      <dgm:spPr>
        <a:solidFill>
          <a:srgbClr val="F9B47B"/>
        </a:solidFill>
      </dgm:spPr>
      <dgm:t>
        <a:bodyPr/>
        <a:lstStyle/>
        <a:p>
          <a:endParaRPr lang="en-US" sz="1200" dirty="0"/>
        </a:p>
      </dgm:t>
    </dgm:pt>
    <dgm:pt modelId="{18B0AC31-CC1B-4959-9A9F-877FCEC3A361}" type="sibTrans" cxnId="{00CD3892-1221-4C42-B254-86BFBB7C5949}">
      <dgm:prSet/>
      <dgm:spPr/>
      <dgm:t>
        <a:bodyPr/>
        <a:lstStyle/>
        <a:p>
          <a:endParaRPr lang="en-US" sz="1200"/>
        </a:p>
      </dgm:t>
    </dgm:pt>
    <dgm:pt modelId="{0545A836-1483-4496-83C0-20A9D27B0D2C}">
      <dgm:prSet phldrT="[Text]" custT="1"/>
      <dgm:spPr>
        <a:solidFill>
          <a:schemeClr val="tx2"/>
        </a:solidFill>
      </dgm:spPr>
      <dgm:t>
        <a:bodyPr lIns="9144" rIns="91440"/>
        <a:lstStyle/>
        <a:p>
          <a:r>
            <a:rPr lang="en-US" sz="1200" b="1" dirty="0" smtClean="0">
              <a:latin typeface="Calibri" panose="020F0502020204030204" pitchFamily="34" charset="0"/>
            </a:rPr>
            <a:t>Distrust in government</a:t>
          </a:r>
          <a:endParaRPr lang="en-US" sz="1200" b="1" dirty="0">
            <a:latin typeface="Calibri" panose="020F0502020204030204" pitchFamily="34" charset="0"/>
          </a:endParaRPr>
        </a:p>
      </dgm:t>
    </dgm:pt>
    <dgm:pt modelId="{0FF6AACE-EBFE-46B3-9C80-348D656B3F6E}" type="parTrans" cxnId="{25FD1F5C-0933-4995-9CB1-0C314809736D}">
      <dgm:prSet custT="1"/>
      <dgm:spPr>
        <a:solidFill>
          <a:srgbClr val="F9B47B"/>
        </a:solidFill>
      </dgm:spPr>
      <dgm:t>
        <a:bodyPr/>
        <a:lstStyle/>
        <a:p>
          <a:endParaRPr lang="en-US" sz="1200" dirty="0"/>
        </a:p>
      </dgm:t>
    </dgm:pt>
    <dgm:pt modelId="{E7AF363D-47A7-46A7-A25A-06BFDA63292B}" type="sibTrans" cxnId="{25FD1F5C-0933-4995-9CB1-0C314809736D}">
      <dgm:prSet/>
      <dgm:spPr/>
      <dgm:t>
        <a:bodyPr/>
        <a:lstStyle/>
        <a:p>
          <a:endParaRPr lang="en-US" sz="1200"/>
        </a:p>
      </dgm:t>
    </dgm:pt>
    <dgm:pt modelId="{1DBB85CB-6065-4BE2-96DE-9983D595DC4E}">
      <dgm:prSet phldrT="[Text]" custT="1"/>
      <dgm:spPr>
        <a:solidFill>
          <a:schemeClr val="tx2"/>
        </a:solidFill>
      </dgm:spPr>
      <dgm:t>
        <a:bodyPr lIns="9144" rIns="91440"/>
        <a:lstStyle/>
        <a:p>
          <a:r>
            <a:rPr lang="en-US" sz="1200" b="1" dirty="0" smtClean="0">
              <a:latin typeface="Calibri" panose="020F0502020204030204" pitchFamily="34" charset="0"/>
            </a:rPr>
            <a:t>Informal, complex living arrange-ments</a:t>
          </a:r>
          <a:endParaRPr lang="en-US" sz="1200" b="1" dirty="0">
            <a:latin typeface="Calibri" panose="020F0502020204030204" pitchFamily="34" charset="0"/>
          </a:endParaRPr>
        </a:p>
      </dgm:t>
    </dgm:pt>
    <dgm:pt modelId="{F9709B84-E493-41F6-BA1E-8D9341C4D3F0}" type="parTrans" cxnId="{297D37B6-717C-4737-91C0-B2650B16951D}">
      <dgm:prSet custT="1"/>
      <dgm:spPr>
        <a:solidFill>
          <a:srgbClr val="F9B47B"/>
        </a:solidFill>
      </dgm:spPr>
      <dgm:t>
        <a:bodyPr/>
        <a:lstStyle/>
        <a:p>
          <a:endParaRPr lang="en-US" sz="1200" dirty="0"/>
        </a:p>
      </dgm:t>
    </dgm:pt>
    <dgm:pt modelId="{D82114D7-D7A2-4E07-AF72-6E8734598813}" type="sibTrans" cxnId="{297D37B6-717C-4737-91C0-B2650B16951D}">
      <dgm:prSet/>
      <dgm:spPr/>
      <dgm:t>
        <a:bodyPr/>
        <a:lstStyle/>
        <a:p>
          <a:endParaRPr lang="en-US" sz="1200"/>
        </a:p>
      </dgm:t>
    </dgm:pt>
    <dgm:pt modelId="{F1457868-2A4A-41A6-834F-AA18EB01BF1E}">
      <dgm:prSet phldrT="[Text]" custT="1"/>
      <dgm:spPr>
        <a:solidFill>
          <a:schemeClr val="tx2"/>
        </a:solidFill>
      </dgm:spPr>
      <dgm:t>
        <a:bodyPr lIns="9144" rIns="91440"/>
        <a:lstStyle/>
        <a:p>
          <a:r>
            <a:rPr lang="en-US" sz="1200" b="1" dirty="0" smtClean="0">
              <a:latin typeface="Calibri" panose="020F0502020204030204" pitchFamily="34" charset="0"/>
            </a:rPr>
            <a:t>A mobile population</a:t>
          </a:r>
          <a:endParaRPr lang="en-US" sz="1200" b="1" dirty="0">
            <a:latin typeface="Calibri" panose="020F0502020204030204" pitchFamily="34" charset="0"/>
          </a:endParaRPr>
        </a:p>
      </dgm:t>
    </dgm:pt>
    <dgm:pt modelId="{FC2304CF-1CF8-414E-AF66-7701B3210D4F}" type="parTrans" cxnId="{C7410820-E489-457E-9602-36A371EE6829}">
      <dgm:prSet custT="1"/>
      <dgm:spPr>
        <a:solidFill>
          <a:srgbClr val="F9B47B"/>
        </a:solidFill>
      </dgm:spPr>
      <dgm:t>
        <a:bodyPr/>
        <a:lstStyle/>
        <a:p>
          <a:endParaRPr lang="en-US" sz="1200" dirty="0"/>
        </a:p>
      </dgm:t>
    </dgm:pt>
    <dgm:pt modelId="{088D96AD-54F0-46B7-8F53-3BA71E29D130}" type="sibTrans" cxnId="{C7410820-E489-457E-9602-36A371EE6829}">
      <dgm:prSet/>
      <dgm:spPr/>
      <dgm:t>
        <a:bodyPr/>
        <a:lstStyle/>
        <a:p>
          <a:endParaRPr lang="en-US" sz="1200"/>
        </a:p>
      </dgm:t>
    </dgm:pt>
    <dgm:pt modelId="{086FB0F0-A27E-42FB-B10B-226C2F54C481}">
      <dgm:prSet phldrT="[Text]" custT="1"/>
      <dgm:spPr>
        <a:solidFill>
          <a:schemeClr val="tx2"/>
        </a:solidFill>
      </dgm:spPr>
      <dgm:t>
        <a:bodyPr lIns="9144" rIns="91440"/>
        <a:lstStyle/>
        <a:p>
          <a:r>
            <a:rPr lang="en-US" sz="1200" b="1" dirty="0" smtClean="0">
              <a:latin typeface="Calibri" panose="020F0502020204030204" pitchFamily="34" charset="0"/>
            </a:rPr>
            <a:t>Declining response rates</a:t>
          </a:r>
          <a:endParaRPr lang="en-US" sz="1200" b="1" dirty="0">
            <a:latin typeface="Calibri" panose="020F0502020204030204" pitchFamily="34" charset="0"/>
          </a:endParaRPr>
        </a:p>
      </dgm:t>
    </dgm:pt>
    <dgm:pt modelId="{DA22B63B-142E-4999-A82B-7183F9E8DE23}" type="parTrans" cxnId="{B42CD7BA-FB45-4A6B-A916-2A793F2CC776}">
      <dgm:prSet custT="1"/>
      <dgm:spPr>
        <a:solidFill>
          <a:srgbClr val="F9B47B"/>
        </a:solidFill>
      </dgm:spPr>
      <dgm:t>
        <a:bodyPr/>
        <a:lstStyle/>
        <a:p>
          <a:endParaRPr lang="en-US" sz="1200" dirty="0"/>
        </a:p>
      </dgm:t>
    </dgm:pt>
    <dgm:pt modelId="{6984D217-2948-4E0B-8C8D-4E19A913C261}" type="sibTrans" cxnId="{B42CD7BA-FB45-4A6B-A916-2A793F2CC776}">
      <dgm:prSet/>
      <dgm:spPr/>
      <dgm:t>
        <a:bodyPr/>
        <a:lstStyle/>
        <a:p>
          <a:endParaRPr lang="en-US" sz="1200"/>
        </a:p>
      </dgm:t>
    </dgm:pt>
    <dgm:pt modelId="{3CB67055-C4F7-4100-A99A-BC91F76E333D}">
      <dgm:prSet phldrT="[Text]" custT="1"/>
      <dgm:spPr>
        <a:solidFill>
          <a:schemeClr val="tx2"/>
        </a:solidFill>
      </dgm:spPr>
      <dgm:t>
        <a:bodyPr lIns="9144" rIns="91440"/>
        <a:lstStyle/>
        <a:p>
          <a:r>
            <a:rPr lang="en-US" sz="1200" b="1" dirty="0" smtClean="0">
              <a:latin typeface="Calibri" panose="020F0502020204030204" pitchFamily="34" charset="0"/>
            </a:rPr>
            <a:t>Increasingly diverse population</a:t>
          </a:r>
          <a:endParaRPr lang="en-US" sz="1200" b="1" dirty="0">
            <a:latin typeface="Calibri" panose="020F0502020204030204" pitchFamily="34" charset="0"/>
          </a:endParaRPr>
        </a:p>
      </dgm:t>
    </dgm:pt>
    <dgm:pt modelId="{455618B6-A0C4-4A24-9C91-566391D6219E}" type="parTrans" cxnId="{CA09B248-3250-446D-94C9-36EC0087E541}">
      <dgm:prSet custT="1"/>
      <dgm:spPr>
        <a:solidFill>
          <a:srgbClr val="F9B47B"/>
        </a:solidFill>
      </dgm:spPr>
      <dgm:t>
        <a:bodyPr/>
        <a:lstStyle/>
        <a:p>
          <a:endParaRPr lang="en-US" sz="1200" dirty="0"/>
        </a:p>
      </dgm:t>
    </dgm:pt>
    <dgm:pt modelId="{8B28F4C8-2E2B-4187-95BF-EF7AFEBD35CB}" type="sibTrans" cxnId="{CA09B248-3250-446D-94C9-36EC0087E541}">
      <dgm:prSet/>
      <dgm:spPr/>
      <dgm:t>
        <a:bodyPr/>
        <a:lstStyle/>
        <a:p>
          <a:endParaRPr lang="en-US" sz="1200"/>
        </a:p>
      </dgm:t>
    </dgm:pt>
    <dgm:pt modelId="{7F9AFE16-0680-4199-A45C-06E1277A15E1}" type="pres">
      <dgm:prSet presAssocID="{7D59EFFC-0D5B-48D5-9892-6E31046C11EA}" presName="Name0" presStyleCnt="0">
        <dgm:presLayoutVars>
          <dgm:chMax val="1"/>
          <dgm:dir/>
          <dgm:animLvl val="ctr"/>
          <dgm:resizeHandles val="exact"/>
        </dgm:presLayoutVars>
      </dgm:prSet>
      <dgm:spPr/>
      <dgm:t>
        <a:bodyPr/>
        <a:lstStyle/>
        <a:p>
          <a:endParaRPr lang="en-US"/>
        </a:p>
      </dgm:t>
    </dgm:pt>
    <dgm:pt modelId="{8DF3240B-1956-4B92-8B96-AA533A53BA1A}" type="pres">
      <dgm:prSet presAssocID="{1FACB61D-08B0-4A51-BFCD-81D3A199A087}" presName="centerShape" presStyleLbl="node0" presStyleIdx="0" presStyleCnt="1" custScaleX="164424" custScaleY="153231"/>
      <dgm:spPr/>
      <dgm:t>
        <a:bodyPr/>
        <a:lstStyle/>
        <a:p>
          <a:endParaRPr lang="en-US"/>
        </a:p>
      </dgm:t>
    </dgm:pt>
    <dgm:pt modelId="{D018A3C5-4377-4716-B57B-2ECB7D437F99}" type="pres">
      <dgm:prSet presAssocID="{12101831-C41D-4D6F-985F-49E11C3E96F9}" presName="parTrans" presStyleLbl="sibTrans2D1" presStyleIdx="0" presStyleCnt="8" custAng="10800000" custScaleX="90909" custLinFactNeighborX="7808" custLinFactNeighborY="0"/>
      <dgm:spPr/>
      <dgm:t>
        <a:bodyPr/>
        <a:lstStyle/>
        <a:p>
          <a:endParaRPr lang="en-US"/>
        </a:p>
      </dgm:t>
    </dgm:pt>
    <dgm:pt modelId="{34E6744B-53FF-4C5E-B6B7-9C7F3AAEFFC8}" type="pres">
      <dgm:prSet presAssocID="{12101831-C41D-4D6F-985F-49E11C3E96F9}" presName="connectorText" presStyleLbl="sibTrans2D1" presStyleIdx="0" presStyleCnt="8"/>
      <dgm:spPr/>
      <dgm:t>
        <a:bodyPr/>
        <a:lstStyle/>
        <a:p>
          <a:endParaRPr lang="en-US"/>
        </a:p>
      </dgm:t>
    </dgm:pt>
    <dgm:pt modelId="{DABE419A-3ACE-49EC-90E0-BFEDE795AC1C}" type="pres">
      <dgm:prSet presAssocID="{4C77BFA6-770B-44EA-9D02-FC0CE3A547D9}" presName="node" presStyleLbl="node1" presStyleIdx="0" presStyleCnt="8" custScaleX="132132" custScaleY="124183" custRadScaleRad="98781">
        <dgm:presLayoutVars>
          <dgm:bulletEnabled val="1"/>
        </dgm:presLayoutVars>
      </dgm:prSet>
      <dgm:spPr/>
      <dgm:t>
        <a:bodyPr/>
        <a:lstStyle/>
        <a:p>
          <a:endParaRPr lang="en-US"/>
        </a:p>
      </dgm:t>
    </dgm:pt>
    <dgm:pt modelId="{20A758A0-0A26-415B-857A-896840FB6ADB}" type="pres">
      <dgm:prSet presAssocID="{629E86B3-FAEE-4410-A00E-5F8739D290EE}" presName="parTrans" presStyleLbl="sibTrans2D1" presStyleIdx="1" presStyleCnt="8" custAng="10800000" custScaleX="90909" custLinFactNeighborX="7825" custLinFactNeighborY="0"/>
      <dgm:spPr/>
      <dgm:t>
        <a:bodyPr/>
        <a:lstStyle/>
        <a:p>
          <a:endParaRPr lang="en-US"/>
        </a:p>
      </dgm:t>
    </dgm:pt>
    <dgm:pt modelId="{C842767F-E3D2-4862-A9C3-F49EF4A7DFFA}" type="pres">
      <dgm:prSet presAssocID="{629E86B3-FAEE-4410-A00E-5F8739D290EE}" presName="connectorText" presStyleLbl="sibTrans2D1" presStyleIdx="1" presStyleCnt="8"/>
      <dgm:spPr/>
      <dgm:t>
        <a:bodyPr/>
        <a:lstStyle/>
        <a:p>
          <a:endParaRPr lang="en-US"/>
        </a:p>
      </dgm:t>
    </dgm:pt>
    <dgm:pt modelId="{AE98C126-332F-449C-8D13-CC7ED2C9CD3A}" type="pres">
      <dgm:prSet presAssocID="{25029C5C-319B-4903-ABF1-D44919CA8C91}" presName="node" presStyleLbl="node1" presStyleIdx="1" presStyleCnt="8" custScaleX="124183" custScaleY="124183" custRadScaleRad="98297" custRadScaleInc="4191">
        <dgm:presLayoutVars>
          <dgm:bulletEnabled val="1"/>
        </dgm:presLayoutVars>
      </dgm:prSet>
      <dgm:spPr/>
      <dgm:t>
        <a:bodyPr/>
        <a:lstStyle/>
        <a:p>
          <a:endParaRPr lang="en-US"/>
        </a:p>
      </dgm:t>
    </dgm:pt>
    <dgm:pt modelId="{1889DE25-652D-4005-9721-A98163886E65}" type="pres">
      <dgm:prSet presAssocID="{9A34B328-25D5-43A5-BBA1-4072DD0B40EA}" presName="parTrans" presStyleLbl="sibTrans2D1" presStyleIdx="2" presStyleCnt="8" custAng="10800000" custScaleX="90909" custLinFactNeighborX="7825" custLinFactNeighborY="0"/>
      <dgm:spPr/>
      <dgm:t>
        <a:bodyPr/>
        <a:lstStyle/>
        <a:p>
          <a:endParaRPr lang="en-US"/>
        </a:p>
      </dgm:t>
    </dgm:pt>
    <dgm:pt modelId="{3A7572C5-0A45-483D-86F1-2E6D65AF468E}" type="pres">
      <dgm:prSet presAssocID="{9A34B328-25D5-43A5-BBA1-4072DD0B40EA}" presName="connectorText" presStyleLbl="sibTrans2D1" presStyleIdx="2" presStyleCnt="8"/>
      <dgm:spPr/>
      <dgm:t>
        <a:bodyPr/>
        <a:lstStyle/>
        <a:p>
          <a:endParaRPr lang="en-US"/>
        </a:p>
      </dgm:t>
    </dgm:pt>
    <dgm:pt modelId="{EBDB9653-72B6-4CAD-BA4A-3DF1927E7552}" type="pres">
      <dgm:prSet presAssocID="{B18A482D-51D8-49D8-A18D-2080A8B8EADA}" presName="node" presStyleLbl="node1" presStyleIdx="2" presStyleCnt="8" custScaleX="124183" custScaleY="124183" custRadScaleRad="99636" custRadScaleInc="6335">
        <dgm:presLayoutVars>
          <dgm:bulletEnabled val="1"/>
        </dgm:presLayoutVars>
      </dgm:prSet>
      <dgm:spPr/>
      <dgm:t>
        <a:bodyPr/>
        <a:lstStyle/>
        <a:p>
          <a:endParaRPr lang="en-US"/>
        </a:p>
      </dgm:t>
    </dgm:pt>
    <dgm:pt modelId="{9D7AC3F2-B147-49B3-800A-7EDEFF3CE9F6}" type="pres">
      <dgm:prSet presAssocID="{0FF6AACE-EBFE-46B3-9C80-348D656B3F6E}" presName="parTrans" presStyleLbl="sibTrans2D1" presStyleIdx="3" presStyleCnt="8" custAng="10800000" custScaleX="90909" custLinFactNeighborX="7825" custLinFactNeighborY="0"/>
      <dgm:spPr/>
      <dgm:t>
        <a:bodyPr/>
        <a:lstStyle/>
        <a:p>
          <a:endParaRPr lang="en-US"/>
        </a:p>
      </dgm:t>
    </dgm:pt>
    <dgm:pt modelId="{38094E24-DB32-421C-A278-92D4CA5BE80F}" type="pres">
      <dgm:prSet presAssocID="{0FF6AACE-EBFE-46B3-9C80-348D656B3F6E}" presName="connectorText" presStyleLbl="sibTrans2D1" presStyleIdx="3" presStyleCnt="8"/>
      <dgm:spPr/>
      <dgm:t>
        <a:bodyPr/>
        <a:lstStyle/>
        <a:p>
          <a:endParaRPr lang="en-US"/>
        </a:p>
      </dgm:t>
    </dgm:pt>
    <dgm:pt modelId="{018A9364-5A50-44E7-8E6E-51730BFEA715}" type="pres">
      <dgm:prSet presAssocID="{0545A836-1483-4496-83C0-20A9D27B0D2C}" presName="node" presStyleLbl="node1" presStyleIdx="3" presStyleCnt="8" custScaleX="124183" custScaleY="124183" custRadScaleRad="101137" custRadScaleInc="5488">
        <dgm:presLayoutVars>
          <dgm:bulletEnabled val="1"/>
        </dgm:presLayoutVars>
      </dgm:prSet>
      <dgm:spPr/>
      <dgm:t>
        <a:bodyPr/>
        <a:lstStyle/>
        <a:p>
          <a:endParaRPr lang="en-US"/>
        </a:p>
      </dgm:t>
    </dgm:pt>
    <dgm:pt modelId="{93B84499-B2B2-483D-BD7E-02E0B94C58B5}" type="pres">
      <dgm:prSet presAssocID="{DA22B63B-142E-4999-A82B-7183F9E8DE23}" presName="parTrans" presStyleLbl="sibTrans2D1" presStyleIdx="4" presStyleCnt="8" custAng="10800000"/>
      <dgm:spPr/>
      <dgm:t>
        <a:bodyPr/>
        <a:lstStyle/>
        <a:p>
          <a:endParaRPr lang="en-US"/>
        </a:p>
      </dgm:t>
    </dgm:pt>
    <dgm:pt modelId="{3F679E1A-765D-4CA8-82DF-0C8C298B21F0}" type="pres">
      <dgm:prSet presAssocID="{DA22B63B-142E-4999-A82B-7183F9E8DE23}" presName="connectorText" presStyleLbl="sibTrans2D1" presStyleIdx="4" presStyleCnt="8"/>
      <dgm:spPr/>
      <dgm:t>
        <a:bodyPr/>
        <a:lstStyle/>
        <a:p>
          <a:endParaRPr lang="en-US"/>
        </a:p>
      </dgm:t>
    </dgm:pt>
    <dgm:pt modelId="{69190D2A-B885-4C4C-8E09-863435ECE041}" type="pres">
      <dgm:prSet presAssocID="{086FB0F0-A27E-42FB-B10B-226C2F54C481}" presName="node" presStyleLbl="node1" presStyleIdx="4" presStyleCnt="8" custScaleX="124183" custScaleY="124183" custRadScaleRad="102105" custRadScaleInc="2147">
        <dgm:presLayoutVars>
          <dgm:bulletEnabled val="1"/>
        </dgm:presLayoutVars>
      </dgm:prSet>
      <dgm:spPr/>
      <dgm:t>
        <a:bodyPr/>
        <a:lstStyle/>
        <a:p>
          <a:endParaRPr lang="en-US"/>
        </a:p>
      </dgm:t>
    </dgm:pt>
    <dgm:pt modelId="{0C5D5CE6-A81A-4581-A48A-4E95F20A8323}" type="pres">
      <dgm:prSet presAssocID="{455618B6-A0C4-4A24-9C91-566391D6219E}" presName="parTrans" presStyleLbl="sibTrans2D1" presStyleIdx="5" presStyleCnt="8" custAng="10967008"/>
      <dgm:spPr/>
      <dgm:t>
        <a:bodyPr/>
        <a:lstStyle/>
        <a:p>
          <a:endParaRPr lang="en-US"/>
        </a:p>
      </dgm:t>
    </dgm:pt>
    <dgm:pt modelId="{072C23BF-0FB2-4BF3-8A69-74792792DF48}" type="pres">
      <dgm:prSet presAssocID="{455618B6-A0C4-4A24-9C91-566391D6219E}" presName="connectorText" presStyleLbl="sibTrans2D1" presStyleIdx="5" presStyleCnt="8"/>
      <dgm:spPr/>
      <dgm:t>
        <a:bodyPr/>
        <a:lstStyle/>
        <a:p>
          <a:endParaRPr lang="en-US"/>
        </a:p>
      </dgm:t>
    </dgm:pt>
    <dgm:pt modelId="{F753D341-73AE-4DE8-9E7A-F17971C118D2}" type="pres">
      <dgm:prSet presAssocID="{3CB67055-C4F7-4100-A99A-BC91F76E333D}" presName="node" presStyleLbl="node1" presStyleIdx="5" presStyleCnt="8" custScaleX="124183" custScaleY="124183" custRadScaleRad="102105" custRadScaleInc="-2147">
        <dgm:presLayoutVars>
          <dgm:bulletEnabled val="1"/>
        </dgm:presLayoutVars>
      </dgm:prSet>
      <dgm:spPr/>
      <dgm:t>
        <a:bodyPr/>
        <a:lstStyle/>
        <a:p>
          <a:endParaRPr lang="en-US"/>
        </a:p>
      </dgm:t>
    </dgm:pt>
    <dgm:pt modelId="{0F8F1E1D-ECEE-44C5-82DA-AE5832E8AC2A}" type="pres">
      <dgm:prSet presAssocID="{F9709B84-E493-41F6-BA1E-8D9341C4D3F0}" presName="parTrans" presStyleLbl="sibTrans2D1" presStyleIdx="6" presStyleCnt="8" custAng="10800000"/>
      <dgm:spPr/>
      <dgm:t>
        <a:bodyPr/>
        <a:lstStyle/>
        <a:p>
          <a:endParaRPr lang="en-US"/>
        </a:p>
      </dgm:t>
    </dgm:pt>
    <dgm:pt modelId="{5161A157-EB41-4B45-B555-1CFD4705F5F3}" type="pres">
      <dgm:prSet presAssocID="{F9709B84-E493-41F6-BA1E-8D9341C4D3F0}" presName="connectorText" presStyleLbl="sibTrans2D1" presStyleIdx="6" presStyleCnt="8"/>
      <dgm:spPr/>
      <dgm:t>
        <a:bodyPr/>
        <a:lstStyle/>
        <a:p>
          <a:endParaRPr lang="en-US"/>
        </a:p>
      </dgm:t>
    </dgm:pt>
    <dgm:pt modelId="{53B7198C-3F0C-4FA1-A9DD-420B136B1C22}" type="pres">
      <dgm:prSet presAssocID="{1DBB85CB-6065-4BE2-96DE-9983D595DC4E}" presName="node" presStyleLbl="node1" presStyleIdx="6" presStyleCnt="8" custScaleX="124183" custScaleY="124183">
        <dgm:presLayoutVars>
          <dgm:bulletEnabled val="1"/>
        </dgm:presLayoutVars>
      </dgm:prSet>
      <dgm:spPr/>
      <dgm:t>
        <a:bodyPr/>
        <a:lstStyle/>
        <a:p>
          <a:endParaRPr lang="en-US"/>
        </a:p>
      </dgm:t>
    </dgm:pt>
    <dgm:pt modelId="{8E063484-1457-4A38-9D2B-66DDDE498886}" type="pres">
      <dgm:prSet presAssocID="{FC2304CF-1CF8-414E-AF66-7701B3210D4F}" presName="parTrans" presStyleLbl="sibTrans2D1" presStyleIdx="7" presStyleCnt="8" custAng="10800000"/>
      <dgm:spPr/>
      <dgm:t>
        <a:bodyPr/>
        <a:lstStyle/>
        <a:p>
          <a:endParaRPr lang="en-US"/>
        </a:p>
      </dgm:t>
    </dgm:pt>
    <dgm:pt modelId="{C91FDA28-0979-463D-8E75-7A29C88C9B51}" type="pres">
      <dgm:prSet presAssocID="{FC2304CF-1CF8-414E-AF66-7701B3210D4F}" presName="connectorText" presStyleLbl="sibTrans2D1" presStyleIdx="7" presStyleCnt="8"/>
      <dgm:spPr/>
      <dgm:t>
        <a:bodyPr/>
        <a:lstStyle/>
        <a:p>
          <a:endParaRPr lang="en-US"/>
        </a:p>
      </dgm:t>
    </dgm:pt>
    <dgm:pt modelId="{9C8808DE-94FD-4187-8D45-AFCDDDEA0F8B}" type="pres">
      <dgm:prSet presAssocID="{F1457868-2A4A-41A6-834F-AA18EB01BF1E}" presName="node" presStyleLbl="node1" presStyleIdx="7" presStyleCnt="8" custScaleX="124183" custScaleY="124183" custRadScaleRad="99636" custRadScaleInc="-6335">
        <dgm:presLayoutVars>
          <dgm:bulletEnabled val="1"/>
        </dgm:presLayoutVars>
      </dgm:prSet>
      <dgm:spPr/>
      <dgm:t>
        <a:bodyPr/>
        <a:lstStyle/>
        <a:p>
          <a:endParaRPr lang="en-US"/>
        </a:p>
      </dgm:t>
    </dgm:pt>
  </dgm:ptLst>
  <dgm:cxnLst>
    <dgm:cxn modelId="{2F3FEC03-DA50-4B8A-8975-CDE5860AD244}" type="presOf" srcId="{9A34B328-25D5-43A5-BBA1-4072DD0B40EA}" destId="{1889DE25-652D-4005-9721-A98163886E65}" srcOrd="0" destOrd="0" presId="urn:microsoft.com/office/officeart/2005/8/layout/radial5"/>
    <dgm:cxn modelId="{C307289E-8BAB-408A-980A-3382E86AF7B5}" type="presOf" srcId="{0FF6AACE-EBFE-46B3-9C80-348D656B3F6E}" destId="{9D7AC3F2-B147-49B3-800A-7EDEFF3CE9F6}" srcOrd="0" destOrd="0" presId="urn:microsoft.com/office/officeart/2005/8/layout/radial5"/>
    <dgm:cxn modelId="{A243357F-1840-41A6-9091-C5A63D35C171}" srcId="{7D59EFFC-0D5B-48D5-9892-6E31046C11EA}" destId="{1FACB61D-08B0-4A51-BFCD-81D3A199A087}" srcOrd="0" destOrd="0" parTransId="{DF8C65FB-68E6-4282-A1EB-6371DBCD1E7C}" sibTransId="{BE86D30A-9680-430F-B16D-9DC8E906758C}"/>
    <dgm:cxn modelId="{66C75114-D55E-4D4E-8875-ADFB717F32E4}" type="presOf" srcId="{086FB0F0-A27E-42FB-B10B-226C2F54C481}" destId="{69190D2A-B885-4C4C-8E09-863435ECE041}" srcOrd="0" destOrd="0" presId="urn:microsoft.com/office/officeart/2005/8/layout/radial5"/>
    <dgm:cxn modelId="{26A91E35-C23C-4681-A4FF-1583DF9A6D9A}" type="presOf" srcId="{3CB67055-C4F7-4100-A99A-BC91F76E333D}" destId="{F753D341-73AE-4DE8-9E7A-F17971C118D2}" srcOrd="0" destOrd="0" presId="urn:microsoft.com/office/officeart/2005/8/layout/radial5"/>
    <dgm:cxn modelId="{BD97BE14-79BB-4FFE-8E67-7263DD0E7DB6}" type="presOf" srcId="{F9709B84-E493-41F6-BA1E-8D9341C4D3F0}" destId="{0F8F1E1D-ECEE-44C5-82DA-AE5832E8AC2A}" srcOrd="0" destOrd="0" presId="urn:microsoft.com/office/officeart/2005/8/layout/radial5"/>
    <dgm:cxn modelId="{00A424AC-8D23-4A9F-AF3F-CD8F7C3D30DA}" type="presOf" srcId="{B18A482D-51D8-49D8-A18D-2080A8B8EADA}" destId="{EBDB9653-72B6-4CAD-BA4A-3DF1927E7552}" srcOrd="0" destOrd="0" presId="urn:microsoft.com/office/officeart/2005/8/layout/radial5"/>
    <dgm:cxn modelId="{CA09B248-3250-446D-94C9-36EC0087E541}" srcId="{1FACB61D-08B0-4A51-BFCD-81D3A199A087}" destId="{3CB67055-C4F7-4100-A99A-BC91F76E333D}" srcOrd="5" destOrd="0" parTransId="{455618B6-A0C4-4A24-9C91-566391D6219E}" sibTransId="{8B28F4C8-2E2B-4187-95BF-EF7AFEBD35CB}"/>
    <dgm:cxn modelId="{A6FE5BC9-303F-4724-BF85-7BDE36CCB9BE}" type="presOf" srcId="{FC2304CF-1CF8-414E-AF66-7701B3210D4F}" destId="{8E063484-1457-4A38-9D2B-66DDDE498886}" srcOrd="0" destOrd="0" presId="urn:microsoft.com/office/officeart/2005/8/layout/radial5"/>
    <dgm:cxn modelId="{D4516879-0546-45D1-8A19-7700D3DC5E73}" type="presOf" srcId="{1DBB85CB-6065-4BE2-96DE-9983D595DC4E}" destId="{53B7198C-3F0C-4FA1-A9DD-420B136B1C22}" srcOrd="0" destOrd="0" presId="urn:microsoft.com/office/officeart/2005/8/layout/radial5"/>
    <dgm:cxn modelId="{9E842511-D2BB-475E-B6C0-8B30D1A3DDB1}" type="presOf" srcId="{FC2304CF-1CF8-414E-AF66-7701B3210D4F}" destId="{C91FDA28-0979-463D-8E75-7A29C88C9B51}" srcOrd="1" destOrd="0" presId="urn:microsoft.com/office/officeart/2005/8/layout/radial5"/>
    <dgm:cxn modelId="{391EFC8F-3E3C-497C-A780-A31FD4F06BC9}" type="presOf" srcId="{455618B6-A0C4-4A24-9C91-566391D6219E}" destId="{0C5D5CE6-A81A-4581-A48A-4E95F20A8323}" srcOrd="0" destOrd="0" presId="urn:microsoft.com/office/officeart/2005/8/layout/radial5"/>
    <dgm:cxn modelId="{BC4FDF6B-3C14-4827-95EC-E4CA5A13173D}" type="presOf" srcId="{629E86B3-FAEE-4410-A00E-5F8739D290EE}" destId="{C842767F-E3D2-4862-A9C3-F49EF4A7DFFA}" srcOrd="1" destOrd="0" presId="urn:microsoft.com/office/officeart/2005/8/layout/radial5"/>
    <dgm:cxn modelId="{BE798690-E83A-4429-875C-8F3A807F168B}" srcId="{1FACB61D-08B0-4A51-BFCD-81D3A199A087}" destId="{25029C5C-319B-4903-ABF1-D44919CA8C91}" srcOrd="1" destOrd="0" parTransId="{629E86B3-FAEE-4410-A00E-5F8739D290EE}" sibTransId="{8D7ABE3A-442E-4D76-BAAF-245327ABED99}"/>
    <dgm:cxn modelId="{0E319E5D-A1B0-4C74-9C6D-45E566F2E048}" type="presOf" srcId="{F9709B84-E493-41F6-BA1E-8D9341C4D3F0}" destId="{5161A157-EB41-4B45-B555-1CFD4705F5F3}" srcOrd="1" destOrd="0" presId="urn:microsoft.com/office/officeart/2005/8/layout/radial5"/>
    <dgm:cxn modelId="{E6E13EB7-814E-4C7A-A961-D02FD831401D}" type="presOf" srcId="{DA22B63B-142E-4999-A82B-7183F9E8DE23}" destId="{93B84499-B2B2-483D-BD7E-02E0B94C58B5}" srcOrd="0" destOrd="0" presId="urn:microsoft.com/office/officeart/2005/8/layout/radial5"/>
    <dgm:cxn modelId="{6016448F-1571-4CB2-A006-8DDEBD90D830}" srcId="{1FACB61D-08B0-4A51-BFCD-81D3A199A087}" destId="{4C77BFA6-770B-44EA-9D02-FC0CE3A547D9}" srcOrd="0" destOrd="0" parTransId="{12101831-C41D-4D6F-985F-49E11C3E96F9}" sibTransId="{DFCE447F-DA1E-4F54-B4EB-2D46C35B91BD}"/>
    <dgm:cxn modelId="{539CE7A1-E241-44BE-83BD-76751EB669D3}" type="presOf" srcId="{9A34B328-25D5-43A5-BBA1-4072DD0B40EA}" destId="{3A7572C5-0A45-483D-86F1-2E6D65AF468E}" srcOrd="1" destOrd="0" presId="urn:microsoft.com/office/officeart/2005/8/layout/radial5"/>
    <dgm:cxn modelId="{C7410820-E489-457E-9602-36A371EE6829}" srcId="{1FACB61D-08B0-4A51-BFCD-81D3A199A087}" destId="{F1457868-2A4A-41A6-834F-AA18EB01BF1E}" srcOrd="7" destOrd="0" parTransId="{FC2304CF-1CF8-414E-AF66-7701B3210D4F}" sibTransId="{088D96AD-54F0-46B7-8F53-3BA71E29D130}"/>
    <dgm:cxn modelId="{00CD3892-1221-4C42-B254-86BFBB7C5949}" srcId="{1FACB61D-08B0-4A51-BFCD-81D3A199A087}" destId="{B18A482D-51D8-49D8-A18D-2080A8B8EADA}" srcOrd="2" destOrd="0" parTransId="{9A34B328-25D5-43A5-BBA1-4072DD0B40EA}" sibTransId="{18B0AC31-CC1B-4959-9A9F-877FCEC3A361}"/>
    <dgm:cxn modelId="{297D37B6-717C-4737-91C0-B2650B16951D}" srcId="{1FACB61D-08B0-4A51-BFCD-81D3A199A087}" destId="{1DBB85CB-6065-4BE2-96DE-9983D595DC4E}" srcOrd="6" destOrd="0" parTransId="{F9709B84-E493-41F6-BA1E-8D9341C4D3F0}" sibTransId="{D82114D7-D7A2-4E07-AF72-6E8734598813}"/>
    <dgm:cxn modelId="{3B1783E0-C230-44E6-9788-D030BB0A8F86}" type="presOf" srcId="{12101831-C41D-4D6F-985F-49E11C3E96F9}" destId="{D018A3C5-4377-4716-B57B-2ECB7D437F99}" srcOrd="0" destOrd="0" presId="urn:microsoft.com/office/officeart/2005/8/layout/radial5"/>
    <dgm:cxn modelId="{A1DF1FD2-9F74-42C6-B14B-9871B5E85DA6}" type="presOf" srcId="{629E86B3-FAEE-4410-A00E-5F8739D290EE}" destId="{20A758A0-0A26-415B-857A-896840FB6ADB}" srcOrd="0" destOrd="0" presId="urn:microsoft.com/office/officeart/2005/8/layout/radial5"/>
    <dgm:cxn modelId="{B1EDF5C1-4D8C-4C0B-9912-0EFD2274312C}" type="presOf" srcId="{4C77BFA6-770B-44EA-9D02-FC0CE3A547D9}" destId="{DABE419A-3ACE-49EC-90E0-BFEDE795AC1C}" srcOrd="0" destOrd="0" presId="urn:microsoft.com/office/officeart/2005/8/layout/radial5"/>
    <dgm:cxn modelId="{572E5CD4-A9E7-4CED-B4D6-F87324FC0B67}" type="presOf" srcId="{455618B6-A0C4-4A24-9C91-566391D6219E}" destId="{072C23BF-0FB2-4BF3-8A69-74792792DF48}" srcOrd="1" destOrd="0" presId="urn:microsoft.com/office/officeart/2005/8/layout/radial5"/>
    <dgm:cxn modelId="{B42CD7BA-FB45-4A6B-A916-2A793F2CC776}" srcId="{1FACB61D-08B0-4A51-BFCD-81D3A199A087}" destId="{086FB0F0-A27E-42FB-B10B-226C2F54C481}" srcOrd="4" destOrd="0" parTransId="{DA22B63B-142E-4999-A82B-7183F9E8DE23}" sibTransId="{6984D217-2948-4E0B-8C8D-4E19A913C261}"/>
    <dgm:cxn modelId="{90C4DB9D-3956-48C6-B2A3-0F7F32481734}" type="presOf" srcId="{F1457868-2A4A-41A6-834F-AA18EB01BF1E}" destId="{9C8808DE-94FD-4187-8D45-AFCDDDEA0F8B}" srcOrd="0" destOrd="0" presId="urn:microsoft.com/office/officeart/2005/8/layout/radial5"/>
    <dgm:cxn modelId="{B35711BA-1D3D-4517-A154-B4C8EBE75B3D}" type="presOf" srcId="{DA22B63B-142E-4999-A82B-7183F9E8DE23}" destId="{3F679E1A-765D-4CA8-82DF-0C8C298B21F0}" srcOrd="1" destOrd="0" presId="urn:microsoft.com/office/officeart/2005/8/layout/radial5"/>
    <dgm:cxn modelId="{F3F5A313-2C03-404D-9A95-23125C5368A3}" type="presOf" srcId="{25029C5C-319B-4903-ABF1-D44919CA8C91}" destId="{AE98C126-332F-449C-8D13-CC7ED2C9CD3A}" srcOrd="0" destOrd="0" presId="urn:microsoft.com/office/officeart/2005/8/layout/radial5"/>
    <dgm:cxn modelId="{80B7EA83-354E-47F4-AFAD-54C7E76566DF}" type="presOf" srcId="{7D59EFFC-0D5B-48D5-9892-6E31046C11EA}" destId="{7F9AFE16-0680-4199-A45C-06E1277A15E1}" srcOrd="0" destOrd="0" presId="urn:microsoft.com/office/officeart/2005/8/layout/radial5"/>
    <dgm:cxn modelId="{A517E82B-BD3C-4276-8096-F9DBCDF68825}" type="presOf" srcId="{0FF6AACE-EBFE-46B3-9C80-348D656B3F6E}" destId="{38094E24-DB32-421C-A278-92D4CA5BE80F}" srcOrd="1" destOrd="0" presId="urn:microsoft.com/office/officeart/2005/8/layout/radial5"/>
    <dgm:cxn modelId="{D7F9286A-64AB-4035-8CF1-CF88F1A42792}" type="presOf" srcId="{12101831-C41D-4D6F-985F-49E11C3E96F9}" destId="{34E6744B-53FF-4C5E-B6B7-9C7F3AAEFFC8}" srcOrd="1" destOrd="0" presId="urn:microsoft.com/office/officeart/2005/8/layout/radial5"/>
    <dgm:cxn modelId="{A50A6F20-8409-4661-BA4D-8715589D079A}" type="presOf" srcId="{1FACB61D-08B0-4A51-BFCD-81D3A199A087}" destId="{8DF3240B-1956-4B92-8B96-AA533A53BA1A}" srcOrd="0" destOrd="0" presId="urn:microsoft.com/office/officeart/2005/8/layout/radial5"/>
    <dgm:cxn modelId="{60BA4540-025E-4E2A-B1A7-46234F80E207}" type="presOf" srcId="{0545A836-1483-4496-83C0-20A9D27B0D2C}" destId="{018A9364-5A50-44E7-8E6E-51730BFEA715}" srcOrd="0" destOrd="0" presId="urn:microsoft.com/office/officeart/2005/8/layout/radial5"/>
    <dgm:cxn modelId="{25FD1F5C-0933-4995-9CB1-0C314809736D}" srcId="{1FACB61D-08B0-4A51-BFCD-81D3A199A087}" destId="{0545A836-1483-4496-83C0-20A9D27B0D2C}" srcOrd="3" destOrd="0" parTransId="{0FF6AACE-EBFE-46B3-9C80-348D656B3F6E}" sibTransId="{E7AF363D-47A7-46A7-A25A-06BFDA63292B}"/>
    <dgm:cxn modelId="{D2EF9013-54A5-4107-9FC4-1D8DD6A41CB1}" type="presParOf" srcId="{7F9AFE16-0680-4199-A45C-06E1277A15E1}" destId="{8DF3240B-1956-4B92-8B96-AA533A53BA1A}" srcOrd="0" destOrd="0" presId="urn:microsoft.com/office/officeart/2005/8/layout/radial5"/>
    <dgm:cxn modelId="{B8F6B6DF-0087-423A-ADE9-FB3FF128BD39}" type="presParOf" srcId="{7F9AFE16-0680-4199-A45C-06E1277A15E1}" destId="{D018A3C5-4377-4716-B57B-2ECB7D437F99}" srcOrd="1" destOrd="0" presId="urn:microsoft.com/office/officeart/2005/8/layout/radial5"/>
    <dgm:cxn modelId="{5E622FA3-2AC7-4A75-8462-32D589125BB4}" type="presParOf" srcId="{D018A3C5-4377-4716-B57B-2ECB7D437F99}" destId="{34E6744B-53FF-4C5E-B6B7-9C7F3AAEFFC8}" srcOrd="0" destOrd="0" presId="urn:microsoft.com/office/officeart/2005/8/layout/radial5"/>
    <dgm:cxn modelId="{20820A35-15A6-4207-9C11-BB2D1ED3F69A}" type="presParOf" srcId="{7F9AFE16-0680-4199-A45C-06E1277A15E1}" destId="{DABE419A-3ACE-49EC-90E0-BFEDE795AC1C}" srcOrd="2" destOrd="0" presId="urn:microsoft.com/office/officeart/2005/8/layout/radial5"/>
    <dgm:cxn modelId="{FD0B81B1-5EF4-48C3-A3E7-A2529151A268}" type="presParOf" srcId="{7F9AFE16-0680-4199-A45C-06E1277A15E1}" destId="{20A758A0-0A26-415B-857A-896840FB6ADB}" srcOrd="3" destOrd="0" presId="urn:microsoft.com/office/officeart/2005/8/layout/radial5"/>
    <dgm:cxn modelId="{08DDA275-2697-4086-BDF8-425CC9EB07C7}" type="presParOf" srcId="{20A758A0-0A26-415B-857A-896840FB6ADB}" destId="{C842767F-E3D2-4862-A9C3-F49EF4A7DFFA}" srcOrd="0" destOrd="0" presId="urn:microsoft.com/office/officeart/2005/8/layout/radial5"/>
    <dgm:cxn modelId="{84168FDE-0304-4A71-B8B0-4154BD666725}" type="presParOf" srcId="{7F9AFE16-0680-4199-A45C-06E1277A15E1}" destId="{AE98C126-332F-449C-8D13-CC7ED2C9CD3A}" srcOrd="4" destOrd="0" presId="urn:microsoft.com/office/officeart/2005/8/layout/radial5"/>
    <dgm:cxn modelId="{5F867613-E461-410E-BF66-BE778737518A}" type="presParOf" srcId="{7F9AFE16-0680-4199-A45C-06E1277A15E1}" destId="{1889DE25-652D-4005-9721-A98163886E65}" srcOrd="5" destOrd="0" presId="urn:microsoft.com/office/officeart/2005/8/layout/radial5"/>
    <dgm:cxn modelId="{C038DD30-8E52-4827-995C-C416A22D5F9B}" type="presParOf" srcId="{1889DE25-652D-4005-9721-A98163886E65}" destId="{3A7572C5-0A45-483D-86F1-2E6D65AF468E}" srcOrd="0" destOrd="0" presId="urn:microsoft.com/office/officeart/2005/8/layout/radial5"/>
    <dgm:cxn modelId="{848492AF-CB15-46F0-BD33-72F63E0F219A}" type="presParOf" srcId="{7F9AFE16-0680-4199-A45C-06E1277A15E1}" destId="{EBDB9653-72B6-4CAD-BA4A-3DF1927E7552}" srcOrd="6" destOrd="0" presId="urn:microsoft.com/office/officeart/2005/8/layout/radial5"/>
    <dgm:cxn modelId="{9DF3E380-CC9F-4096-B2AD-72EEE2B94515}" type="presParOf" srcId="{7F9AFE16-0680-4199-A45C-06E1277A15E1}" destId="{9D7AC3F2-B147-49B3-800A-7EDEFF3CE9F6}" srcOrd="7" destOrd="0" presId="urn:microsoft.com/office/officeart/2005/8/layout/radial5"/>
    <dgm:cxn modelId="{E86DB441-4474-44F2-A9D0-B2FBB2B088D4}" type="presParOf" srcId="{9D7AC3F2-B147-49B3-800A-7EDEFF3CE9F6}" destId="{38094E24-DB32-421C-A278-92D4CA5BE80F}" srcOrd="0" destOrd="0" presId="urn:microsoft.com/office/officeart/2005/8/layout/radial5"/>
    <dgm:cxn modelId="{4181C740-6D61-450F-B6F2-74064B243C69}" type="presParOf" srcId="{7F9AFE16-0680-4199-A45C-06E1277A15E1}" destId="{018A9364-5A50-44E7-8E6E-51730BFEA715}" srcOrd="8" destOrd="0" presId="urn:microsoft.com/office/officeart/2005/8/layout/radial5"/>
    <dgm:cxn modelId="{CC319798-47A1-4562-9EC3-0D7E4064286B}" type="presParOf" srcId="{7F9AFE16-0680-4199-A45C-06E1277A15E1}" destId="{93B84499-B2B2-483D-BD7E-02E0B94C58B5}" srcOrd="9" destOrd="0" presId="urn:microsoft.com/office/officeart/2005/8/layout/radial5"/>
    <dgm:cxn modelId="{239FB4A0-9114-4767-AD54-6F72CFC053CA}" type="presParOf" srcId="{93B84499-B2B2-483D-BD7E-02E0B94C58B5}" destId="{3F679E1A-765D-4CA8-82DF-0C8C298B21F0}" srcOrd="0" destOrd="0" presId="urn:microsoft.com/office/officeart/2005/8/layout/radial5"/>
    <dgm:cxn modelId="{8F003AD5-E48A-4EA2-B381-D9C07A3460BD}" type="presParOf" srcId="{7F9AFE16-0680-4199-A45C-06E1277A15E1}" destId="{69190D2A-B885-4C4C-8E09-863435ECE041}" srcOrd="10" destOrd="0" presId="urn:microsoft.com/office/officeart/2005/8/layout/radial5"/>
    <dgm:cxn modelId="{E6D73933-5A10-45AD-B593-F51E68F4C18B}" type="presParOf" srcId="{7F9AFE16-0680-4199-A45C-06E1277A15E1}" destId="{0C5D5CE6-A81A-4581-A48A-4E95F20A8323}" srcOrd="11" destOrd="0" presId="urn:microsoft.com/office/officeart/2005/8/layout/radial5"/>
    <dgm:cxn modelId="{1E5487C2-F0A3-46BB-B1B7-B8A5ED0EB773}" type="presParOf" srcId="{0C5D5CE6-A81A-4581-A48A-4E95F20A8323}" destId="{072C23BF-0FB2-4BF3-8A69-74792792DF48}" srcOrd="0" destOrd="0" presId="urn:microsoft.com/office/officeart/2005/8/layout/radial5"/>
    <dgm:cxn modelId="{142B2B12-08E5-47E2-879A-9599669F47CB}" type="presParOf" srcId="{7F9AFE16-0680-4199-A45C-06E1277A15E1}" destId="{F753D341-73AE-4DE8-9E7A-F17971C118D2}" srcOrd="12" destOrd="0" presId="urn:microsoft.com/office/officeart/2005/8/layout/radial5"/>
    <dgm:cxn modelId="{BCA78C0A-71E7-45D2-AC0C-AA31FDA58997}" type="presParOf" srcId="{7F9AFE16-0680-4199-A45C-06E1277A15E1}" destId="{0F8F1E1D-ECEE-44C5-82DA-AE5832E8AC2A}" srcOrd="13" destOrd="0" presId="urn:microsoft.com/office/officeart/2005/8/layout/radial5"/>
    <dgm:cxn modelId="{745BF3C7-7427-4B0A-8DCD-3ED2B1E4AB60}" type="presParOf" srcId="{0F8F1E1D-ECEE-44C5-82DA-AE5832E8AC2A}" destId="{5161A157-EB41-4B45-B555-1CFD4705F5F3}" srcOrd="0" destOrd="0" presId="urn:microsoft.com/office/officeart/2005/8/layout/radial5"/>
    <dgm:cxn modelId="{3E249B75-9234-4016-99C0-477A11D52E5D}" type="presParOf" srcId="{7F9AFE16-0680-4199-A45C-06E1277A15E1}" destId="{53B7198C-3F0C-4FA1-A9DD-420B136B1C22}" srcOrd="14" destOrd="0" presId="urn:microsoft.com/office/officeart/2005/8/layout/radial5"/>
    <dgm:cxn modelId="{90C32EE2-E7CB-45E6-AE54-1EB435119F38}" type="presParOf" srcId="{7F9AFE16-0680-4199-A45C-06E1277A15E1}" destId="{8E063484-1457-4A38-9D2B-66DDDE498886}" srcOrd="15" destOrd="0" presId="urn:microsoft.com/office/officeart/2005/8/layout/radial5"/>
    <dgm:cxn modelId="{009A53EF-F934-48CF-9274-6D8F0697832D}" type="presParOf" srcId="{8E063484-1457-4A38-9D2B-66DDDE498886}" destId="{C91FDA28-0979-463D-8E75-7A29C88C9B51}" srcOrd="0" destOrd="0" presId="urn:microsoft.com/office/officeart/2005/8/layout/radial5"/>
    <dgm:cxn modelId="{41EFB2CB-523B-4D0E-A185-B0E5C8CFCCFA}" type="presParOf" srcId="{7F9AFE16-0680-4199-A45C-06E1277A15E1}" destId="{9C8808DE-94FD-4187-8D45-AFCDDDEA0F8B}" srcOrd="16"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3240B-1956-4B92-8B96-AA533A53BA1A}">
      <dsp:nvSpPr>
        <dsp:cNvPr id="0" name=""/>
        <dsp:cNvSpPr/>
      </dsp:nvSpPr>
      <dsp:spPr>
        <a:xfrm>
          <a:off x="3274283" y="1847647"/>
          <a:ext cx="1528633" cy="1424573"/>
        </a:xfrm>
        <a:prstGeom prst="ellipse">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anose="020F0502020204030204" pitchFamily="34" charset="0"/>
            </a:rPr>
            <a:t>2020 Census</a:t>
          </a:r>
          <a:endParaRPr lang="en-US" sz="1600" b="1" kern="1200" dirty="0">
            <a:latin typeface="Calibri" panose="020F0502020204030204" pitchFamily="34" charset="0"/>
          </a:endParaRPr>
        </a:p>
      </dsp:txBody>
      <dsp:txXfrm>
        <a:off x="3498146" y="2056271"/>
        <a:ext cx="1080907" cy="1007325"/>
      </dsp:txXfrm>
    </dsp:sp>
    <dsp:sp modelId="{D018A3C5-4377-4716-B57B-2ECB7D437F99}">
      <dsp:nvSpPr>
        <dsp:cNvPr id="0" name=""/>
        <dsp:cNvSpPr/>
      </dsp:nvSpPr>
      <dsp:spPr>
        <a:xfrm rot="5400000">
          <a:off x="3936737" y="1382181"/>
          <a:ext cx="245977"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a:off x="3973634" y="1432430"/>
        <a:ext cx="172184" cy="261437"/>
      </dsp:txXfrm>
    </dsp:sp>
    <dsp:sp modelId="{DABE419A-3ACE-49EC-90E0-BFEDE795AC1C}">
      <dsp:nvSpPr>
        <dsp:cNvPr id="0" name=""/>
        <dsp:cNvSpPr/>
      </dsp:nvSpPr>
      <dsp:spPr>
        <a:xfrm>
          <a:off x="3276597" y="-95193"/>
          <a:ext cx="1524005"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Constrained fiscal environment</a:t>
          </a:r>
          <a:endParaRPr lang="en-US" sz="1200" b="1" kern="1200" dirty="0">
            <a:latin typeface="Calibri" panose="020F0502020204030204" pitchFamily="34" charset="0"/>
          </a:endParaRPr>
        </a:p>
      </dsp:txBody>
      <dsp:txXfrm>
        <a:off x="3499782" y="114566"/>
        <a:ext cx="1077635" cy="1012803"/>
      </dsp:txXfrm>
    </dsp:sp>
    <dsp:sp modelId="{20A758A0-0A26-415B-857A-896840FB6ADB}">
      <dsp:nvSpPr>
        <dsp:cNvPr id="0" name=""/>
        <dsp:cNvSpPr/>
      </dsp:nvSpPr>
      <dsp:spPr>
        <a:xfrm rot="8156578">
          <a:off x="4639710" y="1668662"/>
          <a:ext cx="229115"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a:off x="4698775" y="1731909"/>
        <a:ext cx="160381" cy="261437"/>
      </dsp:txXfrm>
    </dsp:sp>
    <dsp:sp modelId="{AE98C126-332F-449C-8D13-CC7ED2C9CD3A}">
      <dsp:nvSpPr>
        <dsp:cNvPr id="0" name=""/>
        <dsp:cNvSpPr/>
      </dsp:nvSpPr>
      <dsp:spPr>
        <a:xfrm>
          <a:off x="4709046" y="502072"/>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Rapidly changing use of  technology</a:t>
          </a:r>
          <a:endParaRPr lang="en-US" sz="1200" b="1" kern="1200" dirty="0">
            <a:latin typeface="Calibri" panose="020F0502020204030204" pitchFamily="34" charset="0"/>
          </a:endParaRPr>
        </a:p>
      </dsp:txBody>
      <dsp:txXfrm>
        <a:off x="4918805" y="711831"/>
        <a:ext cx="1012803" cy="1012803"/>
      </dsp:txXfrm>
    </dsp:sp>
    <dsp:sp modelId="{1889DE25-652D-4005-9721-A98163886E65}">
      <dsp:nvSpPr>
        <dsp:cNvPr id="0" name=""/>
        <dsp:cNvSpPr/>
      </dsp:nvSpPr>
      <dsp:spPr>
        <a:xfrm rot="10885522">
          <a:off x="4938303" y="2366816"/>
          <a:ext cx="229011"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a:off x="5006995" y="2454815"/>
        <a:ext cx="160308" cy="261437"/>
      </dsp:txXfrm>
    </dsp:sp>
    <dsp:sp modelId="{EBDB9653-72B6-4CAD-BA4A-3DF1927E7552}">
      <dsp:nvSpPr>
        <dsp:cNvPr id="0" name=""/>
        <dsp:cNvSpPr/>
      </dsp:nvSpPr>
      <dsp:spPr>
        <a:xfrm>
          <a:off x="5277583" y="1892422"/>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Information explosion</a:t>
          </a:r>
          <a:endParaRPr lang="en-US" sz="1200" b="1" kern="1200" dirty="0">
            <a:latin typeface="Calibri" panose="020F0502020204030204" pitchFamily="34" charset="0"/>
          </a:endParaRPr>
        </a:p>
      </dsp:txBody>
      <dsp:txXfrm>
        <a:off x="5487342" y="2102181"/>
        <a:ext cx="1012803" cy="1012803"/>
      </dsp:txXfrm>
    </dsp:sp>
    <dsp:sp modelId="{9D7AC3F2-B147-49B3-800A-7EDEFF3CE9F6}">
      <dsp:nvSpPr>
        <dsp:cNvPr id="0" name=""/>
        <dsp:cNvSpPr/>
      </dsp:nvSpPr>
      <dsp:spPr>
        <a:xfrm rot="13574088">
          <a:off x="4620107" y="3060230"/>
          <a:ext cx="256924"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a:off x="4685303" y="3175207"/>
        <a:ext cx="179847" cy="261437"/>
      </dsp:txXfrm>
    </dsp:sp>
    <dsp:sp modelId="{018A9364-5A50-44E7-8E6E-51730BFEA715}">
      <dsp:nvSpPr>
        <dsp:cNvPr id="0" name=""/>
        <dsp:cNvSpPr/>
      </dsp:nvSpPr>
      <dsp:spPr>
        <a:xfrm>
          <a:off x="4695619" y="3277454"/>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Distrust in government</a:t>
          </a:r>
          <a:endParaRPr lang="en-US" sz="1200" b="1" kern="1200" dirty="0">
            <a:latin typeface="Calibri" panose="020F0502020204030204" pitchFamily="34" charset="0"/>
          </a:endParaRPr>
        </a:p>
      </dsp:txBody>
      <dsp:txXfrm>
        <a:off x="4905378" y="3487213"/>
        <a:ext cx="1012803" cy="1012803"/>
      </dsp:txXfrm>
    </dsp:sp>
    <dsp:sp modelId="{93B84499-B2B2-483D-BD7E-02E0B94C58B5}">
      <dsp:nvSpPr>
        <dsp:cNvPr id="0" name=""/>
        <dsp:cNvSpPr/>
      </dsp:nvSpPr>
      <dsp:spPr>
        <a:xfrm rot="16229594">
          <a:off x="3888589" y="3313564"/>
          <a:ext cx="283293"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rot="10800000">
        <a:off x="3930717" y="3443201"/>
        <a:ext cx="198305" cy="261437"/>
      </dsp:txXfrm>
    </dsp:sp>
    <dsp:sp modelId="{69190D2A-B885-4C4C-8E09-863435ECE041}">
      <dsp:nvSpPr>
        <dsp:cNvPr id="0" name=""/>
        <dsp:cNvSpPr/>
      </dsp:nvSpPr>
      <dsp:spPr>
        <a:xfrm>
          <a:off x="3305541" y="3806667"/>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Declining response rates</a:t>
          </a:r>
          <a:endParaRPr lang="en-US" sz="1200" b="1" kern="1200" dirty="0">
            <a:latin typeface="Calibri" panose="020F0502020204030204" pitchFamily="34" charset="0"/>
          </a:endParaRPr>
        </a:p>
      </dsp:txBody>
      <dsp:txXfrm>
        <a:off x="3515300" y="4016426"/>
        <a:ext cx="1012803" cy="1012803"/>
      </dsp:txXfrm>
    </dsp:sp>
    <dsp:sp modelId="{0C5D5CE6-A81A-4581-A48A-4E95F20A8323}">
      <dsp:nvSpPr>
        <dsp:cNvPr id="0" name=""/>
        <dsp:cNvSpPr/>
      </dsp:nvSpPr>
      <dsp:spPr>
        <a:xfrm rot="19038023">
          <a:off x="3188512" y="3057964"/>
          <a:ext cx="292327"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rot="10800000">
        <a:off x="3200136" y="3174845"/>
        <a:ext cx="204629" cy="261437"/>
      </dsp:txXfrm>
    </dsp:sp>
    <dsp:sp modelId="{F753D341-73AE-4DE8-9E7A-F17971C118D2}">
      <dsp:nvSpPr>
        <dsp:cNvPr id="0" name=""/>
        <dsp:cNvSpPr/>
      </dsp:nvSpPr>
      <dsp:spPr>
        <a:xfrm>
          <a:off x="1917245" y="3272864"/>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Increasingly diverse population</a:t>
          </a:r>
          <a:endParaRPr lang="en-US" sz="1200" b="1" kern="1200" dirty="0">
            <a:latin typeface="Calibri" panose="020F0502020204030204" pitchFamily="34" charset="0"/>
          </a:endParaRPr>
        </a:p>
      </dsp:txBody>
      <dsp:txXfrm>
        <a:off x="2127004" y="3482623"/>
        <a:ext cx="1012803" cy="1012803"/>
      </dsp:txXfrm>
    </dsp:sp>
    <dsp:sp modelId="{0F8F1E1D-ECEE-44C5-82DA-AE5832E8AC2A}">
      <dsp:nvSpPr>
        <dsp:cNvPr id="0" name=""/>
        <dsp:cNvSpPr/>
      </dsp:nvSpPr>
      <dsp:spPr>
        <a:xfrm>
          <a:off x="2912470" y="2342070"/>
          <a:ext cx="255680"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rot="10800000">
        <a:off x="2912470" y="2429215"/>
        <a:ext cx="178976" cy="261437"/>
      </dsp:txXfrm>
    </dsp:sp>
    <dsp:sp modelId="{53B7198C-3F0C-4FA1-A9DD-420B136B1C22}">
      <dsp:nvSpPr>
        <dsp:cNvPr id="0" name=""/>
        <dsp:cNvSpPr/>
      </dsp:nvSpPr>
      <dsp:spPr>
        <a:xfrm>
          <a:off x="1359544" y="1843773"/>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Informal, complex living arrange-ments</a:t>
          </a:r>
          <a:endParaRPr lang="en-US" sz="1200" b="1" kern="1200" dirty="0">
            <a:latin typeface="Calibri" panose="020F0502020204030204" pitchFamily="34" charset="0"/>
          </a:endParaRPr>
        </a:p>
      </dsp:txBody>
      <dsp:txXfrm>
        <a:off x="1569303" y="2053532"/>
        <a:ext cx="1012803" cy="1012803"/>
      </dsp:txXfrm>
    </dsp:sp>
    <dsp:sp modelId="{8E063484-1457-4A38-9D2B-66DDDE498886}">
      <dsp:nvSpPr>
        <dsp:cNvPr id="0" name=""/>
        <dsp:cNvSpPr/>
      </dsp:nvSpPr>
      <dsp:spPr>
        <a:xfrm rot="2614478">
          <a:off x="3194746" y="1665603"/>
          <a:ext cx="265724" cy="435727"/>
        </a:xfrm>
        <a:prstGeom prst="rightArrow">
          <a:avLst>
            <a:gd name="adj1" fmla="val 60000"/>
            <a:gd name="adj2" fmla="val 50000"/>
          </a:avLst>
        </a:prstGeom>
        <a:solidFill>
          <a:srgbClr val="F9B47B"/>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dirty="0"/>
        </a:p>
      </dsp:txBody>
      <dsp:txXfrm rot="10800000">
        <a:off x="3205728" y="1725274"/>
        <a:ext cx="186007" cy="261437"/>
      </dsp:txXfrm>
    </dsp:sp>
    <dsp:sp modelId="{9C8808DE-94FD-4187-8D45-AFCDDDEA0F8B}">
      <dsp:nvSpPr>
        <dsp:cNvPr id="0" name=""/>
        <dsp:cNvSpPr/>
      </dsp:nvSpPr>
      <dsp:spPr>
        <a:xfrm>
          <a:off x="1905543" y="495677"/>
          <a:ext cx="1432321" cy="1432321"/>
        </a:xfrm>
        <a:prstGeom prst="ellips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 tIns="15240" rIns="91440" bIns="1524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anose="020F0502020204030204" pitchFamily="34" charset="0"/>
            </a:rPr>
            <a:t>A mobile population</a:t>
          </a:r>
          <a:endParaRPr lang="en-US" sz="1200" b="1" kern="1200" dirty="0">
            <a:latin typeface="Calibri" panose="020F0502020204030204" pitchFamily="34" charset="0"/>
          </a:endParaRPr>
        </a:p>
      </dsp:txBody>
      <dsp:txXfrm>
        <a:off x="2115302" y="705436"/>
        <a:ext cx="1012803" cy="101280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B619957E-A605-43A7-8A14-7E4DD737B0D0}" type="datetimeFigureOut">
              <a:rPr lang="en-US" smtClean="0"/>
              <a:t>12/17/2015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1EFB9989-D65D-4617-94D2-F16A5438B681}" type="slidenum">
              <a:rPr lang="en-US" smtClean="0"/>
              <a:t>‹#›</a:t>
            </a:fld>
            <a:endParaRPr lang="en-US" dirty="0"/>
          </a:p>
        </p:txBody>
      </p:sp>
    </p:spTree>
    <p:extLst>
      <p:ext uri="{BB962C8B-B14F-4D97-AF65-F5344CB8AC3E}">
        <p14:creationId xmlns:p14="http://schemas.microsoft.com/office/powerpoint/2010/main" val="11286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0" y="4419600"/>
            <a:ext cx="5608320" cy="4183380"/>
          </a:xfrm>
        </p:spPr>
        <p:txBody>
          <a:bodyPr/>
          <a:lstStyle/>
          <a:p>
            <a:endParaRPr lang="en-US" sz="1300"/>
          </a:p>
        </p:txBody>
      </p:sp>
      <p:sp>
        <p:nvSpPr>
          <p:cNvPr id="4" name="Slide Number Placeholder 3"/>
          <p:cNvSpPr>
            <a:spLocks noGrp="1"/>
          </p:cNvSpPr>
          <p:nvPr>
            <p:ph type="sldNum" sz="quarter" idx="10"/>
          </p:nvPr>
        </p:nvSpPr>
        <p:spPr/>
        <p:txBody>
          <a:bodyPr/>
          <a:lstStyle/>
          <a:p>
            <a:fld id="{1EFB9989-D65D-4617-94D2-F16A5438B681}" type="slidenum">
              <a:rPr lang="en-US" smtClean="0"/>
              <a:t>1</a:t>
            </a:fld>
            <a:endParaRPr lang="en-US" dirty="0"/>
          </a:p>
        </p:txBody>
      </p:sp>
    </p:spTree>
    <p:extLst>
      <p:ext uri="{BB962C8B-B14F-4D97-AF65-F5344CB8AC3E}">
        <p14:creationId xmlns:p14="http://schemas.microsoft.com/office/powerpoint/2010/main" val="4225258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FB9989-D65D-4617-94D2-F16A5438B681}" type="slidenum">
              <a:rPr lang="en-US" smtClean="0"/>
              <a:t>2</a:t>
            </a:fld>
            <a:endParaRPr lang="en-US" dirty="0"/>
          </a:p>
        </p:txBody>
      </p:sp>
    </p:spTree>
    <p:extLst>
      <p:ext uri="{BB962C8B-B14F-4D97-AF65-F5344CB8AC3E}">
        <p14:creationId xmlns:p14="http://schemas.microsoft.com/office/powerpoint/2010/main" val="3681599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FB9989-D65D-4617-94D2-F16A5438B681}" type="slidenum">
              <a:rPr lang="en-US" smtClean="0"/>
              <a:t>3</a:t>
            </a:fld>
            <a:endParaRPr lang="en-US" dirty="0"/>
          </a:p>
        </p:txBody>
      </p:sp>
    </p:spTree>
    <p:extLst>
      <p:ext uri="{BB962C8B-B14F-4D97-AF65-F5344CB8AC3E}">
        <p14:creationId xmlns:p14="http://schemas.microsoft.com/office/powerpoint/2010/main" val="246825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41500" y="95250"/>
            <a:ext cx="3327400" cy="2495550"/>
          </a:xfrm>
        </p:spPr>
      </p:sp>
      <p:sp>
        <p:nvSpPr>
          <p:cNvPr id="3" name="Notes Placeholder 2"/>
          <p:cNvSpPr>
            <a:spLocks noGrp="1"/>
          </p:cNvSpPr>
          <p:nvPr>
            <p:ph type="body" idx="1"/>
          </p:nvPr>
        </p:nvSpPr>
        <p:spPr>
          <a:xfrm>
            <a:off x="304800" y="2590800"/>
            <a:ext cx="6477000" cy="6553200"/>
          </a:xfrm>
        </p:spPr>
        <p:txBody>
          <a:bodyPr/>
          <a:lstStyle/>
          <a:p>
            <a:pPr rtl="0"/>
            <a:endParaRPr lang="en-US" sz="1300" kern="1200" dirty="0" smtClean="0">
              <a:solidFill>
                <a:schemeClr val="tx1"/>
              </a:solidFill>
              <a:effectLst/>
            </a:endParaRPr>
          </a:p>
        </p:txBody>
      </p:sp>
      <p:sp>
        <p:nvSpPr>
          <p:cNvPr id="4" name="Slide Number Placeholder 3"/>
          <p:cNvSpPr>
            <a:spLocks noGrp="1"/>
          </p:cNvSpPr>
          <p:nvPr>
            <p:ph type="sldNum" sz="quarter" idx="10"/>
          </p:nvPr>
        </p:nvSpPr>
        <p:spPr/>
        <p:txBody>
          <a:bodyPr/>
          <a:lstStyle/>
          <a:p>
            <a:fld id="{0CF554B8-101C-48E1-A676-D89C6F5F2FF1}" type="slidenum">
              <a:rPr lang="en-US" smtClean="0"/>
              <a:t>4</a:t>
            </a:fld>
            <a:endParaRPr lang="en-US" dirty="0"/>
          </a:p>
        </p:txBody>
      </p:sp>
    </p:spTree>
    <p:extLst>
      <p:ext uri="{BB962C8B-B14F-4D97-AF65-F5344CB8AC3E}">
        <p14:creationId xmlns:p14="http://schemas.microsoft.com/office/powerpoint/2010/main" val="2163159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304800" y="2590800"/>
            <a:ext cx="6400800" cy="6629399"/>
          </a:xfrm>
        </p:spPr>
        <p:txBody>
          <a:bodyPr/>
          <a:lstStyle/>
          <a:p>
            <a:pPr lvl="0"/>
            <a:endParaRPr lang="en-US" sz="1300" dirty="0"/>
          </a:p>
        </p:txBody>
      </p:sp>
      <p:sp>
        <p:nvSpPr>
          <p:cNvPr id="4" name="Slide Number Placeholder 3"/>
          <p:cNvSpPr>
            <a:spLocks noGrp="1"/>
          </p:cNvSpPr>
          <p:nvPr>
            <p:ph type="sldNum" sz="quarter" idx="10"/>
          </p:nvPr>
        </p:nvSpPr>
        <p:spPr/>
        <p:txBody>
          <a:bodyPr/>
          <a:lstStyle/>
          <a:p>
            <a:fld id="{D9F51A89-74B3-4837-9366-3760FAA991FF}" type="slidenum">
              <a:rPr lang="en-US" smtClean="0"/>
              <a:t>5</a:t>
            </a:fld>
            <a:endParaRPr lang="en-US" dirty="0"/>
          </a:p>
        </p:txBody>
      </p:sp>
    </p:spTree>
    <p:extLst>
      <p:ext uri="{BB962C8B-B14F-4D97-AF65-F5344CB8AC3E}">
        <p14:creationId xmlns:p14="http://schemas.microsoft.com/office/powerpoint/2010/main" val="2602905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304800" y="2590800"/>
            <a:ext cx="6400800" cy="6553200"/>
          </a:xfrm>
        </p:spPr>
        <p:txBody>
          <a:bodyPr/>
          <a:lstStyle/>
          <a:p>
            <a:pPr marL="0" indent="0">
              <a:buNone/>
            </a:pPr>
            <a:endParaRPr lang="en-US" sz="1300" baseline="0" dirty="0" smtClean="0"/>
          </a:p>
        </p:txBody>
      </p:sp>
      <p:sp>
        <p:nvSpPr>
          <p:cNvPr id="4" name="Slide Number Placeholder 3"/>
          <p:cNvSpPr>
            <a:spLocks noGrp="1"/>
          </p:cNvSpPr>
          <p:nvPr>
            <p:ph type="sldNum" sz="quarter" idx="10"/>
          </p:nvPr>
        </p:nvSpPr>
        <p:spPr/>
        <p:txBody>
          <a:bodyPr/>
          <a:lstStyle/>
          <a:p>
            <a:fld id="{D9F51A89-74B3-4837-9366-3760FAA991FF}" type="slidenum">
              <a:rPr lang="en-US" smtClean="0"/>
              <a:t>6</a:t>
            </a:fld>
            <a:endParaRPr lang="en-US" dirty="0"/>
          </a:p>
        </p:txBody>
      </p:sp>
    </p:spTree>
    <p:extLst>
      <p:ext uri="{BB962C8B-B14F-4D97-AF65-F5344CB8AC3E}">
        <p14:creationId xmlns:p14="http://schemas.microsoft.com/office/powerpoint/2010/main" val="356319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228600" y="2590800"/>
            <a:ext cx="6553200" cy="6705600"/>
          </a:xfrm>
        </p:spPr>
        <p:txBody>
          <a:bodyPr/>
          <a:lstStyle/>
          <a:p>
            <a:pPr marL="0" marR="0" indent="0" algn="l" defTabSz="914400" rtl="0" eaLnBrk="1" fontAlgn="auto" latinLnBrk="0" hangingPunct="1">
              <a:buClrTx/>
              <a:buSzTx/>
              <a:buFontTx/>
              <a:buNone/>
              <a:tabLst/>
              <a:defRPr/>
            </a:pPr>
            <a:endParaRPr lang="en-US" sz="1300" dirty="0" smtClean="0"/>
          </a:p>
        </p:txBody>
      </p:sp>
      <p:sp>
        <p:nvSpPr>
          <p:cNvPr id="4" name="Slide Number Placeholder 3"/>
          <p:cNvSpPr>
            <a:spLocks noGrp="1"/>
          </p:cNvSpPr>
          <p:nvPr>
            <p:ph type="sldNum" sz="quarter" idx="10"/>
          </p:nvPr>
        </p:nvSpPr>
        <p:spPr/>
        <p:txBody>
          <a:bodyPr/>
          <a:lstStyle/>
          <a:p>
            <a:fld id="{0CF554B8-101C-48E1-A676-D89C6F5F2FF1}" type="slidenum">
              <a:rPr lang="en-US" smtClean="0"/>
              <a:t>7</a:t>
            </a:fld>
            <a:endParaRPr lang="en-US" dirty="0"/>
          </a:p>
        </p:txBody>
      </p:sp>
    </p:spTree>
    <p:extLst>
      <p:ext uri="{BB962C8B-B14F-4D97-AF65-F5344CB8AC3E}">
        <p14:creationId xmlns:p14="http://schemas.microsoft.com/office/powerpoint/2010/main" val="3996081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304800" y="2590800"/>
            <a:ext cx="6400800" cy="6629400"/>
          </a:xfrm>
        </p:spPr>
        <p:txBody>
          <a:bodyPr/>
          <a:lstStyle/>
          <a:p>
            <a:endParaRPr lang="en-US" sz="1300" kern="1200" baseline="0" dirty="0" smtClean="0">
              <a:solidFill>
                <a:schemeClr val="tx1"/>
              </a:solidFill>
              <a:effectLst/>
            </a:endParaRPr>
          </a:p>
        </p:txBody>
      </p:sp>
      <p:sp>
        <p:nvSpPr>
          <p:cNvPr id="4" name="Slide Number Placeholder 3"/>
          <p:cNvSpPr>
            <a:spLocks noGrp="1"/>
          </p:cNvSpPr>
          <p:nvPr>
            <p:ph type="sldNum" sz="quarter" idx="10"/>
          </p:nvPr>
        </p:nvSpPr>
        <p:spPr/>
        <p:txBody>
          <a:bodyPr/>
          <a:lstStyle/>
          <a:p>
            <a:fld id="{0CF554B8-101C-48E1-A676-D89C6F5F2FF1}" type="slidenum">
              <a:rPr lang="en-US" smtClean="0"/>
              <a:t>8</a:t>
            </a:fld>
            <a:endParaRPr lang="en-US" dirty="0"/>
          </a:p>
        </p:txBody>
      </p:sp>
    </p:spTree>
    <p:extLst>
      <p:ext uri="{BB962C8B-B14F-4D97-AF65-F5344CB8AC3E}">
        <p14:creationId xmlns:p14="http://schemas.microsoft.com/office/powerpoint/2010/main" val="4026672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228600" y="2590800"/>
            <a:ext cx="6629400" cy="6705600"/>
          </a:xfrm>
        </p:spPr>
        <p:txBody>
          <a:bodyPr/>
          <a:lstStyle/>
          <a:p>
            <a:pPr rtl="0"/>
            <a:endParaRPr lang="en-US" sz="13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CF554B8-101C-48E1-A676-D89C6F5F2FF1}" type="slidenum">
              <a:rPr lang="en-US" smtClean="0"/>
              <a:t>9</a:t>
            </a:fld>
            <a:endParaRPr lang="en-US" dirty="0"/>
          </a:p>
        </p:txBody>
      </p:sp>
    </p:spTree>
    <p:extLst>
      <p:ext uri="{BB962C8B-B14F-4D97-AF65-F5344CB8AC3E}">
        <p14:creationId xmlns:p14="http://schemas.microsoft.com/office/powerpoint/2010/main" val="581135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8800" y="76200"/>
            <a:ext cx="3352800" cy="2514600"/>
          </a:xfrm>
        </p:spPr>
      </p:sp>
      <p:sp>
        <p:nvSpPr>
          <p:cNvPr id="3" name="Notes Placeholder 2"/>
          <p:cNvSpPr>
            <a:spLocks noGrp="1"/>
          </p:cNvSpPr>
          <p:nvPr>
            <p:ph type="body" idx="1"/>
          </p:nvPr>
        </p:nvSpPr>
        <p:spPr>
          <a:xfrm>
            <a:off x="304800" y="2590800"/>
            <a:ext cx="6400800" cy="6553200"/>
          </a:xfrm>
        </p:spPr>
        <p:txBody>
          <a:bodyPr/>
          <a:lstStyle/>
          <a:p>
            <a:pPr marL="0" marR="0" indent="0" algn="l" defTabSz="914400" rtl="0" eaLnBrk="1" fontAlgn="auto" latinLnBrk="0" hangingPunct="1">
              <a:buClrTx/>
              <a:buSzTx/>
              <a:buFontTx/>
              <a:buNone/>
              <a:tabLst/>
              <a:defRPr/>
            </a:pPr>
            <a:endParaRPr lang="en-US" sz="1300" baseline="0" dirty="0" smtClean="0">
              <a:solidFill>
                <a:srgbClr val="FF0000"/>
              </a:solidFill>
            </a:endParaRPr>
          </a:p>
        </p:txBody>
      </p:sp>
      <p:sp>
        <p:nvSpPr>
          <p:cNvPr id="4" name="Slide Number Placeholder 3"/>
          <p:cNvSpPr>
            <a:spLocks noGrp="1"/>
          </p:cNvSpPr>
          <p:nvPr>
            <p:ph type="sldNum" sz="quarter" idx="10"/>
          </p:nvPr>
        </p:nvSpPr>
        <p:spPr/>
        <p:txBody>
          <a:bodyPr/>
          <a:lstStyle/>
          <a:p>
            <a:fld id="{0CF554B8-101C-48E1-A676-D89C6F5F2FF1}" type="slidenum">
              <a:rPr lang="en-US" smtClean="0"/>
              <a:t>10</a:t>
            </a:fld>
            <a:endParaRPr lang="en-US" dirty="0"/>
          </a:p>
        </p:txBody>
      </p:sp>
    </p:spTree>
    <p:extLst>
      <p:ext uri="{BB962C8B-B14F-4D97-AF65-F5344CB8AC3E}">
        <p14:creationId xmlns:p14="http://schemas.microsoft.com/office/powerpoint/2010/main" val="93173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79600" y="152400"/>
            <a:ext cx="3251200" cy="2438400"/>
          </a:xfrm>
        </p:spPr>
      </p:sp>
      <p:sp>
        <p:nvSpPr>
          <p:cNvPr id="3" name="Notes Placeholder 2"/>
          <p:cNvSpPr>
            <a:spLocks noGrp="1"/>
          </p:cNvSpPr>
          <p:nvPr>
            <p:ph type="body" idx="1"/>
          </p:nvPr>
        </p:nvSpPr>
        <p:spPr>
          <a:xfrm>
            <a:off x="304800" y="2590800"/>
            <a:ext cx="6400800" cy="6400800"/>
          </a:xfrm>
        </p:spPr>
        <p:txBody>
          <a:bodyPr/>
          <a:lstStyle/>
          <a:p>
            <a:endParaRPr lang="en-US" sz="1300" baseline="0" dirty="0" smtClean="0"/>
          </a:p>
        </p:txBody>
      </p:sp>
      <p:sp>
        <p:nvSpPr>
          <p:cNvPr id="4" name="Slide Number Placeholder 3"/>
          <p:cNvSpPr>
            <a:spLocks noGrp="1"/>
          </p:cNvSpPr>
          <p:nvPr>
            <p:ph type="sldNum" sz="quarter" idx="10"/>
          </p:nvPr>
        </p:nvSpPr>
        <p:spPr/>
        <p:txBody>
          <a:bodyPr/>
          <a:lstStyle/>
          <a:p>
            <a:fld id="{0CF554B8-101C-48E1-A676-D89C6F5F2FF1}"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587443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300" dirty="0"/>
          </a:p>
        </p:txBody>
      </p:sp>
      <p:sp>
        <p:nvSpPr>
          <p:cNvPr id="4" name="Slide Number Placeholder 3"/>
          <p:cNvSpPr>
            <a:spLocks noGrp="1"/>
          </p:cNvSpPr>
          <p:nvPr>
            <p:ph type="sldNum" sz="quarter" idx="10"/>
          </p:nvPr>
        </p:nvSpPr>
        <p:spPr/>
        <p:txBody>
          <a:bodyPr/>
          <a:lstStyle/>
          <a:p>
            <a:fld id="{1EFB9989-D65D-4617-94D2-F16A5438B681}" type="slidenum">
              <a:rPr lang="en-US" smtClean="0"/>
              <a:t>12</a:t>
            </a:fld>
            <a:endParaRPr lang="en-US" dirty="0"/>
          </a:p>
        </p:txBody>
      </p:sp>
    </p:spTree>
    <p:extLst>
      <p:ext uri="{BB962C8B-B14F-4D97-AF65-F5344CB8AC3E}">
        <p14:creationId xmlns:p14="http://schemas.microsoft.com/office/powerpoint/2010/main" val="1673454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marL="0" marR="0" indent="0" algn="l" defTabSz="914350" rtl="0" eaLnBrk="1" fontAlgn="auto" latinLnBrk="0" hangingPunct="1">
              <a:lnSpc>
                <a:spcPct val="100000"/>
              </a:lnSpc>
              <a:spcBef>
                <a:spcPts val="0"/>
              </a:spcBef>
              <a:spcAft>
                <a:spcPts val="0"/>
              </a:spcAft>
              <a:buClrTx/>
              <a:buSzTx/>
              <a:buFontTx/>
              <a:buNone/>
              <a:tabLst/>
              <a:defRPr/>
            </a:pPr>
            <a:endParaRPr lang="en-US" sz="1300" baseline="0" dirty="0" smtClean="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13</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marL="0" marR="0" indent="0" algn="l" defTabSz="914350" rtl="0" eaLnBrk="1" fontAlgn="auto" latinLnBrk="0" hangingPunct="1">
              <a:lnSpc>
                <a:spcPct val="100000"/>
              </a:lnSpc>
              <a:spcBef>
                <a:spcPts val="0"/>
              </a:spcBef>
              <a:spcAft>
                <a:spcPts val="0"/>
              </a:spcAft>
              <a:buClrTx/>
              <a:buSzTx/>
              <a:buFontTx/>
              <a:buNone/>
              <a:tabLst/>
              <a:defRPr/>
            </a:pPr>
            <a:endParaRPr lang="en-US" sz="1300" dirty="0" smtClean="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14</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smtClean="0">
                <a:solidFill>
                  <a:schemeClr val="tx1"/>
                </a:solidFill>
                <a:effectLst/>
                <a:latin typeface="+mn-lt"/>
                <a:ea typeface="+mn-ea"/>
                <a:cs typeface="+mn-cs"/>
              </a:rPr>
              <a:t>Yellow Box Text for Animations</a:t>
            </a:r>
            <a:endParaRPr lang="en-US" sz="1200" kern="1200" dirty="0" smtClean="0">
              <a:solidFill>
                <a:schemeClr val="tx1"/>
              </a:solidFill>
              <a:effectLst/>
              <a:latin typeface="+mn-lt"/>
              <a:ea typeface="+mn-ea"/>
              <a:cs typeface="+mn-cs"/>
            </a:endParaRPr>
          </a:p>
          <a:p>
            <a:r>
              <a:rPr lang="en-US" sz="1200" b="1" u="none" strike="noStrike"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b="1" u="sng" kern="1200" dirty="0" smtClean="0">
                <a:solidFill>
                  <a:schemeClr val="tx1"/>
                </a:solidFill>
                <a:effectLst/>
                <a:latin typeface="+mn-lt"/>
                <a:ea typeface="+mn-ea"/>
                <a:cs typeface="+mn-cs"/>
              </a:rPr>
              <a:t>Partnership</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Establishing relationships that matter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Connecting with trusted organizations to carry the decennial message through a vast network across the country.</a:t>
            </a:r>
          </a:p>
          <a:p>
            <a:r>
              <a:rPr lang="en-US" sz="1200" kern="1200" dirty="0" smtClean="0">
                <a:solidFill>
                  <a:schemeClr val="tx1"/>
                </a:solidFill>
                <a:effectLst/>
                <a:latin typeface="+mn-lt"/>
                <a:ea typeface="+mn-ea"/>
                <a:cs typeface="+mn-cs"/>
              </a:rPr>
              <a:t> </a:t>
            </a:r>
          </a:p>
          <a:p>
            <a:r>
              <a:rPr lang="en-US" sz="1200" b="1" u="sng" kern="1200" dirty="0" smtClean="0">
                <a:solidFill>
                  <a:schemeClr val="tx1"/>
                </a:solidFill>
                <a:effectLst/>
                <a:latin typeface="+mn-lt"/>
                <a:ea typeface="+mn-ea"/>
                <a:cs typeface="+mn-cs"/>
              </a:rPr>
              <a:t>Social Media</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Leveraging interactive communications to build conversations…</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Creating a 24/7 movement through real-time access, education and inspiration.</a:t>
            </a:r>
          </a:p>
          <a:p>
            <a:r>
              <a:rPr lang="en-US" sz="1200" kern="1200" dirty="0" smtClean="0">
                <a:solidFill>
                  <a:schemeClr val="tx1"/>
                </a:solidFill>
                <a:effectLst/>
                <a:latin typeface="+mn-lt"/>
                <a:ea typeface="+mn-ea"/>
                <a:cs typeface="+mn-cs"/>
              </a:rPr>
              <a:t> </a:t>
            </a:r>
          </a:p>
          <a:p>
            <a:r>
              <a:rPr lang="en-US" sz="1200" b="1" u="sng" kern="1200" dirty="0" smtClean="0">
                <a:solidFill>
                  <a:schemeClr val="tx1"/>
                </a:solidFill>
                <a:effectLst/>
                <a:latin typeface="+mn-lt"/>
                <a:ea typeface="+mn-ea"/>
                <a:cs typeface="+mn-cs"/>
              </a:rPr>
              <a:t>Public Relations</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Creating a chorus of Census conversations…</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Surround every household in the country with credible, memorable messages through trusted conversations that motivate people to complete the decennial census.</a:t>
            </a:r>
          </a:p>
          <a:p>
            <a:r>
              <a:rPr lang="en-US" sz="1200" kern="1200" dirty="0" smtClean="0">
                <a:solidFill>
                  <a:schemeClr val="tx1"/>
                </a:solidFill>
                <a:effectLst/>
                <a:latin typeface="+mn-lt"/>
                <a:ea typeface="+mn-ea"/>
                <a:cs typeface="+mn-cs"/>
              </a:rPr>
              <a:t> </a:t>
            </a:r>
          </a:p>
          <a:p>
            <a:r>
              <a:rPr lang="en-US" sz="1200" b="1" u="sng" kern="1200" dirty="0" smtClean="0">
                <a:solidFill>
                  <a:schemeClr val="tx1"/>
                </a:solidFill>
                <a:effectLst/>
                <a:latin typeface="+mn-lt"/>
                <a:ea typeface="+mn-ea"/>
                <a:cs typeface="+mn-cs"/>
              </a:rPr>
              <a:t>Statistics in Schools</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Providing ongoing statistical literacy education and outreach to students in Kindergarten, middle school, and high school, including tribal schools, home schools, and Head Start.</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Supports statistics education by providing grade-appropriate classroom activities and resources in math and history that are aligned to national standards and complement existing lesson plans.</a:t>
            </a:r>
          </a:p>
          <a:p>
            <a:r>
              <a:rPr lang="en-US" sz="1200" kern="1200" dirty="0" smtClean="0">
                <a:solidFill>
                  <a:schemeClr val="tx1"/>
                </a:solidFill>
                <a:effectLst/>
                <a:latin typeface="+mn-lt"/>
                <a:ea typeface="+mn-ea"/>
                <a:cs typeface="+mn-cs"/>
              </a:rPr>
              <a:t> </a:t>
            </a:r>
          </a:p>
          <a:p>
            <a:r>
              <a:rPr lang="en-US" sz="1200" b="1" u="sng" kern="1200" dirty="0" smtClean="0">
                <a:solidFill>
                  <a:schemeClr val="tx1"/>
                </a:solidFill>
                <a:effectLst/>
                <a:latin typeface="+mn-lt"/>
                <a:ea typeface="+mn-ea"/>
                <a:cs typeface="+mn-cs"/>
              </a:rPr>
              <a:t>Advertising</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Leveraging all relevant communication channels to create mass participation…</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Reaching audiences through mediums they are familiar with to inform, educate and inspire to respond.</a:t>
            </a:r>
          </a:p>
          <a:p>
            <a:r>
              <a:rPr lang="en-US" sz="1200" kern="1200" dirty="0" smtClean="0">
                <a:solidFill>
                  <a:schemeClr val="tx1"/>
                </a:solidFill>
                <a:effectLst/>
                <a:latin typeface="+mn-lt"/>
                <a:ea typeface="+mn-ea"/>
                <a:cs typeface="+mn-cs"/>
              </a:rPr>
              <a:t> </a:t>
            </a:r>
          </a:p>
          <a:p>
            <a:r>
              <a:rPr lang="en-US" sz="1200" b="1" u="sng" kern="1200" dirty="0" smtClean="0">
                <a:solidFill>
                  <a:schemeClr val="tx1"/>
                </a:solidFill>
                <a:effectLst/>
                <a:latin typeface="+mn-lt"/>
                <a:ea typeface="+mn-ea"/>
                <a:cs typeface="+mn-cs"/>
              </a:rPr>
              <a:t>Earned Media</a:t>
            </a:r>
            <a:endParaRPr lang="en-US" sz="1200" kern="1200" dirty="0" smtClean="0">
              <a:solidFill>
                <a:schemeClr val="tx1"/>
              </a:solidFill>
              <a:effectLst/>
              <a:latin typeface="+mn-lt"/>
              <a:ea typeface="+mn-ea"/>
              <a:cs typeface="+mn-cs"/>
            </a:endParaRPr>
          </a:p>
          <a:p>
            <a:r>
              <a:rPr lang="en-US" sz="1200" i="1" kern="1200" dirty="0" smtClean="0">
                <a:solidFill>
                  <a:schemeClr val="tx1"/>
                </a:solidFill>
                <a:effectLst/>
                <a:latin typeface="+mn-lt"/>
                <a:ea typeface="+mn-ea"/>
                <a:cs typeface="+mn-cs"/>
              </a:rPr>
              <a:t>Creating widespread awareness and education to drive mass participation…</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Using the vast media network to reach people through an identifiable source.</a:t>
            </a:r>
          </a:p>
          <a:p>
            <a:r>
              <a:rPr lang="en-US" sz="1200" kern="1200" dirty="0" smtClean="0">
                <a:solidFill>
                  <a:schemeClr val="tx1"/>
                </a:solidFill>
                <a:effectLst/>
                <a:latin typeface="+mn-lt"/>
                <a:ea typeface="+mn-ea"/>
                <a:cs typeface="+mn-cs"/>
              </a:rPr>
              <a:t> </a:t>
            </a:r>
          </a:p>
          <a:p>
            <a:endParaRPr lang="en-US" sz="1300" dirty="0"/>
          </a:p>
        </p:txBody>
      </p:sp>
      <p:sp>
        <p:nvSpPr>
          <p:cNvPr id="4" name="Slide Number Placeholder 3"/>
          <p:cNvSpPr>
            <a:spLocks noGrp="1"/>
          </p:cNvSpPr>
          <p:nvPr>
            <p:ph type="sldNum" sz="quarter" idx="10"/>
          </p:nvPr>
        </p:nvSpPr>
        <p:spPr/>
        <p:txBody>
          <a:bodyPr/>
          <a:lstStyle/>
          <a:p>
            <a:fld id="{1EFB9989-D65D-4617-94D2-F16A5438B681}" type="slidenum">
              <a:rPr lang="en-US" smtClean="0"/>
              <a:t>15</a:t>
            </a:fld>
            <a:endParaRPr lang="en-US" dirty="0"/>
          </a:p>
        </p:txBody>
      </p:sp>
    </p:spTree>
    <p:extLst>
      <p:ext uri="{BB962C8B-B14F-4D97-AF65-F5344CB8AC3E}">
        <p14:creationId xmlns:p14="http://schemas.microsoft.com/office/powerpoint/2010/main" val="2209790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smtClean="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16</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2400" b="1" u="sng">
                <a:solidFill>
                  <a:srgbClr val="3399FF"/>
                </a:solidFill>
                <a:latin typeface="Arial" charset="0"/>
              </a:defRPr>
            </a:lvl1pPr>
            <a:lvl2pPr marL="742950" indent="-285750" defTabSz="928688" eaLnBrk="0" hangingPunct="0">
              <a:defRPr sz="2400" b="1" u="sng">
                <a:solidFill>
                  <a:srgbClr val="3399FF"/>
                </a:solidFill>
                <a:latin typeface="Arial" charset="0"/>
              </a:defRPr>
            </a:lvl2pPr>
            <a:lvl3pPr marL="1143000" indent="-228600" defTabSz="928688" eaLnBrk="0" hangingPunct="0">
              <a:defRPr sz="2400" b="1" u="sng">
                <a:solidFill>
                  <a:srgbClr val="3399FF"/>
                </a:solidFill>
                <a:latin typeface="Arial" charset="0"/>
              </a:defRPr>
            </a:lvl3pPr>
            <a:lvl4pPr marL="1600200" indent="-228600" defTabSz="928688" eaLnBrk="0" hangingPunct="0">
              <a:defRPr sz="2400" b="1" u="sng">
                <a:solidFill>
                  <a:srgbClr val="3399FF"/>
                </a:solidFill>
                <a:latin typeface="Arial" charset="0"/>
              </a:defRPr>
            </a:lvl4pPr>
            <a:lvl5pPr marL="2057400" indent="-228600" defTabSz="928688" eaLnBrk="0" hangingPunct="0">
              <a:defRPr sz="2400" b="1" u="sng">
                <a:solidFill>
                  <a:srgbClr val="3399FF"/>
                </a:solidFill>
                <a:latin typeface="Arial" charset="0"/>
              </a:defRPr>
            </a:lvl5pPr>
            <a:lvl6pPr marL="2514600" indent="-228600" defTabSz="928688" eaLnBrk="0" fontAlgn="base" hangingPunct="0">
              <a:lnSpc>
                <a:spcPct val="80000"/>
              </a:lnSpc>
              <a:spcBef>
                <a:spcPct val="20000"/>
              </a:spcBef>
              <a:spcAft>
                <a:spcPct val="0"/>
              </a:spcAft>
              <a:defRPr sz="2400" b="1" u="sng">
                <a:solidFill>
                  <a:srgbClr val="3399FF"/>
                </a:solidFill>
                <a:latin typeface="Arial" charset="0"/>
              </a:defRPr>
            </a:lvl6pPr>
            <a:lvl7pPr marL="2971800" indent="-228600" defTabSz="928688" eaLnBrk="0" fontAlgn="base" hangingPunct="0">
              <a:lnSpc>
                <a:spcPct val="80000"/>
              </a:lnSpc>
              <a:spcBef>
                <a:spcPct val="20000"/>
              </a:spcBef>
              <a:spcAft>
                <a:spcPct val="0"/>
              </a:spcAft>
              <a:defRPr sz="2400" b="1" u="sng">
                <a:solidFill>
                  <a:srgbClr val="3399FF"/>
                </a:solidFill>
                <a:latin typeface="Arial" charset="0"/>
              </a:defRPr>
            </a:lvl7pPr>
            <a:lvl8pPr marL="3429000" indent="-228600" defTabSz="928688" eaLnBrk="0" fontAlgn="base" hangingPunct="0">
              <a:lnSpc>
                <a:spcPct val="80000"/>
              </a:lnSpc>
              <a:spcBef>
                <a:spcPct val="20000"/>
              </a:spcBef>
              <a:spcAft>
                <a:spcPct val="0"/>
              </a:spcAft>
              <a:defRPr sz="2400" b="1" u="sng">
                <a:solidFill>
                  <a:srgbClr val="3399FF"/>
                </a:solidFill>
                <a:latin typeface="Arial" charset="0"/>
              </a:defRPr>
            </a:lvl8pPr>
            <a:lvl9pPr marL="3886200" indent="-228600" defTabSz="928688" eaLnBrk="0" fontAlgn="base" hangingPunct="0">
              <a:lnSpc>
                <a:spcPct val="80000"/>
              </a:lnSpc>
              <a:spcBef>
                <a:spcPct val="20000"/>
              </a:spcBef>
              <a:spcAft>
                <a:spcPct val="0"/>
              </a:spcAft>
              <a:defRPr sz="2400" b="1" u="sng">
                <a:solidFill>
                  <a:srgbClr val="3399FF"/>
                </a:solidFill>
                <a:latin typeface="Arial" charset="0"/>
              </a:defRPr>
            </a:lvl9pPr>
          </a:lstStyle>
          <a:p>
            <a:pPr eaLnBrk="1" hangingPunct="1"/>
            <a:fld id="{9A42C053-5200-4E6D-B2AE-B8256F584956}" type="slidenum">
              <a:rPr lang="en-US" altLang="en-US" sz="1200" b="0" u="none" smtClean="0">
                <a:solidFill>
                  <a:schemeClr val="tx1"/>
                </a:solidFill>
                <a:latin typeface="Times New Roman" pitchFamily="18" charset="0"/>
              </a:rPr>
              <a:pPr eaLnBrk="1" hangingPunct="1"/>
              <a:t>17</a:t>
            </a:fld>
            <a:endParaRPr lang="en-US" altLang="en-US" sz="1200" b="0" u="none" dirty="0" smtClean="0">
              <a:solidFill>
                <a:schemeClr val="tx1"/>
              </a:solidFill>
              <a:latin typeface="Times New Roman" pitchFamily="18" charset="0"/>
            </a:endParaRPr>
          </a:p>
        </p:txBody>
      </p:sp>
      <p:sp>
        <p:nvSpPr>
          <p:cNvPr id="54275" name="Rectangle 1026"/>
          <p:cNvSpPr>
            <a:spLocks noGrp="1" noRot="1" noChangeAspect="1" noChangeArrowheads="1" noTextEdit="1"/>
          </p:cNvSpPr>
          <p:nvPr>
            <p:ph type="sldImg"/>
          </p:nvPr>
        </p:nvSpPr>
        <p:spPr>
          <a:ln/>
        </p:spPr>
      </p:sp>
      <p:sp>
        <p:nvSpPr>
          <p:cNvPr id="5427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30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18</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19</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marL="0" marR="0" indent="0" algn="l" defTabSz="914350" rtl="0" eaLnBrk="1" fontAlgn="auto" latinLnBrk="0" hangingPunct="1">
              <a:lnSpc>
                <a:spcPct val="100000"/>
              </a:lnSpc>
              <a:spcBef>
                <a:spcPts val="0"/>
              </a:spcBef>
              <a:spcAft>
                <a:spcPts val="0"/>
              </a:spcAft>
              <a:buClrTx/>
              <a:buSzTx/>
              <a:buFontTx/>
              <a:buNone/>
              <a:tabLst/>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20</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21</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22</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23</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24</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25</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228600"/>
            <a:ext cx="4648200" cy="3486150"/>
          </a:xfrm>
        </p:spPr>
      </p:sp>
      <p:sp>
        <p:nvSpPr>
          <p:cNvPr id="3" name="Notes Placeholder 2"/>
          <p:cNvSpPr>
            <a:spLocks noGrp="1"/>
          </p:cNvSpPr>
          <p:nvPr>
            <p:ph type="body" idx="1"/>
          </p:nvPr>
        </p:nvSpPr>
        <p:spPr>
          <a:xfrm>
            <a:off x="457200" y="3733800"/>
            <a:ext cx="6172200" cy="5410200"/>
          </a:xfrm>
        </p:spPr>
        <p:txBody>
          <a:bodyPr/>
          <a:lstStyle/>
          <a:p>
            <a:pPr defTabSz="914350">
              <a:defRPr/>
            </a:pPr>
            <a:endParaRPr lang="en-US" sz="1300" dirty="0"/>
          </a:p>
        </p:txBody>
      </p:sp>
      <p:sp>
        <p:nvSpPr>
          <p:cNvPr id="4" name="Slide Number Placeholder 3"/>
          <p:cNvSpPr>
            <a:spLocks noGrp="1"/>
          </p:cNvSpPr>
          <p:nvPr>
            <p:ph type="sldNum" sz="quarter" idx="10"/>
          </p:nvPr>
        </p:nvSpPr>
        <p:spPr/>
        <p:txBody>
          <a:bodyPr/>
          <a:lstStyle/>
          <a:p>
            <a:pPr>
              <a:defRPr/>
            </a:pPr>
            <a:fld id="{D0A47E94-594E-47A4-BB3B-DD333E07ABDC}" type="slidenum">
              <a:rPr lang="en-US" smtClean="0"/>
              <a:pPr>
                <a:defRPr/>
              </a:pPr>
              <a:t>26</a:t>
            </a:fld>
            <a:endParaRPr lang="en-US" dirty="0"/>
          </a:p>
        </p:txBody>
      </p:sp>
    </p:spTree>
    <p:extLst>
      <p:ext uri="{BB962C8B-B14F-4D97-AF65-F5344CB8AC3E}">
        <p14:creationId xmlns:p14="http://schemas.microsoft.com/office/powerpoint/2010/main" val="756086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152400"/>
            <a:ext cx="4648200" cy="3486150"/>
          </a:xfrm>
        </p:spPr>
      </p:sp>
      <p:sp>
        <p:nvSpPr>
          <p:cNvPr id="3" name="Notes Placeholder 2"/>
          <p:cNvSpPr>
            <a:spLocks noGrp="1"/>
          </p:cNvSpPr>
          <p:nvPr>
            <p:ph type="body" idx="1"/>
          </p:nvPr>
        </p:nvSpPr>
        <p:spPr>
          <a:xfrm>
            <a:off x="381000" y="3657600"/>
            <a:ext cx="6400800" cy="5410200"/>
          </a:xfrm>
        </p:spPr>
        <p:txBody>
          <a:bodyPr/>
          <a:lstStyle/>
          <a:p>
            <a:endParaRPr lang="en-US" sz="1300" dirty="0"/>
          </a:p>
        </p:txBody>
      </p:sp>
      <p:sp>
        <p:nvSpPr>
          <p:cNvPr id="4" name="Slide Number Placeholder 3"/>
          <p:cNvSpPr>
            <a:spLocks noGrp="1"/>
          </p:cNvSpPr>
          <p:nvPr>
            <p:ph type="sldNum" sz="quarter" idx="10"/>
          </p:nvPr>
        </p:nvSpPr>
        <p:spPr/>
        <p:txBody>
          <a:bodyPr/>
          <a:lstStyle/>
          <a:p>
            <a:fld id="{4822666C-A225-46F9-90D5-54161C991BEE}" type="slidenum">
              <a:rPr lang="en-US" smtClean="0"/>
              <a:t>27</a:t>
            </a:fld>
            <a:endParaRPr lang="en-US"/>
          </a:p>
        </p:txBody>
      </p:sp>
    </p:spTree>
    <p:extLst>
      <p:ext uri="{BB962C8B-B14F-4D97-AF65-F5344CB8AC3E}">
        <p14:creationId xmlns:p14="http://schemas.microsoft.com/office/powerpoint/2010/main" val="923901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FB9989-D65D-4617-94D2-F16A5438B681}" type="slidenum">
              <a:rPr lang="en-US" smtClean="0"/>
              <a:t>28</a:t>
            </a:fld>
            <a:endParaRPr lang="en-US" dirty="0"/>
          </a:p>
        </p:txBody>
      </p:sp>
    </p:spTree>
    <p:extLst>
      <p:ext uri="{BB962C8B-B14F-4D97-AF65-F5344CB8AC3E}">
        <p14:creationId xmlns:p14="http://schemas.microsoft.com/office/powerpoint/2010/main" val="22301752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A347FC-3593-4746-9B63-70132BAF7C44}" type="slidenum">
              <a:rPr lang="en-US" smtClean="0"/>
              <a:t>33</a:t>
            </a:fld>
            <a:endParaRPr lang="en-US" dirty="0"/>
          </a:p>
        </p:txBody>
      </p:sp>
    </p:spTree>
    <p:extLst>
      <p:ext uri="{BB962C8B-B14F-4D97-AF65-F5344CB8AC3E}">
        <p14:creationId xmlns:p14="http://schemas.microsoft.com/office/powerpoint/2010/main" val="16940136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4A347FC-3593-4746-9B63-70132BAF7C44}" type="slidenum">
              <a:rPr lang="en-US" smtClean="0"/>
              <a:t>36</a:t>
            </a:fld>
            <a:endParaRPr lang="en-US" dirty="0"/>
          </a:p>
        </p:txBody>
      </p:sp>
    </p:spTree>
    <p:extLst>
      <p:ext uri="{BB962C8B-B14F-4D97-AF65-F5344CB8AC3E}">
        <p14:creationId xmlns:p14="http://schemas.microsoft.com/office/powerpoint/2010/main" val="5122038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solidFill>
                <a:prstClr val="black"/>
              </a:solidFill>
            </a:endParaRPr>
          </a:p>
          <a:p>
            <a:endParaRPr lang="en-US" dirty="0"/>
          </a:p>
        </p:txBody>
      </p:sp>
      <p:sp>
        <p:nvSpPr>
          <p:cNvPr id="4" name="Slide Number Placeholder 3"/>
          <p:cNvSpPr>
            <a:spLocks noGrp="1"/>
          </p:cNvSpPr>
          <p:nvPr>
            <p:ph type="sldNum" sz="quarter" idx="10"/>
          </p:nvPr>
        </p:nvSpPr>
        <p:spPr/>
        <p:txBody>
          <a:bodyPr/>
          <a:lstStyle/>
          <a:p>
            <a:fld id="{F4A347FC-3593-4746-9B63-70132BAF7C44}" type="slidenum">
              <a:rPr lang="en-US" smtClean="0"/>
              <a:t>37</a:t>
            </a:fld>
            <a:endParaRPr lang="en-US" dirty="0"/>
          </a:p>
        </p:txBody>
      </p:sp>
    </p:spTree>
    <p:extLst>
      <p:ext uri="{BB962C8B-B14F-4D97-AF65-F5344CB8AC3E}">
        <p14:creationId xmlns:p14="http://schemas.microsoft.com/office/powerpoint/2010/main" val="3656993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FB9989-D65D-4617-94D2-F16A5438B681}" type="slidenum">
              <a:rPr lang="en-US" smtClean="0"/>
              <a:t>45</a:t>
            </a:fld>
            <a:endParaRPr lang="en-US" dirty="0"/>
          </a:p>
        </p:txBody>
      </p:sp>
    </p:spTree>
    <p:extLst>
      <p:ext uri="{BB962C8B-B14F-4D97-AF65-F5344CB8AC3E}">
        <p14:creationId xmlns:p14="http://schemas.microsoft.com/office/powerpoint/2010/main" val="249684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lstStyle>
            <a:lvl1pPr>
              <a:defRPr/>
            </a:lvl1pPr>
          </a:lstStyle>
          <a:p>
            <a:r>
              <a:rPr lang="en-US" dirty="0" smtClean="0"/>
              <a:t>Click to add title</a:t>
            </a:r>
            <a:endParaRPr lang="en-US" dirty="0"/>
          </a:p>
        </p:txBody>
      </p:sp>
      <p:sp>
        <p:nvSpPr>
          <p:cNvPr id="3" name="Subtitl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add subtitle</a:t>
            </a:r>
            <a:endParaRPr lang="en-US" dirty="0"/>
          </a:p>
        </p:txBody>
      </p:sp>
      <p:sp>
        <p:nvSpPr>
          <p:cNvPr id="6" name="Slide Number Placeholder 5"/>
          <p:cNvSpPr>
            <a:spLocks noGrp="1"/>
          </p:cNvSpPr>
          <p:nvPr>
            <p:ph type="sldNum" sz="quarter" idx="12"/>
          </p:nvPr>
        </p:nvSpPr>
        <p:spPr/>
        <p:txBody>
          <a:bodyPr/>
          <a:lstStyle/>
          <a:p>
            <a:fld id="{7268A5C4-149D-4D66-BABE-E6DD2BE69C90}" type="slidenum">
              <a:rPr lang="en-US" smtClean="0"/>
              <a:t>‹#›</a:t>
            </a:fld>
            <a:endParaRPr lang="en-US" dirty="0"/>
          </a:p>
        </p:txBody>
      </p:sp>
    </p:spTree>
    <p:extLst>
      <p:ext uri="{BB962C8B-B14F-4D97-AF65-F5344CB8AC3E}">
        <p14:creationId xmlns:p14="http://schemas.microsoft.com/office/powerpoint/2010/main" val="2530034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add title</a:t>
            </a:r>
            <a:endParaRPr lang="en-US" dirty="0"/>
          </a:p>
        </p:txBody>
      </p:sp>
      <p:sp>
        <p:nvSpPr>
          <p:cNvPr id="3" name="Content Placeholder 2"/>
          <p:cNvSpPr>
            <a:spLocks noGrp="1"/>
          </p:cNvSpPr>
          <p:nvPr>
            <p:ph idx="1" hasCustomPrompt="1"/>
          </p:nvPr>
        </p:nvSpPr>
        <p:spPr/>
        <p:txBody>
          <a:bodyPr/>
          <a:lstStyle>
            <a:lvl1pPr>
              <a:defRPr/>
            </a:lvl1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p>
            <a:fld id="{7268A5C4-149D-4D66-BABE-E6DD2BE69C90}" type="slidenum">
              <a:rPr lang="en-US" smtClean="0"/>
              <a:t>‹#›</a:t>
            </a:fld>
            <a:endParaRPr lang="en-US" dirty="0"/>
          </a:p>
        </p:txBody>
      </p:sp>
    </p:spTree>
    <p:extLst>
      <p:ext uri="{BB962C8B-B14F-4D97-AF65-F5344CB8AC3E}">
        <p14:creationId xmlns:p14="http://schemas.microsoft.com/office/powerpoint/2010/main" val="3802903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add title</a:t>
            </a:r>
            <a:endParaRPr lang="en-US" dirty="0"/>
          </a:p>
        </p:txBody>
      </p:sp>
      <p:sp>
        <p:nvSpPr>
          <p:cNvPr id="3" name="Content Placeholder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p:txBody>
          <a:bodyPr/>
          <a:lstStyle/>
          <a:p>
            <a:fld id="{7268A5C4-149D-4D66-BABE-E6DD2BE69C90}" type="slidenum">
              <a:rPr lang="en-US" smtClean="0"/>
              <a:t>‹#›</a:t>
            </a:fld>
            <a:endParaRPr lang="en-US" dirty="0"/>
          </a:p>
        </p:txBody>
      </p:sp>
    </p:spTree>
    <p:extLst>
      <p:ext uri="{BB962C8B-B14F-4D97-AF65-F5344CB8AC3E}">
        <p14:creationId xmlns:p14="http://schemas.microsoft.com/office/powerpoint/2010/main" val="270107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add title</a:t>
            </a:r>
            <a:endParaRPr lang="en-US" dirty="0"/>
          </a:p>
        </p:txBody>
      </p:sp>
      <p:sp>
        <p:nvSpPr>
          <p:cNvPr id="5" name="Slide Number Placeholder 4"/>
          <p:cNvSpPr>
            <a:spLocks noGrp="1"/>
          </p:cNvSpPr>
          <p:nvPr>
            <p:ph type="sldNum" sz="quarter" idx="12"/>
          </p:nvPr>
        </p:nvSpPr>
        <p:spPr/>
        <p:txBody>
          <a:bodyPr/>
          <a:lstStyle/>
          <a:p>
            <a:fld id="{7268A5C4-149D-4D66-BABE-E6DD2BE69C90}" type="slidenum">
              <a:rPr lang="en-US" smtClean="0"/>
              <a:t>‹#›</a:t>
            </a:fld>
            <a:endParaRPr lang="en-US" dirty="0"/>
          </a:p>
        </p:txBody>
      </p:sp>
    </p:spTree>
    <p:extLst>
      <p:ext uri="{BB962C8B-B14F-4D97-AF65-F5344CB8AC3E}">
        <p14:creationId xmlns:p14="http://schemas.microsoft.com/office/powerpoint/2010/main" val="372419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268A5C4-149D-4D66-BABE-E6DD2BE69C90}" type="slidenum">
              <a:rPr lang="en-US" smtClean="0"/>
              <a:t>‹#›</a:t>
            </a:fld>
            <a:endParaRPr lang="en-US" dirty="0"/>
          </a:p>
        </p:txBody>
      </p:sp>
    </p:spTree>
    <p:extLst>
      <p:ext uri="{BB962C8B-B14F-4D97-AF65-F5344CB8AC3E}">
        <p14:creationId xmlns:p14="http://schemas.microsoft.com/office/powerpoint/2010/main" val="113957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6235700"/>
            <a:ext cx="9144000" cy="622300"/>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add title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7268A5C4-149D-4D66-BABE-E6DD2BE69C90}" type="slidenum">
              <a:rPr lang="en-US" smtClean="0"/>
              <a:pPr/>
              <a:t>‹#›</a:t>
            </a:fld>
            <a:endParaRPr lang="en-US" dirty="0"/>
          </a:p>
        </p:txBody>
      </p:sp>
    </p:spTree>
    <p:extLst>
      <p:ext uri="{BB962C8B-B14F-4D97-AF65-F5344CB8AC3E}">
        <p14:creationId xmlns:p14="http://schemas.microsoft.com/office/powerpoint/2010/main" val="2068828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p:titleStyle>
    <p:body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18"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5.png"/><Relationship Id="rId17" Type="http://schemas.openxmlformats.org/officeDocument/2006/relationships/image" Target="../media/image18.png"/><Relationship Id="rId2" Type="http://schemas.openxmlformats.org/officeDocument/2006/relationships/notesSlide" Target="../notesSlides/notesSlide9.xml"/><Relationship Id="rId16" Type="http://schemas.microsoft.com/office/2007/relationships/hdphoto" Target="../media/hdphoto4.wdp"/><Relationship Id="rId1" Type="http://schemas.openxmlformats.org/officeDocument/2006/relationships/slideLayout" Target="../slideLayouts/slideLayout2.xml"/><Relationship Id="rId6" Type="http://schemas.microsoft.com/office/2007/relationships/hdphoto" Target="../media/hdphoto1.wdp"/><Relationship Id="rId11" Type="http://schemas.microsoft.com/office/2007/relationships/hdphoto" Target="../media/hdphoto2.wdp"/><Relationship Id="rId5" Type="http://schemas.openxmlformats.org/officeDocument/2006/relationships/image" Target="../media/image10.png"/><Relationship Id="rId15" Type="http://schemas.openxmlformats.org/officeDocument/2006/relationships/image" Target="../media/image17.png"/><Relationship Id="rId10" Type="http://schemas.openxmlformats.org/officeDocument/2006/relationships/image" Target="../media/image14.png"/><Relationship Id="rId19"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13.png"/><Relationship Id="rId1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hyperlink" Target="http://www.census.gov/research/data/planning_database/2015/" TargetMode="External"/><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hyperlink" Target="http://www.census.gov/2010census/about/cpex.php" TargetMode="External"/><Relationship Id="rId5" Type="http://schemas.openxmlformats.org/officeDocument/2006/relationships/image" Target="../media/image22.png"/><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www.census.gov/about/business-opportunities/opportunities/vender-opps/2014-10-15-2020-comm.html" TargetMode="External"/><Relationship Id="rId2" Type="http://schemas.openxmlformats.org/officeDocument/2006/relationships/hyperlink" Target="mailto:acq.2020.comm@census.gov"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mailto:acq.2020.comm@census.gov"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685800"/>
            <a:ext cx="8686800" cy="5638800"/>
          </a:xfrm>
        </p:spPr>
        <p:txBody>
          <a:bodyPr>
            <a:normAutofit fontScale="90000"/>
          </a:bodyPr>
          <a:lstStyle/>
          <a:p>
            <a:r>
              <a:rPr lang="en-US" altLang="en-US" sz="4800" dirty="0" smtClean="0">
                <a:latin typeface="Calibri" panose="020F0502020204030204" pitchFamily="34" charset="0"/>
                <a:cs typeface="Times New Roman" panose="02020603050405020304" pitchFamily="18" charset="0"/>
              </a:rPr>
              <a:t>PRE-SOLICIATION CONFERENCE AND VENDOR EXPO</a:t>
            </a:r>
            <a:r>
              <a:rPr lang="en-US" altLang="en-US" sz="5300" dirty="0" smtClean="0">
                <a:latin typeface="Calibri" panose="020F0502020204030204" pitchFamily="34" charset="0"/>
                <a:cs typeface="Times New Roman" panose="02020603050405020304" pitchFamily="18" charset="0"/>
              </a:rPr>
              <a:t/>
            </a:r>
            <a:br>
              <a:rPr lang="en-US" altLang="en-US" sz="5300" dirty="0" smtClean="0">
                <a:latin typeface="Calibri" panose="020F0502020204030204" pitchFamily="34" charset="0"/>
                <a:cs typeface="Times New Roman" panose="02020603050405020304" pitchFamily="18" charset="0"/>
              </a:rPr>
            </a:br>
            <a:r>
              <a:rPr lang="en-US" altLang="en-US" sz="5300" dirty="0" smtClean="0">
                <a:latin typeface="Calibri" panose="020F0502020204030204" pitchFamily="34" charset="0"/>
                <a:cs typeface="Times New Roman" panose="02020603050405020304" pitchFamily="18" charset="0"/>
              </a:rPr>
              <a:t/>
            </a:r>
            <a:br>
              <a:rPr lang="en-US" altLang="en-US" sz="5300" dirty="0" smtClean="0">
                <a:latin typeface="Calibri" panose="020F0502020204030204" pitchFamily="34" charset="0"/>
                <a:cs typeface="Times New Roman" panose="02020603050405020304" pitchFamily="18" charset="0"/>
              </a:rPr>
            </a:br>
            <a:r>
              <a:rPr lang="en-US" altLang="en-US" sz="3600" i="1" dirty="0" smtClean="0">
                <a:latin typeface="Calibri" panose="020F0502020204030204" pitchFamily="34" charset="0"/>
                <a:cs typeface="Times New Roman" panose="02020603050405020304" pitchFamily="18" charset="0"/>
              </a:rPr>
              <a:t>2020 Census Integrated Communications Contract</a:t>
            </a:r>
            <a:br>
              <a:rPr lang="en-US" altLang="en-US" sz="3600" i="1" dirty="0" smtClean="0">
                <a:latin typeface="Calibri" panose="020F0502020204030204" pitchFamily="34" charset="0"/>
                <a:cs typeface="Times New Roman" panose="02020603050405020304" pitchFamily="18" charset="0"/>
              </a:rPr>
            </a:br>
            <a:r>
              <a:rPr lang="en-US" altLang="en-US" sz="3600" i="1" dirty="0" smtClean="0">
                <a:latin typeface="Calibri" panose="020F0502020204030204" pitchFamily="34" charset="0"/>
                <a:cs typeface="Times New Roman" panose="02020603050405020304" pitchFamily="18" charset="0"/>
              </a:rPr>
              <a:t/>
            </a:r>
            <a:br>
              <a:rPr lang="en-US" altLang="en-US" sz="3600" i="1" dirty="0" smtClean="0">
                <a:latin typeface="Calibri" panose="020F0502020204030204" pitchFamily="34" charset="0"/>
                <a:cs typeface="Times New Roman" panose="02020603050405020304" pitchFamily="18" charset="0"/>
              </a:rPr>
            </a:br>
            <a:r>
              <a:rPr lang="en-US" altLang="en-US" sz="2400" i="1" dirty="0">
                <a:latin typeface="Calibri" panose="020F0502020204030204" pitchFamily="34" charset="0"/>
                <a:cs typeface="Times New Roman" panose="02020603050405020304" pitchFamily="18" charset="0"/>
              </a:rPr>
              <a:t/>
            </a:r>
            <a:br>
              <a:rPr lang="en-US" altLang="en-US" sz="2400" i="1" dirty="0">
                <a:latin typeface="Calibri" panose="020F0502020204030204" pitchFamily="34" charset="0"/>
                <a:cs typeface="Times New Roman" panose="02020603050405020304" pitchFamily="18" charset="0"/>
              </a:rPr>
            </a:br>
            <a:r>
              <a:rPr lang="en-US" altLang="en-US" sz="2400" i="1" dirty="0" smtClean="0">
                <a:latin typeface="Calibri" panose="020F0502020204030204" pitchFamily="34" charset="0"/>
                <a:cs typeface="Times New Roman" panose="02020603050405020304" pitchFamily="18" charset="0"/>
              </a:rPr>
              <a:t/>
            </a:r>
            <a:br>
              <a:rPr lang="en-US" altLang="en-US" sz="2400" i="1" dirty="0" smtClean="0">
                <a:latin typeface="Calibri" panose="020F0502020204030204" pitchFamily="34" charset="0"/>
                <a:cs typeface="Times New Roman" panose="02020603050405020304" pitchFamily="18" charset="0"/>
              </a:rPr>
            </a:br>
            <a:r>
              <a:rPr lang="en-US" altLang="en-US" sz="2200" b="0" dirty="0" smtClean="0">
                <a:latin typeface="Calibri" panose="020F0502020204030204" pitchFamily="34" charset="0"/>
                <a:cs typeface="Times New Roman" panose="02020603050405020304" pitchFamily="18" charset="0"/>
              </a:rPr>
              <a:t>U.S. Census Bureau</a:t>
            </a:r>
            <a:br>
              <a:rPr lang="en-US" altLang="en-US" sz="2200" b="0" dirty="0" smtClean="0">
                <a:latin typeface="Calibri" panose="020F0502020204030204" pitchFamily="34" charset="0"/>
                <a:cs typeface="Times New Roman" panose="02020603050405020304" pitchFamily="18" charset="0"/>
              </a:rPr>
            </a:br>
            <a:r>
              <a:rPr lang="en-US" altLang="en-US" sz="2200" b="0" dirty="0" smtClean="0">
                <a:latin typeface="Calibri" panose="020F0502020204030204" pitchFamily="34" charset="0"/>
                <a:cs typeface="Times New Roman" panose="02020603050405020304" pitchFamily="18" charset="0"/>
              </a:rPr>
              <a:t>Friday, December 18, 2015</a:t>
            </a:r>
            <a:br>
              <a:rPr lang="en-US" altLang="en-US" sz="2200" b="0" dirty="0" smtClean="0">
                <a:latin typeface="Calibri" panose="020F0502020204030204" pitchFamily="34" charset="0"/>
                <a:cs typeface="Times New Roman" panose="02020603050405020304" pitchFamily="18" charset="0"/>
              </a:rPr>
            </a:br>
            <a:r>
              <a:rPr lang="en-US" altLang="en-US" sz="2200" b="0" dirty="0" smtClean="0">
                <a:latin typeface="Calibri" panose="020F0502020204030204" pitchFamily="34" charset="0"/>
                <a:cs typeface="Times New Roman" panose="02020603050405020304" pitchFamily="18" charset="0"/>
              </a:rPr>
              <a:t>10:00 a.m. to 2:00 p.m.</a:t>
            </a:r>
            <a:r>
              <a:rPr lang="en-US" altLang="en-US" dirty="0"/>
              <a:t/>
            </a:r>
            <a:br>
              <a:rPr lang="en-US" altLang="en-US" dirty="0"/>
            </a:br>
            <a:endParaRPr lang="en-US" dirty="0"/>
          </a:p>
        </p:txBody>
      </p:sp>
    </p:spTree>
    <p:extLst>
      <p:ext uri="{BB962C8B-B14F-4D97-AF65-F5344CB8AC3E}">
        <p14:creationId xmlns:p14="http://schemas.microsoft.com/office/powerpoint/2010/main" val="206209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143000"/>
          </a:xfrm>
        </p:spPr>
        <p:txBody>
          <a:bodyPr>
            <a:noAutofit/>
          </a:bodyPr>
          <a:lstStyle/>
          <a:p>
            <a:r>
              <a:rPr lang="en-US" dirty="0" smtClean="0">
                <a:latin typeface="Calibri" panose="020F0502020204030204" pitchFamily="34" charset="0"/>
                <a:cs typeface="Times New Roman" panose="02020603050405020304" pitchFamily="18" charset="0"/>
              </a:rPr>
              <a:t>WELCOME AND OPENING REMARKS</a:t>
            </a:r>
            <a:endParaRPr lang="en-US" dirty="0">
              <a:latin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533400" y="4008437"/>
            <a:ext cx="8153400" cy="1630363"/>
          </a:xfrm>
        </p:spPr>
        <p:txBody>
          <a:bodyPr>
            <a:normAutofit/>
          </a:bodyPr>
          <a:lstStyle/>
          <a:p>
            <a:pPr marL="0" indent="0">
              <a:buNone/>
            </a:pPr>
            <a:endParaRPr lang="en-US" altLang="en-US" sz="1400" dirty="0">
              <a:latin typeface="Calibri" panose="020F0502020204030204" pitchFamily="34" charset="0"/>
              <a:cs typeface="Times New Roman" panose="02020603050405020304" pitchFamily="18" charset="0"/>
            </a:endParaRPr>
          </a:p>
          <a:p>
            <a:pPr marL="0" indent="0" algn="ctr">
              <a:buNone/>
            </a:pPr>
            <a:r>
              <a:rPr lang="en-US" sz="2800" dirty="0" smtClean="0"/>
              <a:t>Jeannie Shiffer</a:t>
            </a:r>
          </a:p>
          <a:p>
            <a:pPr marL="0" indent="0" algn="ctr">
              <a:buNone/>
            </a:pPr>
            <a:r>
              <a:rPr lang="en-US" sz="2400" dirty="0" smtClean="0"/>
              <a:t>Associate Director for Communications</a:t>
            </a:r>
            <a:endParaRPr lang="en-US" sz="2400" dirty="0"/>
          </a:p>
        </p:txBody>
      </p:sp>
    </p:spTree>
    <p:extLst>
      <p:ext uri="{BB962C8B-B14F-4D97-AF65-F5344CB8AC3E}">
        <p14:creationId xmlns:p14="http://schemas.microsoft.com/office/powerpoint/2010/main" val="158470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143000"/>
          </a:xfrm>
        </p:spPr>
        <p:txBody>
          <a:bodyPr>
            <a:noAutofit/>
          </a:bodyPr>
          <a:lstStyle/>
          <a:p>
            <a:r>
              <a:rPr lang="en-US" dirty="0" smtClean="0">
                <a:latin typeface="Calibri" panose="020F0502020204030204" pitchFamily="34" charset="0"/>
                <a:cs typeface="Times New Roman" panose="02020603050405020304" pitchFamily="18" charset="0"/>
              </a:rPr>
              <a:t>2020 Census Operational Plan</a:t>
            </a:r>
            <a:endParaRPr lang="en-US" dirty="0">
              <a:latin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533400" y="4008437"/>
            <a:ext cx="8153400" cy="1630363"/>
          </a:xfrm>
        </p:spPr>
        <p:txBody>
          <a:bodyPr>
            <a:normAutofit/>
          </a:bodyPr>
          <a:lstStyle/>
          <a:p>
            <a:pPr marL="0" indent="0">
              <a:buNone/>
            </a:pPr>
            <a:endParaRPr lang="en-US" altLang="en-US" sz="1400" dirty="0">
              <a:latin typeface="Calibri" panose="020F0502020204030204" pitchFamily="34" charset="0"/>
              <a:cs typeface="Times New Roman" panose="02020603050405020304" pitchFamily="18" charset="0"/>
            </a:endParaRPr>
          </a:p>
          <a:p>
            <a:pPr marL="0" indent="0" algn="ctr">
              <a:buNone/>
            </a:pPr>
            <a:r>
              <a:rPr lang="en-US" sz="2800" dirty="0" smtClean="0"/>
              <a:t>Lisa M. Blumerman</a:t>
            </a:r>
          </a:p>
          <a:p>
            <a:pPr marL="0" indent="0" algn="ctr">
              <a:buNone/>
            </a:pPr>
            <a:r>
              <a:rPr lang="en-US" sz="2400" dirty="0" smtClean="0"/>
              <a:t>Associate Director for Decennial Census Programs</a:t>
            </a:r>
            <a:endParaRPr lang="en-US" sz="2400" dirty="0"/>
          </a:p>
        </p:txBody>
      </p:sp>
    </p:spTree>
    <p:extLst>
      <p:ext uri="{BB962C8B-B14F-4D97-AF65-F5344CB8AC3E}">
        <p14:creationId xmlns:p14="http://schemas.microsoft.com/office/powerpoint/2010/main" val="1824781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81000" y="1072101"/>
            <a:ext cx="8229600" cy="5176299"/>
          </a:xfrm>
        </p:spPr>
        <p:txBody>
          <a:bodyPr>
            <a:normAutofit fontScale="70000" lnSpcReduction="20000"/>
          </a:bodyPr>
          <a:lstStyle/>
          <a:p>
            <a:pPr marL="0" indent="0">
              <a:buNone/>
            </a:pPr>
            <a:r>
              <a:rPr lang="en-US" sz="2900" dirty="0" smtClean="0">
                <a:solidFill>
                  <a:schemeClr val="accent1"/>
                </a:solidFill>
                <a:latin typeface="Calibri" panose="020F0502020204030204" pitchFamily="34" charset="0"/>
              </a:rPr>
              <a:t>Purpose:</a:t>
            </a:r>
          </a:p>
          <a:p>
            <a:pPr marL="0" indent="0">
              <a:buNone/>
            </a:pPr>
            <a:r>
              <a:rPr lang="en-US" sz="2300" dirty="0" smtClean="0">
                <a:solidFill>
                  <a:schemeClr val="tx1">
                    <a:lumMod val="75000"/>
                    <a:lumOff val="25000"/>
                  </a:schemeClr>
                </a:solidFill>
                <a:latin typeface="Calibri" panose="020F0502020204030204" pitchFamily="34" charset="0"/>
              </a:rPr>
              <a:t>To conduct a census of population and housing and disseminate the results to the President, the States, and the American People</a:t>
            </a:r>
          </a:p>
          <a:p>
            <a:pPr marL="0" indent="0">
              <a:buNone/>
            </a:pPr>
            <a:endParaRPr lang="en-US" sz="1400" dirty="0">
              <a:solidFill>
                <a:schemeClr val="accent1"/>
              </a:solidFill>
              <a:latin typeface="Calibri" panose="020F0502020204030204" pitchFamily="34" charset="0"/>
            </a:endParaRPr>
          </a:p>
          <a:p>
            <a:pPr marL="0" indent="0">
              <a:buNone/>
            </a:pPr>
            <a:endParaRPr lang="en-US" sz="1400" dirty="0" smtClean="0">
              <a:solidFill>
                <a:schemeClr val="accent1"/>
              </a:solidFill>
              <a:latin typeface="Calibri" panose="020F0502020204030204" pitchFamily="34" charset="0"/>
            </a:endParaRPr>
          </a:p>
          <a:p>
            <a:pPr marL="0" indent="0">
              <a:buNone/>
            </a:pPr>
            <a:r>
              <a:rPr lang="en-US" sz="2900" dirty="0" smtClean="0">
                <a:solidFill>
                  <a:schemeClr val="accent1"/>
                </a:solidFill>
                <a:latin typeface="Calibri" panose="020F0502020204030204" pitchFamily="34" charset="0"/>
              </a:rPr>
              <a:t>Primary Uses of Decennial Census Data:</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Apportion representation among states as mandated by Article 1, Section 2 of the United States Constitution:</a:t>
            </a:r>
          </a:p>
          <a:p>
            <a:pPr marL="0" indent="0">
              <a:buNone/>
            </a:pPr>
            <a:endParaRPr lang="en-US" sz="2300" dirty="0" smtClean="0">
              <a:latin typeface="Calibri" panose="020F0502020204030204" pitchFamily="34" charset="0"/>
            </a:endParaRPr>
          </a:p>
          <a:p>
            <a:pPr marL="457200" lvl="1" indent="0">
              <a:buNone/>
            </a:pPr>
            <a:r>
              <a:rPr lang="en-US" sz="2200" b="1" dirty="0">
                <a:solidFill>
                  <a:schemeClr val="tx2"/>
                </a:solidFill>
                <a:latin typeface="Calibri" panose="020F0502020204030204" pitchFamily="34" charset="0"/>
              </a:rPr>
              <a:t>	</a:t>
            </a:r>
            <a:endParaRPr lang="en-US" sz="2200" b="1" dirty="0" smtClean="0">
              <a:solidFill>
                <a:schemeClr val="tx2"/>
              </a:solidFill>
              <a:latin typeface="Calibri" panose="020F0502020204030204" pitchFamily="34" charset="0"/>
            </a:endParaRPr>
          </a:p>
          <a:p>
            <a:pPr marL="457200" lvl="1" indent="0">
              <a:buNone/>
            </a:pPr>
            <a:endParaRPr lang="en-US" sz="2200" b="1" dirty="0">
              <a:solidFill>
                <a:schemeClr val="tx2"/>
              </a:solidFill>
              <a:latin typeface="Calibri" panose="020F0502020204030204" pitchFamily="34" charset="0"/>
            </a:endParaRPr>
          </a:p>
          <a:p>
            <a:pPr marL="0" indent="0">
              <a:buNone/>
            </a:pPr>
            <a:endParaRPr lang="en-US" sz="2200" b="1" dirty="0">
              <a:solidFill>
                <a:schemeClr val="tx2"/>
              </a:solidFill>
              <a:latin typeface="Calibri" panose="020F0502020204030204" pitchFamily="34" charset="0"/>
            </a:endParaRPr>
          </a:p>
          <a:p>
            <a:pPr marL="0" indent="0">
              <a:buNone/>
            </a:pPr>
            <a:endParaRPr lang="en-US" sz="700" dirty="0" smtClean="0">
              <a:solidFill>
                <a:schemeClr val="tx1">
                  <a:lumMod val="75000"/>
                  <a:lumOff val="25000"/>
                </a:schemeClr>
              </a:solidFill>
              <a:latin typeface="Calibri" panose="020F0502020204030204" pitchFamily="34" charset="0"/>
            </a:endParaRPr>
          </a:p>
          <a:p>
            <a:pPr marL="0" indent="0">
              <a:buNone/>
            </a:pPr>
            <a:endParaRPr lang="en-US" sz="700" dirty="0">
              <a:solidFill>
                <a:schemeClr val="tx1">
                  <a:lumMod val="75000"/>
                  <a:lumOff val="25000"/>
                </a:schemeClr>
              </a:solidFill>
              <a:latin typeface="Calibri" panose="020F0502020204030204" pitchFamily="34" charset="0"/>
            </a:endParaRPr>
          </a:p>
          <a:p>
            <a:pPr marL="0" indent="0">
              <a:buNone/>
            </a:pPr>
            <a:endParaRPr lang="en-US" sz="700" dirty="0" smtClean="0">
              <a:solidFill>
                <a:schemeClr val="tx1">
                  <a:lumMod val="75000"/>
                  <a:lumOff val="25000"/>
                </a:schemeClr>
              </a:solidFill>
              <a:latin typeface="Calibri" panose="020F0502020204030204" pitchFamily="34" charset="0"/>
            </a:endParaRPr>
          </a:p>
          <a:p>
            <a:pPr marL="0" indent="0">
              <a:buNone/>
            </a:pPr>
            <a:endParaRPr lang="en-US" sz="700" dirty="0" smtClean="0">
              <a:solidFill>
                <a:schemeClr val="tx1">
                  <a:lumMod val="75000"/>
                  <a:lumOff val="25000"/>
                </a:schemeClr>
              </a:solidFill>
              <a:latin typeface="Calibri" panose="020F0502020204030204" pitchFamily="34" charset="0"/>
            </a:endParaRP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Draw congressional and state legislative districts, school districts and voting precincts</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Enforce voting rights and civil rights legislation</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Distribute federal dollars to states</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Inform federal, tribal, state, and local government planning decisions</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Inform business and nonprofit organization decisions (e.g., where to locate, size of the market)</a:t>
            </a:r>
          </a:p>
          <a:p>
            <a:pPr>
              <a:buFont typeface="Arial" panose="020B0604020202020204" pitchFamily="34" charset="0"/>
              <a:buChar char="•"/>
            </a:pPr>
            <a:r>
              <a:rPr lang="en-US" sz="2300" dirty="0" smtClean="0">
                <a:solidFill>
                  <a:schemeClr val="tx1">
                    <a:lumMod val="75000"/>
                    <a:lumOff val="25000"/>
                  </a:schemeClr>
                </a:solidFill>
                <a:latin typeface="Calibri" panose="020F0502020204030204" pitchFamily="34" charset="0"/>
              </a:rPr>
              <a:t>Provide population benchmark for nearly every other United States survey</a:t>
            </a:r>
          </a:p>
          <a:p>
            <a:endParaRPr lang="en-US" dirty="0">
              <a:latin typeface="Calibri" panose="020F0502020204030204" pitchFamily="34" charset="0"/>
            </a:endParaRPr>
          </a:p>
          <a:p>
            <a:endParaRPr lang="en-US" dirty="0">
              <a:latin typeface="Calibri" panose="020F0502020204030204" pitchFamily="34" charset="0"/>
            </a:endParaRPr>
          </a:p>
        </p:txBody>
      </p:sp>
      <p:sp>
        <p:nvSpPr>
          <p:cNvPr id="4" name="Slide Number Placeholder 3"/>
          <p:cNvSpPr>
            <a:spLocks noGrp="1"/>
          </p:cNvSpPr>
          <p:nvPr>
            <p:ph type="sldNum" sz="quarter" idx="12"/>
          </p:nvPr>
        </p:nvSpPr>
        <p:spPr/>
        <p:txBody>
          <a:bodyPr/>
          <a:lstStyle/>
          <a:p>
            <a:fld id="{7268A5C4-149D-4D66-BABE-E6DD2BE69C90}" type="slidenum">
              <a:rPr lang="en-US" smtClean="0"/>
              <a:pPr/>
              <a:t>4</a:t>
            </a:fld>
            <a:endParaRPr lang="en-US" dirty="0"/>
          </a:p>
        </p:txBody>
      </p:sp>
      <p:sp>
        <p:nvSpPr>
          <p:cNvPr id="2" name="TextBox 1"/>
          <p:cNvSpPr txBox="1"/>
          <p:nvPr/>
        </p:nvSpPr>
        <p:spPr>
          <a:xfrm>
            <a:off x="533400" y="2895600"/>
            <a:ext cx="7467600" cy="1169551"/>
          </a:xfrm>
          <a:prstGeom prst="rect">
            <a:avLst/>
          </a:prstGeom>
          <a:noFill/>
        </p:spPr>
        <p:txBody>
          <a:bodyPr wrap="square" rtlCol="0">
            <a:spAutoFit/>
          </a:bodyPr>
          <a:lstStyle/>
          <a:p>
            <a:pPr lvl="1"/>
            <a:r>
              <a:rPr lang="en-US" sz="1400" b="1" i="1" dirty="0">
                <a:solidFill>
                  <a:schemeClr val="accent6">
                    <a:lumMod val="75000"/>
                  </a:schemeClr>
                </a:solidFill>
              </a:rPr>
              <a:t>Representatives and direct Taxes shall be apportioned among the several </a:t>
            </a:r>
            <a:r>
              <a:rPr lang="en-US" sz="1400" b="1" i="1" dirty="0" smtClean="0">
                <a:solidFill>
                  <a:schemeClr val="accent6">
                    <a:lumMod val="75000"/>
                  </a:schemeClr>
                </a:solidFill>
              </a:rPr>
              <a:t>States </a:t>
            </a:r>
            <a:r>
              <a:rPr lang="en-US" sz="1400" b="1" i="1" dirty="0">
                <a:solidFill>
                  <a:schemeClr val="accent6">
                    <a:lumMod val="75000"/>
                  </a:schemeClr>
                </a:solidFill>
              </a:rPr>
              <a:t>which may be included within this union, according to their respective </a:t>
            </a:r>
            <a:r>
              <a:rPr lang="en-US" sz="1400" b="1" i="1" dirty="0" smtClean="0">
                <a:solidFill>
                  <a:schemeClr val="accent6">
                    <a:lumMod val="75000"/>
                  </a:schemeClr>
                </a:solidFill>
              </a:rPr>
              <a:t>Numbers </a:t>
            </a:r>
            <a:r>
              <a:rPr lang="en-US" sz="1400" i="1" dirty="0">
                <a:solidFill>
                  <a:schemeClr val="accent6">
                    <a:lumMod val="75000"/>
                  </a:schemeClr>
                </a:solidFill>
              </a:rPr>
              <a:t>… </a:t>
            </a:r>
            <a:r>
              <a:rPr lang="en-US" sz="1400" i="1" dirty="0">
                <a:solidFill>
                  <a:schemeClr val="tx1">
                    <a:lumMod val="75000"/>
                    <a:lumOff val="25000"/>
                  </a:schemeClr>
                </a:solidFill>
              </a:rPr>
              <a:t>The actual Enumeration shall be made within three Years after the first </a:t>
            </a:r>
            <a:r>
              <a:rPr lang="en-US" sz="1400" i="1" dirty="0" smtClean="0">
                <a:solidFill>
                  <a:schemeClr val="tx1">
                    <a:lumMod val="75000"/>
                    <a:lumOff val="25000"/>
                  </a:schemeClr>
                </a:solidFill>
              </a:rPr>
              <a:t>Meeting </a:t>
            </a:r>
            <a:r>
              <a:rPr lang="en-US" sz="1400" i="1" dirty="0">
                <a:solidFill>
                  <a:schemeClr val="tx1">
                    <a:lumMod val="75000"/>
                    <a:lumOff val="25000"/>
                  </a:schemeClr>
                </a:solidFill>
              </a:rPr>
              <a:t>of the Congress of the United States, and </a:t>
            </a:r>
            <a:r>
              <a:rPr lang="en-US" sz="1400" b="1" i="1" dirty="0">
                <a:solidFill>
                  <a:schemeClr val="accent6">
                    <a:lumMod val="75000"/>
                  </a:schemeClr>
                </a:solidFill>
              </a:rPr>
              <a:t>within every subsequent Term </a:t>
            </a:r>
            <a:r>
              <a:rPr lang="en-US" sz="1400" b="1" i="1" dirty="0" smtClean="0">
                <a:solidFill>
                  <a:schemeClr val="accent6">
                    <a:lumMod val="75000"/>
                  </a:schemeClr>
                </a:solidFill>
              </a:rPr>
              <a:t>of </a:t>
            </a:r>
            <a:r>
              <a:rPr lang="en-US" sz="1400" b="1" i="1" dirty="0">
                <a:solidFill>
                  <a:schemeClr val="accent6">
                    <a:lumMod val="75000"/>
                  </a:schemeClr>
                </a:solidFill>
              </a:rPr>
              <a:t>ten years</a:t>
            </a:r>
            <a:r>
              <a:rPr lang="en-US" sz="1400" i="1" dirty="0">
                <a:solidFill>
                  <a:schemeClr val="tx1">
                    <a:lumMod val="75000"/>
                    <a:lumOff val="25000"/>
                  </a:schemeClr>
                </a:solidFill>
              </a:rPr>
              <a:t>, in such Manner as they shall by Law direct.</a:t>
            </a:r>
          </a:p>
        </p:txBody>
      </p:sp>
      <p:sp>
        <p:nvSpPr>
          <p:cNvPr id="8" name="Title 1"/>
          <p:cNvSpPr>
            <a:spLocks noGrp="1"/>
          </p:cNvSpPr>
          <p:nvPr>
            <p:ph type="title"/>
          </p:nvPr>
        </p:nvSpPr>
        <p:spPr>
          <a:xfrm>
            <a:off x="381000" y="533400"/>
            <a:ext cx="8229600" cy="762000"/>
          </a:xfrm>
        </p:spPr>
        <p:txBody>
          <a:bodyPr>
            <a:normAutofit fontScale="90000"/>
          </a:bodyPr>
          <a:lstStyle/>
          <a:p>
            <a:pPr algn="l"/>
            <a:r>
              <a:rPr lang="en-US" sz="3100" b="0" dirty="0" smtClean="0">
                <a:solidFill>
                  <a:schemeClr val="tx1">
                    <a:lumMod val="75000"/>
                    <a:lumOff val="25000"/>
                  </a:schemeClr>
                </a:solidFill>
                <a:latin typeface="Calibri" panose="020F0502020204030204" pitchFamily="34" charset="0"/>
              </a:rPr>
              <a:t>The Decennial Census</a:t>
            </a:r>
            <a:r>
              <a:rPr lang="en-US" sz="2800" b="0" dirty="0" smtClean="0">
                <a:solidFill>
                  <a:schemeClr val="tx1">
                    <a:lumMod val="75000"/>
                    <a:lumOff val="25000"/>
                  </a:schemeClr>
                </a:solidFill>
                <a:latin typeface="Calibri" panose="020F0502020204030204" pitchFamily="34" charset="0"/>
              </a:rPr>
              <a:t/>
            </a:r>
            <a:br>
              <a:rPr lang="en-US" sz="2800" b="0" dirty="0" smtClean="0">
                <a:solidFill>
                  <a:schemeClr val="tx1">
                    <a:lumMod val="75000"/>
                    <a:lumOff val="25000"/>
                  </a:schemeClr>
                </a:solidFill>
                <a:latin typeface="Calibri" panose="020F0502020204030204" pitchFamily="34" charset="0"/>
              </a:rPr>
            </a:br>
            <a:endParaRPr lang="en-US" sz="2700" b="0" dirty="0">
              <a:solidFill>
                <a:schemeClr val="tx1">
                  <a:lumMod val="75000"/>
                  <a:lumOff val="25000"/>
                </a:schemeClr>
              </a:solidFill>
              <a:latin typeface="Calibri" panose="020F0502020204030204" pitchFamily="34" charset="0"/>
            </a:endParaRPr>
          </a:p>
        </p:txBody>
      </p:sp>
    </p:spTree>
    <p:extLst>
      <p:ext uri="{BB962C8B-B14F-4D97-AF65-F5344CB8AC3E}">
        <p14:creationId xmlns:p14="http://schemas.microsoft.com/office/powerpoint/2010/main" val="1744687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750" y="2438400"/>
            <a:ext cx="2795649" cy="2324100"/>
          </a:xfrm>
        </p:spPr>
        <p:txBody>
          <a:bodyPr>
            <a:noAutofit/>
          </a:bodyPr>
          <a:lstStyle/>
          <a:p>
            <a:pPr marL="0" indent="0">
              <a:buNone/>
            </a:pPr>
            <a:r>
              <a:rPr lang="en-US" sz="1600" dirty="0" smtClean="0">
                <a:latin typeface="Calibri" panose="020F0502020204030204" pitchFamily="34" charset="0"/>
              </a:rPr>
              <a:t>The 2020 Census is being conducted in a rapidly changing environment, requiring a flexible design that takes advantages of new technologies and data sources while minimizing risk to ensure a high quality population count.</a:t>
            </a:r>
            <a:endParaRPr lang="en-US" sz="1600" dirty="0" smtClean="0">
              <a:solidFill>
                <a:srgbClr val="C00000"/>
              </a:solidFill>
              <a:latin typeface="Calibri" panose="020F0502020204030204" pitchFamily="34" charset="0"/>
            </a:endParaRPr>
          </a:p>
          <a:p>
            <a:pPr marL="0" indent="0">
              <a:buNone/>
            </a:pPr>
            <a:endParaRPr lang="en-US" sz="2000" b="1" dirty="0">
              <a:latin typeface="Calibri" panose="020F0502020204030204" pitchFamily="34" charset="0"/>
            </a:endParaRPr>
          </a:p>
        </p:txBody>
      </p:sp>
      <p:sp>
        <p:nvSpPr>
          <p:cNvPr id="4" name="Slide Number Placeholder 3"/>
          <p:cNvSpPr>
            <a:spLocks noGrp="1"/>
          </p:cNvSpPr>
          <p:nvPr>
            <p:ph type="sldNum" sz="quarter" idx="12"/>
          </p:nvPr>
        </p:nvSpPr>
        <p:spPr/>
        <p:txBody>
          <a:bodyPr/>
          <a:lstStyle/>
          <a:p>
            <a:fld id="{8C6B5B77-4519-43AE-B0BC-D3C0E1CB2607}" type="slidenum">
              <a:rPr lang="en-US" b="0" smtClean="0">
                <a:solidFill>
                  <a:prstClr val="black"/>
                </a:solidFill>
              </a:rPr>
              <a:pPr/>
              <a:t>5</a:t>
            </a:fld>
            <a:endParaRPr lang="en-US" b="0" dirty="0">
              <a:solidFill>
                <a:prstClr val="black"/>
              </a:solidFill>
            </a:endParaRPr>
          </a:p>
        </p:txBody>
      </p:sp>
      <p:graphicFrame>
        <p:nvGraphicFramePr>
          <p:cNvPr id="5" name="Diagram 4"/>
          <p:cNvGraphicFramePr/>
          <p:nvPr>
            <p:extLst>
              <p:ext uri="{D42A27DB-BD31-4B8C-83A1-F6EECF244321}">
                <p14:modId xmlns:p14="http://schemas.microsoft.com/office/powerpoint/2010/main" val="13237475"/>
              </p:ext>
            </p:extLst>
          </p:nvPr>
        </p:nvGraphicFramePr>
        <p:xfrm>
          <a:off x="1981200" y="1417500"/>
          <a:ext cx="8077200" cy="5119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p:cNvSpPr>
            <a:spLocks noGrp="1"/>
          </p:cNvSpPr>
          <p:nvPr>
            <p:ph type="title"/>
          </p:nvPr>
        </p:nvSpPr>
        <p:spPr>
          <a:xfrm>
            <a:off x="381000" y="685800"/>
            <a:ext cx="8229600" cy="762000"/>
          </a:xfrm>
        </p:spPr>
        <p:txBody>
          <a:bodyPr>
            <a:normAutofit fontScale="90000"/>
          </a:bodyPr>
          <a:lstStyle/>
          <a:p>
            <a:pPr algn="l"/>
            <a:r>
              <a:rPr lang="en-US" sz="3100" b="0" dirty="0" smtClean="0">
                <a:solidFill>
                  <a:schemeClr val="tx1">
                    <a:lumMod val="75000"/>
                    <a:lumOff val="25000"/>
                  </a:schemeClr>
                </a:solidFill>
                <a:latin typeface="Calibri" panose="020F0502020204030204" pitchFamily="34" charset="0"/>
              </a:rPr>
              <a:t>The Decennial Census</a:t>
            </a:r>
            <a:r>
              <a:rPr lang="en-US" sz="2800" b="0" dirty="0" smtClean="0">
                <a:solidFill>
                  <a:schemeClr val="tx1">
                    <a:lumMod val="75000"/>
                    <a:lumOff val="25000"/>
                  </a:schemeClr>
                </a:solidFill>
                <a:latin typeface="Calibri" panose="020F0502020204030204" pitchFamily="34" charset="0"/>
              </a:rPr>
              <a:t/>
            </a:r>
            <a:br>
              <a:rPr lang="en-US" sz="2800" b="0" dirty="0" smtClean="0">
                <a:solidFill>
                  <a:schemeClr val="tx1">
                    <a:lumMod val="75000"/>
                    <a:lumOff val="25000"/>
                  </a:schemeClr>
                </a:solidFill>
                <a:latin typeface="Calibri" panose="020F0502020204030204" pitchFamily="34" charset="0"/>
              </a:rPr>
            </a:br>
            <a:r>
              <a:rPr lang="en-US" sz="2700" b="0" dirty="0" smtClean="0">
                <a:solidFill>
                  <a:schemeClr val="accent1"/>
                </a:solidFill>
                <a:latin typeface="Calibri" panose="020F0502020204030204" pitchFamily="34" charset="0"/>
              </a:rPr>
              <a:t>The 2020 Census Environment</a:t>
            </a:r>
            <a:r>
              <a:rPr lang="en-US" sz="2700" b="0" dirty="0" smtClean="0">
                <a:solidFill>
                  <a:schemeClr val="tx1">
                    <a:lumMod val="75000"/>
                    <a:lumOff val="25000"/>
                  </a:schemeClr>
                </a:solidFill>
                <a:latin typeface="Calibri" panose="020F0502020204030204" pitchFamily="34" charset="0"/>
              </a:rPr>
              <a:t/>
            </a:r>
            <a:br>
              <a:rPr lang="en-US" sz="2700" b="0" dirty="0" smtClean="0">
                <a:solidFill>
                  <a:schemeClr val="tx1">
                    <a:lumMod val="75000"/>
                    <a:lumOff val="25000"/>
                  </a:schemeClr>
                </a:solidFill>
                <a:latin typeface="Calibri" panose="020F0502020204030204" pitchFamily="34" charset="0"/>
              </a:rPr>
            </a:br>
            <a:endParaRPr lang="en-US" sz="2700" b="0" dirty="0">
              <a:solidFill>
                <a:schemeClr val="tx1">
                  <a:lumMod val="75000"/>
                  <a:lumOff val="25000"/>
                </a:schemeClr>
              </a:solidFill>
              <a:latin typeface="Calibri" panose="020F0502020204030204" pitchFamily="34" charset="0"/>
            </a:endParaRPr>
          </a:p>
        </p:txBody>
      </p:sp>
    </p:spTree>
    <p:extLst>
      <p:ext uri="{BB962C8B-B14F-4D97-AF65-F5344CB8AC3E}">
        <p14:creationId xmlns:p14="http://schemas.microsoft.com/office/powerpoint/2010/main" val="2414128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421510" y="1676400"/>
            <a:ext cx="8351134" cy="2133600"/>
          </a:xfrm>
        </p:spPr>
        <p:txBody>
          <a:bodyPr>
            <a:normAutofit/>
          </a:bodyPr>
          <a:lstStyle/>
          <a:p>
            <a:pPr marL="0" indent="0">
              <a:buNone/>
            </a:pPr>
            <a:r>
              <a:rPr lang="en-US" sz="1600" b="1" u="sng" dirty="0" smtClean="0">
                <a:solidFill>
                  <a:schemeClr val="tx1">
                    <a:lumMod val="75000"/>
                    <a:lumOff val="25000"/>
                  </a:schemeClr>
                </a:solidFill>
                <a:cs typeface="Arial" pitchFamily="34" charset="0"/>
              </a:rPr>
              <a:t>Overarching Goal:</a:t>
            </a:r>
            <a:r>
              <a:rPr lang="en-US" sz="1600" b="1" dirty="0" smtClean="0">
                <a:solidFill>
                  <a:schemeClr val="tx1">
                    <a:lumMod val="75000"/>
                    <a:lumOff val="25000"/>
                  </a:schemeClr>
                </a:solidFill>
                <a:cs typeface="Arial" pitchFamily="34" charset="0"/>
              </a:rPr>
              <a:t> </a:t>
            </a:r>
            <a:r>
              <a:rPr lang="en-US" sz="1600" dirty="0" smtClean="0">
                <a:solidFill>
                  <a:schemeClr val="tx1">
                    <a:lumMod val="75000"/>
                    <a:lumOff val="25000"/>
                  </a:schemeClr>
                </a:solidFill>
                <a:latin typeface="+mj-lt"/>
                <a:cs typeface="Arial" pitchFamily="34" charset="0"/>
              </a:rPr>
              <a:t>To count everyone once, only once, and in the right place</a:t>
            </a:r>
          </a:p>
          <a:p>
            <a:pPr marL="0" indent="0">
              <a:buNone/>
            </a:pPr>
            <a:endParaRPr lang="en-US" sz="1600" dirty="0" smtClean="0">
              <a:solidFill>
                <a:schemeClr val="tx1">
                  <a:lumMod val="75000"/>
                  <a:lumOff val="25000"/>
                </a:schemeClr>
              </a:solidFill>
              <a:latin typeface="+mj-lt"/>
              <a:cs typeface="Arial" pitchFamily="34" charset="0"/>
            </a:endParaRPr>
          </a:p>
          <a:p>
            <a:pPr marL="0" indent="0">
              <a:buNone/>
            </a:pPr>
            <a:r>
              <a:rPr lang="en-US" sz="1600" b="1" u="sng" dirty="0" smtClean="0">
                <a:solidFill>
                  <a:schemeClr val="tx1">
                    <a:lumMod val="75000"/>
                    <a:lumOff val="25000"/>
                  </a:schemeClr>
                </a:solidFill>
                <a:cs typeface="Arial" panose="020B0604020202020204" pitchFamily="34" charset="0"/>
              </a:rPr>
              <a:t>Challenge Goal:</a:t>
            </a:r>
            <a:r>
              <a:rPr lang="en-US" sz="1600" b="1" dirty="0" smtClean="0">
                <a:solidFill>
                  <a:schemeClr val="tx1">
                    <a:lumMod val="75000"/>
                    <a:lumOff val="25000"/>
                  </a:schemeClr>
                </a:solidFill>
                <a:cs typeface="Arial" panose="020B0604020202020204" pitchFamily="34" charset="0"/>
              </a:rPr>
              <a:t> </a:t>
            </a:r>
            <a:r>
              <a:rPr lang="en-US" sz="1600" dirty="0" smtClean="0">
                <a:solidFill>
                  <a:schemeClr val="tx1">
                    <a:lumMod val="75000"/>
                    <a:lumOff val="25000"/>
                  </a:schemeClr>
                </a:solidFill>
              </a:rPr>
              <a:t>Conduct </a:t>
            </a:r>
            <a:r>
              <a:rPr lang="en-US" sz="1600" dirty="0">
                <a:solidFill>
                  <a:schemeClr val="tx1">
                    <a:lumMod val="75000"/>
                    <a:lumOff val="25000"/>
                  </a:schemeClr>
                </a:solidFill>
              </a:rPr>
              <a:t>a 2020 Census at a lower cost per </a:t>
            </a:r>
            <a:r>
              <a:rPr lang="en-US" sz="1600" dirty="0" smtClean="0">
                <a:solidFill>
                  <a:schemeClr val="tx1">
                    <a:lumMod val="75000"/>
                    <a:lumOff val="25000"/>
                  </a:schemeClr>
                </a:solidFill>
              </a:rPr>
              <a:t>housing unit </a:t>
            </a:r>
            <a:r>
              <a:rPr lang="en-US" sz="1600" dirty="0">
                <a:solidFill>
                  <a:schemeClr val="tx1">
                    <a:lumMod val="75000"/>
                    <a:lumOff val="25000"/>
                  </a:schemeClr>
                </a:solidFill>
              </a:rPr>
              <a:t>(adjusted for inflation) than the 2010 Census, while maintaining high quality </a:t>
            </a:r>
            <a:r>
              <a:rPr lang="en-US" sz="1600" dirty="0" smtClean="0">
                <a:solidFill>
                  <a:schemeClr val="tx1">
                    <a:lumMod val="75000"/>
                    <a:lumOff val="25000"/>
                  </a:schemeClr>
                </a:solidFill>
              </a:rPr>
              <a:t>results</a:t>
            </a:r>
            <a:endParaRPr lang="en-US" sz="1600" b="1" dirty="0" smtClean="0">
              <a:solidFill>
                <a:schemeClr val="tx1">
                  <a:lumMod val="75000"/>
                  <a:lumOff val="25000"/>
                </a:schemeClr>
              </a:solidFill>
              <a:latin typeface="Arial" pitchFamily="34" charset="0"/>
              <a:cs typeface="Arial" pitchFamily="34" charset="0"/>
            </a:endParaRPr>
          </a:p>
          <a:p>
            <a:pPr marL="0" indent="0" algn="ctr">
              <a:buNone/>
            </a:pPr>
            <a:endParaRPr lang="en-US" sz="1600" b="1" dirty="0" smtClean="0">
              <a:latin typeface="Arial" pitchFamily="34" charset="0"/>
              <a:cs typeface="Arial" pitchFamily="34" charset="0"/>
            </a:endParaRPr>
          </a:p>
          <a:p>
            <a:pPr marL="0" indent="0" algn="ctr">
              <a:buNone/>
            </a:pPr>
            <a:endParaRPr lang="en-US" sz="1600" b="1" dirty="0">
              <a:latin typeface="Arial" pitchFamily="34" charset="0"/>
              <a:cs typeface="Arial" pitchFamily="34" charset="0"/>
            </a:endParaRPr>
          </a:p>
          <a:p>
            <a:pPr marL="0" indent="0" algn="ctr">
              <a:buNone/>
            </a:pPr>
            <a:r>
              <a:rPr lang="en-US" sz="1600" b="1" dirty="0" smtClean="0">
                <a:solidFill>
                  <a:schemeClr val="tx1">
                    <a:lumMod val="75000"/>
                    <a:lumOff val="25000"/>
                  </a:schemeClr>
                </a:solidFill>
                <a:latin typeface="Arial" pitchFamily="34" charset="0"/>
                <a:cs typeface="Arial" pitchFamily="34" charset="0"/>
              </a:rPr>
              <a:t>Focus on Four Key Innovation Areas</a:t>
            </a:r>
          </a:p>
        </p:txBody>
      </p:sp>
      <p:sp>
        <p:nvSpPr>
          <p:cNvPr id="12" name="Content Placeholder 2"/>
          <p:cNvSpPr txBox="1">
            <a:spLocks/>
          </p:cNvSpPr>
          <p:nvPr/>
        </p:nvSpPr>
        <p:spPr>
          <a:xfrm>
            <a:off x="520860" y="1264537"/>
            <a:ext cx="8611565" cy="29370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sz="1800" b="1" dirty="0"/>
          </a:p>
        </p:txBody>
      </p:sp>
      <p:sp>
        <p:nvSpPr>
          <p:cNvPr id="13"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6</a:t>
            </a:fld>
            <a:endParaRPr lang="en-US" dirty="0"/>
          </a:p>
        </p:txBody>
      </p:sp>
      <p:sp>
        <p:nvSpPr>
          <p:cNvPr id="14" name="Title 1"/>
          <p:cNvSpPr>
            <a:spLocks noGrp="1"/>
          </p:cNvSpPr>
          <p:nvPr>
            <p:ph type="title"/>
          </p:nvPr>
        </p:nvSpPr>
        <p:spPr>
          <a:xfrm>
            <a:off x="381000" y="685800"/>
            <a:ext cx="8229600" cy="762000"/>
          </a:xfrm>
        </p:spPr>
        <p:txBody>
          <a:bodyPr>
            <a:normAutofit fontScale="90000"/>
          </a:bodyPr>
          <a:lstStyle/>
          <a:p>
            <a:pPr algn="l"/>
            <a:r>
              <a:rPr lang="en-US" sz="3100" b="0" dirty="0" smtClean="0">
                <a:solidFill>
                  <a:schemeClr val="tx1">
                    <a:lumMod val="75000"/>
                    <a:lumOff val="25000"/>
                  </a:schemeClr>
                </a:solidFill>
                <a:latin typeface="+mj-lt"/>
              </a:rPr>
              <a:t>The 2020 Census</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2700" b="0" dirty="0" smtClean="0">
                <a:solidFill>
                  <a:schemeClr val="accent1"/>
                </a:solidFill>
                <a:latin typeface="+mj-lt"/>
              </a:rPr>
              <a:t>Goals and Key Innovation Areas</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
        <p:nvSpPr>
          <p:cNvPr id="11" name="Rectangle 10"/>
          <p:cNvSpPr/>
          <p:nvPr/>
        </p:nvSpPr>
        <p:spPr>
          <a:xfrm>
            <a:off x="596089" y="3810000"/>
            <a:ext cx="1851949" cy="124914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Reengineering Address Canvassing</a:t>
            </a:r>
            <a:endParaRPr lang="en-US" sz="1600" dirty="0"/>
          </a:p>
        </p:txBody>
      </p:sp>
      <p:sp>
        <p:nvSpPr>
          <p:cNvPr id="15" name="Rectangle 14"/>
          <p:cNvSpPr/>
          <p:nvPr/>
        </p:nvSpPr>
        <p:spPr>
          <a:xfrm>
            <a:off x="2596583" y="3810000"/>
            <a:ext cx="1851949" cy="124914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Optimizing </a:t>
            </a:r>
            <a:br>
              <a:rPr lang="en-US" sz="1600" dirty="0" smtClean="0"/>
            </a:br>
            <a:r>
              <a:rPr lang="en-US" sz="1600" dirty="0" smtClean="0"/>
              <a:t>Self-Response</a:t>
            </a:r>
            <a:endParaRPr lang="en-US" sz="1600" dirty="0"/>
          </a:p>
        </p:txBody>
      </p:sp>
      <p:sp>
        <p:nvSpPr>
          <p:cNvPr id="16" name="Rectangle 15"/>
          <p:cNvSpPr/>
          <p:nvPr/>
        </p:nvSpPr>
        <p:spPr>
          <a:xfrm>
            <a:off x="4597077" y="3810000"/>
            <a:ext cx="1851949" cy="124914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Utilizing Administrative Records and Third-Party Data</a:t>
            </a:r>
          </a:p>
        </p:txBody>
      </p:sp>
      <p:sp>
        <p:nvSpPr>
          <p:cNvPr id="17" name="Rectangle 16"/>
          <p:cNvSpPr/>
          <p:nvPr/>
        </p:nvSpPr>
        <p:spPr>
          <a:xfrm>
            <a:off x="6597572" y="3810000"/>
            <a:ext cx="1851949" cy="124914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Reengineering Field Operations</a:t>
            </a:r>
            <a:endParaRPr lang="en-US" sz="1600" dirty="0"/>
          </a:p>
        </p:txBody>
      </p:sp>
    </p:spTree>
    <p:extLst>
      <p:ext uri="{BB962C8B-B14F-4D97-AF65-F5344CB8AC3E}">
        <p14:creationId xmlns:p14="http://schemas.microsoft.com/office/powerpoint/2010/main" val="20766171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661" y="1600200"/>
            <a:ext cx="8178139" cy="969928"/>
          </a:xfrm>
        </p:spPr>
        <p:txBody>
          <a:bodyPr>
            <a:noAutofit/>
          </a:bodyPr>
          <a:lstStyle/>
          <a:p>
            <a:pPr marL="0" indent="0">
              <a:buNone/>
            </a:pPr>
            <a:r>
              <a:rPr lang="en-US" sz="1600" dirty="0" smtClean="0"/>
              <a:t>Reduce the nationwide In-Field Address Canvassing by developing innovative methodologies for updating and maintaining the Census Bureau’s address list and spatial database throughout the decade.</a:t>
            </a:r>
            <a:endParaRPr lang="en-US" sz="1600" dirty="0"/>
          </a:p>
        </p:txBody>
      </p:sp>
      <p:sp>
        <p:nvSpPr>
          <p:cNvPr id="22"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7</a:t>
            </a:fld>
            <a:endParaRPr lang="en-US" dirty="0"/>
          </a:p>
        </p:txBody>
      </p:sp>
      <p:grpSp>
        <p:nvGrpSpPr>
          <p:cNvPr id="23" name="Group 22"/>
          <p:cNvGrpSpPr/>
          <p:nvPr/>
        </p:nvGrpSpPr>
        <p:grpSpPr>
          <a:xfrm>
            <a:off x="379016" y="2494244"/>
            <a:ext cx="8231584" cy="3906556"/>
            <a:chOff x="-7028" y="2201789"/>
            <a:chExt cx="8933527" cy="4676649"/>
          </a:xfrm>
        </p:grpSpPr>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361" y="2201789"/>
              <a:ext cx="3087094" cy="2542012"/>
            </a:xfrm>
            <a:prstGeom prst="rect">
              <a:avLst/>
            </a:prstGeom>
          </p:spPr>
        </p:pic>
        <p:pic>
          <p:nvPicPr>
            <p:cNvPr id="28" name="Picture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042" y="2677461"/>
              <a:ext cx="1995463" cy="1995463"/>
            </a:xfrm>
            <a:prstGeom prst="rect">
              <a:avLst/>
            </a:prstGeom>
          </p:spPr>
        </p:pic>
        <p:pic>
          <p:nvPicPr>
            <p:cNvPr id="29" name="Picture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7912" y="3234079"/>
              <a:ext cx="2088377" cy="2323165"/>
            </a:xfrm>
            <a:prstGeom prst="rect">
              <a:avLst/>
            </a:prstGeom>
          </p:spPr>
        </p:pic>
        <p:sp>
          <p:nvSpPr>
            <p:cNvPr id="30" name="TextBox 29"/>
            <p:cNvSpPr txBox="1"/>
            <p:nvPr/>
          </p:nvSpPr>
          <p:spPr>
            <a:xfrm>
              <a:off x="5983188" y="2445679"/>
              <a:ext cx="2703611" cy="526642"/>
            </a:xfrm>
            <a:prstGeom prst="rect">
              <a:avLst/>
            </a:prstGeom>
            <a:noFill/>
          </p:spPr>
          <p:txBody>
            <a:bodyPr wrap="square" rtlCol="0">
              <a:spAutoFit/>
            </a:bodyPr>
            <a:lstStyle/>
            <a:p>
              <a:pPr algn="ctr"/>
              <a:r>
                <a:rPr lang="en-US" sz="1400" b="1" dirty="0" smtClean="0">
                  <a:solidFill>
                    <a:srgbClr val="005B94"/>
                  </a:solidFill>
                  <a:ea typeface="Verdana" pitchFamily="34" charset="0"/>
                  <a:cs typeface="Verdana" pitchFamily="34" charset="0"/>
                </a:rPr>
                <a:t>In-Office Address Canvassing</a:t>
              </a:r>
            </a:p>
            <a:p>
              <a:pPr algn="ctr"/>
              <a:endParaRPr lang="en-US" sz="1100" dirty="0">
                <a:ea typeface="Verdana" pitchFamily="34" charset="0"/>
                <a:cs typeface="Verdana" pitchFamily="34" charset="0"/>
              </a:endParaRPr>
            </a:p>
          </p:txBody>
        </p:sp>
        <p:sp>
          <p:nvSpPr>
            <p:cNvPr id="31" name="TextBox 30"/>
            <p:cNvSpPr txBox="1"/>
            <p:nvPr/>
          </p:nvSpPr>
          <p:spPr>
            <a:xfrm>
              <a:off x="-7028" y="4843729"/>
              <a:ext cx="2950738" cy="713515"/>
            </a:xfrm>
            <a:prstGeom prst="rect">
              <a:avLst/>
            </a:prstGeom>
            <a:noFill/>
          </p:spPr>
          <p:txBody>
            <a:bodyPr wrap="square" rtlCol="0">
              <a:spAutoFit/>
            </a:bodyPr>
            <a:lstStyle/>
            <a:p>
              <a:pPr algn="ctr"/>
              <a:r>
                <a:rPr lang="en-US" sz="1400" b="1" dirty="0" smtClean="0">
                  <a:solidFill>
                    <a:srgbClr val="005B94"/>
                  </a:solidFill>
                  <a:ea typeface="Verdana" pitchFamily="34" charset="0"/>
                  <a:cs typeface="Verdana" pitchFamily="34" charset="0"/>
                </a:rPr>
                <a:t>Continual Research and Updating</a:t>
              </a:r>
            </a:p>
            <a:p>
              <a:pPr algn="ctr"/>
              <a:r>
                <a:rPr lang="en-US" sz="1100" dirty="0" smtClean="0">
                  <a:ea typeface="Verdana" pitchFamily="34" charset="0"/>
                  <a:cs typeface="Verdana" pitchFamily="34" charset="0"/>
                </a:rPr>
                <a:t>Ongoing Process for</a:t>
              </a:r>
              <a:br>
                <a:rPr lang="en-US" sz="1100" dirty="0" smtClean="0">
                  <a:ea typeface="Verdana" pitchFamily="34" charset="0"/>
                  <a:cs typeface="Verdana" pitchFamily="34" charset="0"/>
                </a:rPr>
              </a:br>
              <a:r>
                <a:rPr lang="en-US" sz="1100" dirty="0" smtClean="0">
                  <a:ea typeface="Verdana" pitchFamily="34" charset="0"/>
                  <a:cs typeface="Verdana" pitchFamily="34" charset="0"/>
                </a:rPr>
                <a:t>In-Office Canvassing</a:t>
              </a:r>
              <a:endParaRPr lang="en-US" sz="1100" dirty="0">
                <a:ea typeface="Verdana" pitchFamily="34" charset="0"/>
                <a:cs typeface="Verdana" pitchFamily="34" charset="0"/>
              </a:endParaRPr>
            </a:p>
          </p:txBody>
        </p:sp>
        <p:sp>
          <p:nvSpPr>
            <p:cNvPr id="32" name="TextBox 31"/>
            <p:cNvSpPr txBox="1"/>
            <p:nvPr/>
          </p:nvSpPr>
          <p:spPr>
            <a:xfrm>
              <a:off x="6300456" y="5655911"/>
              <a:ext cx="2626043" cy="526642"/>
            </a:xfrm>
            <a:prstGeom prst="rect">
              <a:avLst/>
            </a:prstGeom>
            <a:noFill/>
          </p:spPr>
          <p:txBody>
            <a:bodyPr wrap="square" rtlCol="0">
              <a:spAutoFit/>
            </a:bodyPr>
            <a:lstStyle/>
            <a:p>
              <a:pPr algn="ctr"/>
              <a:r>
                <a:rPr lang="en-US" sz="1400" b="1" dirty="0" smtClean="0">
                  <a:solidFill>
                    <a:srgbClr val="005B94"/>
                  </a:solidFill>
                  <a:ea typeface="Verdana" pitchFamily="34" charset="0"/>
                  <a:cs typeface="Verdana" pitchFamily="34" charset="0"/>
                </a:rPr>
                <a:t>In-Field Address Canvassing</a:t>
              </a:r>
            </a:p>
            <a:p>
              <a:pPr algn="ctr"/>
              <a:endParaRPr lang="en-US" sz="1100" dirty="0">
                <a:ea typeface="Verdana" pitchFamily="34" charset="0"/>
                <a:cs typeface="Verdana" pitchFamily="34" charset="0"/>
              </a:endParaRPr>
            </a:p>
          </p:txBody>
        </p:sp>
        <p:sp>
          <p:nvSpPr>
            <p:cNvPr id="33" name="TextBox 32"/>
            <p:cNvSpPr txBox="1"/>
            <p:nvPr/>
          </p:nvSpPr>
          <p:spPr>
            <a:xfrm>
              <a:off x="3730521" y="6436738"/>
              <a:ext cx="1260180" cy="441700"/>
            </a:xfrm>
            <a:prstGeom prst="rect">
              <a:avLst/>
            </a:prstGeom>
            <a:noFill/>
          </p:spPr>
          <p:txBody>
            <a:bodyPr wrap="square" rtlCol="0">
              <a:spAutoFit/>
            </a:bodyPr>
            <a:lstStyle/>
            <a:p>
              <a:pPr algn="ctr">
                <a:spcAft>
                  <a:spcPts val="600"/>
                </a:spcAft>
              </a:pPr>
              <a:r>
                <a:rPr lang="en-US" sz="1000" b="1" dirty="0" smtClean="0">
                  <a:solidFill>
                    <a:srgbClr val="005B94"/>
                  </a:solidFill>
                  <a:ea typeface="Verdana" pitchFamily="34" charset="0"/>
                  <a:cs typeface="Verdana" pitchFamily="34" charset="0"/>
                </a:rPr>
                <a:t>Address List and Spatial Database</a:t>
              </a:r>
              <a:endParaRPr lang="en-US" sz="1000" b="1" dirty="0">
                <a:solidFill>
                  <a:srgbClr val="005B94"/>
                </a:solidFill>
                <a:ea typeface="Verdana" pitchFamily="34" charset="0"/>
                <a:cs typeface="Verdana" pitchFamily="34" charset="0"/>
              </a:endParaRPr>
            </a:p>
          </p:txBody>
        </p:sp>
        <p:pic>
          <p:nvPicPr>
            <p:cNvPr id="34" name="Picture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18233" y="5472558"/>
              <a:ext cx="684757" cy="920588"/>
            </a:xfrm>
            <a:prstGeom prst="rect">
              <a:avLst/>
            </a:prstGeom>
          </p:spPr>
        </p:pic>
        <p:sp>
          <p:nvSpPr>
            <p:cNvPr id="35" name="Right Arrow 34"/>
            <p:cNvSpPr/>
            <p:nvPr/>
          </p:nvSpPr>
          <p:spPr>
            <a:xfrm rot="19618583">
              <a:off x="2589176" y="3533239"/>
              <a:ext cx="709068" cy="283908"/>
            </a:xfrm>
            <a:prstGeom prst="rightArrow">
              <a:avLst/>
            </a:prstGeom>
            <a:solidFill>
              <a:srgbClr val="005B94"/>
            </a:solidFill>
            <a:ln w="19050">
              <a:solidFill>
                <a:srgbClr val="C5E9F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36" name="Right Arrow 35"/>
            <p:cNvSpPr/>
            <p:nvPr/>
          </p:nvSpPr>
          <p:spPr>
            <a:xfrm rot="5400000">
              <a:off x="4083426" y="4966227"/>
              <a:ext cx="554371" cy="283908"/>
            </a:xfrm>
            <a:prstGeom prst="rightArrow">
              <a:avLst/>
            </a:prstGeom>
            <a:solidFill>
              <a:srgbClr val="005B94"/>
            </a:solidFill>
            <a:ln w="19050">
              <a:solidFill>
                <a:srgbClr val="C5E9F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37" name="Left-Right Arrow 36"/>
            <p:cNvSpPr/>
            <p:nvPr/>
          </p:nvSpPr>
          <p:spPr>
            <a:xfrm rot="20054834">
              <a:off x="4918082" y="5125059"/>
              <a:ext cx="1422617" cy="301841"/>
            </a:xfrm>
            <a:prstGeom prst="leftRightArrow">
              <a:avLst/>
            </a:prstGeom>
            <a:solidFill>
              <a:srgbClr val="005B94"/>
            </a:solidFill>
            <a:ln w="19050">
              <a:solidFill>
                <a:srgbClr val="C5E9F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8" name="TextBox 37"/>
            <p:cNvSpPr txBox="1"/>
            <p:nvPr/>
          </p:nvSpPr>
          <p:spPr>
            <a:xfrm>
              <a:off x="2360758" y="3987430"/>
              <a:ext cx="1068223" cy="430887"/>
            </a:xfrm>
            <a:prstGeom prst="rect">
              <a:avLst/>
            </a:prstGeom>
            <a:noFill/>
          </p:spPr>
          <p:txBody>
            <a:bodyPr wrap="square" rtlCol="0">
              <a:spAutoFit/>
            </a:bodyPr>
            <a:lstStyle/>
            <a:p>
              <a:pPr algn="ctr"/>
              <a:r>
                <a:rPr lang="en-US" sz="1100" b="1" i="1" dirty="0" smtClean="0">
                  <a:ea typeface="Verdana" pitchFamily="34" charset="0"/>
                  <a:cs typeface="Verdana" pitchFamily="34" charset="0"/>
                </a:rPr>
                <a:t>Where Should We Start?</a:t>
              </a:r>
              <a:endParaRPr lang="en-US" sz="1100" b="1" i="1" dirty="0">
                <a:ea typeface="Verdana" pitchFamily="34" charset="0"/>
                <a:cs typeface="Verdana" pitchFamily="34" charset="0"/>
              </a:endParaRPr>
            </a:p>
          </p:txBody>
        </p:sp>
        <p:pic>
          <p:nvPicPr>
            <p:cNvPr id="39" name="Picture 3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66101" y="2638753"/>
              <a:ext cx="883416" cy="824521"/>
            </a:xfrm>
            <a:prstGeom prst="rect">
              <a:avLst/>
            </a:prstGeom>
            <a:ln w="19050">
              <a:solidFill>
                <a:schemeClr val="accent6">
                  <a:lumMod val="75000"/>
                </a:schemeClr>
              </a:solidFill>
            </a:ln>
            <a:effectLst>
              <a:outerShdw blurRad="50800" dist="38100" dir="5400000" algn="t" rotWithShape="0">
                <a:prstClr val="black">
                  <a:alpha val="40000"/>
                </a:prstClr>
              </a:outerShdw>
            </a:effectLst>
          </p:spPr>
        </p:pic>
      </p:grpSp>
      <p:sp>
        <p:nvSpPr>
          <p:cNvPr id="21" name="Title 1"/>
          <p:cNvSpPr>
            <a:spLocks noGrp="1"/>
          </p:cNvSpPr>
          <p:nvPr>
            <p:ph type="title"/>
          </p:nvPr>
        </p:nvSpPr>
        <p:spPr>
          <a:xfrm>
            <a:off x="381000" y="685800"/>
            <a:ext cx="8229600" cy="762000"/>
          </a:xfrm>
        </p:spPr>
        <p:txBody>
          <a:bodyPr>
            <a:normAutofit fontScale="90000"/>
          </a:bodyPr>
          <a:lstStyle/>
          <a:p>
            <a:pPr algn="l"/>
            <a:r>
              <a:rPr lang="en-US" sz="3100" b="0" dirty="0" smtClean="0">
                <a:solidFill>
                  <a:schemeClr val="tx1">
                    <a:lumMod val="75000"/>
                    <a:lumOff val="25000"/>
                  </a:schemeClr>
                </a:solidFill>
                <a:latin typeface="+mj-lt"/>
              </a:rPr>
              <a:t>The 2020 Census: Establish Where to Count</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2700" b="0" dirty="0" smtClean="0">
                <a:solidFill>
                  <a:schemeClr val="accent1"/>
                </a:solidFill>
                <a:latin typeface="+mj-lt"/>
              </a:rPr>
              <a:t>Reengineering Address Canvassing</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Tree>
    <p:extLst>
      <p:ext uri="{BB962C8B-B14F-4D97-AF65-F5344CB8AC3E}">
        <p14:creationId xmlns:p14="http://schemas.microsoft.com/office/powerpoint/2010/main" val="15708121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H:\Operational Plan\Narrative Activities\AD Com Graphics 9 28\Slide 11 updated 9 30 15 for Ad Com.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6" y="1934114"/>
            <a:ext cx="8609524" cy="43142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81000" y="1438828"/>
            <a:ext cx="8534399" cy="369096"/>
          </a:xfrm>
        </p:spPr>
        <p:txBody>
          <a:bodyPr>
            <a:noAutofit/>
          </a:bodyPr>
          <a:lstStyle/>
          <a:p>
            <a:pPr marL="0" indent="0">
              <a:buNone/>
            </a:pPr>
            <a:r>
              <a:rPr lang="en-US" sz="1600" dirty="0" smtClean="0"/>
              <a:t>Generate the largest possible self-response, reducing the number of households requiring follow-up.</a:t>
            </a:r>
            <a:endParaRPr lang="en-US" sz="1600" dirty="0"/>
          </a:p>
        </p:txBody>
      </p:sp>
      <p:sp>
        <p:nvSpPr>
          <p:cNvPr id="5" name="Content Placeholder 2"/>
          <p:cNvSpPr txBox="1">
            <a:spLocks/>
          </p:cNvSpPr>
          <p:nvPr/>
        </p:nvSpPr>
        <p:spPr>
          <a:xfrm>
            <a:off x="457200" y="1600200"/>
            <a:ext cx="8229600" cy="10552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endParaRPr lang="en-US" sz="2000" b="1" dirty="0"/>
          </a:p>
        </p:txBody>
      </p:sp>
      <p:sp>
        <p:nvSpPr>
          <p:cNvPr id="8"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8</a:t>
            </a:fld>
            <a:endParaRPr lang="en-US" dirty="0"/>
          </a:p>
        </p:txBody>
      </p:sp>
      <p:sp>
        <p:nvSpPr>
          <p:cNvPr id="9" name="Title 1"/>
          <p:cNvSpPr txBox="1">
            <a:spLocks/>
          </p:cNvSpPr>
          <p:nvPr/>
        </p:nvSpPr>
        <p:spPr>
          <a:xfrm>
            <a:off x="381000" y="533400"/>
            <a:ext cx="8229600" cy="990600"/>
          </a:xfrm>
          <a:prstGeom prst="rect">
            <a:avLst/>
          </a:prstGeom>
        </p:spPr>
        <p:txBody>
          <a:bodyPr>
            <a:normAutofit fontScale="60000" lnSpcReduction="20000"/>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4700" b="0" dirty="0" smtClean="0">
                <a:solidFill>
                  <a:schemeClr val="tx1">
                    <a:lumMod val="75000"/>
                    <a:lumOff val="25000"/>
                  </a:schemeClr>
                </a:solidFill>
                <a:latin typeface="+mj-lt"/>
              </a:rPr>
              <a:t>The 2020 Census: Motivate People to Respond</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4000" b="0" dirty="0" smtClean="0">
                <a:solidFill>
                  <a:schemeClr val="accent1"/>
                </a:solidFill>
                <a:latin typeface="+mj-lt"/>
              </a:rPr>
              <a:t>Optimizing Self-Response</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Tree>
    <p:extLst>
      <p:ext uri="{BB962C8B-B14F-4D97-AF65-F5344CB8AC3E}">
        <p14:creationId xmlns:p14="http://schemas.microsoft.com/office/powerpoint/2010/main" val="2844160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498273" cy="757989"/>
          </a:xfrm>
        </p:spPr>
        <p:txBody>
          <a:bodyPr>
            <a:normAutofit/>
          </a:bodyPr>
          <a:lstStyle/>
          <a:p>
            <a:pPr marL="0" indent="0">
              <a:buNone/>
            </a:pPr>
            <a:r>
              <a:rPr lang="en-US" sz="1600" dirty="0" smtClean="0">
                <a:solidFill>
                  <a:schemeClr val="tx1">
                    <a:lumMod val="75000"/>
                    <a:lumOff val="25000"/>
                  </a:schemeClr>
                </a:solidFill>
              </a:rPr>
              <a:t>Use technology to more efficiently and effectively manage the 2020 Census fieldwork.</a:t>
            </a:r>
            <a:endParaRPr lang="en-US" sz="1600" dirty="0">
              <a:solidFill>
                <a:schemeClr val="tx1">
                  <a:lumMod val="75000"/>
                  <a:lumOff val="25000"/>
                </a:schemeClr>
              </a:solidFill>
            </a:endParaRPr>
          </a:p>
        </p:txBody>
      </p:sp>
      <p:sp>
        <p:nvSpPr>
          <p:cNvPr id="5" name="Content Placeholder 2"/>
          <p:cNvSpPr txBox="1">
            <a:spLocks/>
          </p:cNvSpPr>
          <p:nvPr/>
        </p:nvSpPr>
        <p:spPr>
          <a:xfrm>
            <a:off x="457200" y="1600200"/>
            <a:ext cx="8229600" cy="10552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endParaRPr lang="en-US" sz="2000" b="1" dirty="0"/>
          </a:p>
        </p:txBody>
      </p:sp>
      <p:sp>
        <p:nvSpPr>
          <p:cNvPr id="7" name="Slide Number Placeholder 6"/>
          <p:cNvSpPr>
            <a:spLocks noGrp="1"/>
          </p:cNvSpPr>
          <p:nvPr>
            <p:ph type="sldNum" sz="quarter" idx="12"/>
          </p:nvPr>
        </p:nvSpPr>
        <p:spPr/>
        <p:txBody>
          <a:bodyPr/>
          <a:lstStyle/>
          <a:p>
            <a:fld id="{7268A5C4-149D-4D66-BABE-E6DD2BE69C90}" type="slidenum">
              <a:rPr lang="en-US" smtClean="0"/>
              <a:t>9</a:t>
            </a:fld>
            <a:endParaRPr lang="en-US" dirty="0"/>
          </a:p>
        </p:txBody>
      </p:sp>
      <p:grpSp>
        <p:nvGrpSpPr>
          <p:cNvPr id="6" name="Group 5"/>
          <p:cNvGrpSpPr/>
          <p:nvPr/>
        </p:nvGrpSpPr>
        <p:grpSpPr>
          <a:xfrm>
            <a:off x="537811" y="1905000"/>
            <a:ext cx="8148990" cy="4297460"/>
            <a:chOff x="537811" y="1524956"/>
            <a:chExt cx="8501989" cy="4185101"/>
          </a:xfrm>
        </p:grpSpPr>
        <p:sp>
          <p:nvSpPr>
            <p:cNvPr id="8" name="Rectangle 7"/>
            <p:cNvSpPr/>
            <p:nvPr/>
          </p:nvSpPr>
          <p:spPr>
            <a:xfrm>
              <a:off x="6793475" y="2069494"/>
              <a:ext cx="2246325" cy="3640563"/>
            </a:xfrm>
            <a:prstGeom prst="rect">
              <a:avLst/>
            </a:prstGeom>
            <a:solidFill>
              <a:srgbClr val="DCDCDC">
                <a:alpha val="69804"/>
              </a:srgb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sp>
          <p:nvSpPr>
            <p:cNvPr id="9" name="Rectangle 8"/>
            <p:cNvSpPr/>
            <p:nvPr/>
          </p:nvSpPr>
          <p:spPr>
            <a:xfrm>
              <a:off x="537811" y="2069494"/>
              <a:ext cx="2752453" cy="3640563"/>
            </a:xfrm>
            <a:prstGeom prst="rect">
              <a:avLst/>
            </a:prstGeom>
            <a:solidFill>
              <a:srgbClr val="DCDCDC">
                <a:alpha val="69804"/>
              </a:srgb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3409077" y="2069494"/>
              <a:ext cx="3257649" cy="3640563"/>
            </a:xfrm>
            <a:prstGeom prst="rect">
              <a:avLst/>
            </a:prstGeom>
            <a:solidFill>
              <a:srgbClr val="DCDCDC">
                <a:alpha val="69804"/>
              </a:srgb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732156" y="1524956"/>
              <a:ext cx="2345080" cy="523220"/>
            </a:xfrm>
            <a:prstGeom prst="rect">
              <a:avLst/>
            </a:prstGeom>
            <a:noFill/>
          </p:spPr>
          <p:txBody>
            <a:bodyPr wrap="square" rtlCol="0">
              <a:spAutoFit/>
            </a:bodyPr>
            <a:lstStyle/>
            <a:p>
              <a:pPr algn="ctr"/>
              <a:r>
                <a:rPr lang="en-US" sz="1400" b="1" dirty="0" smtClean="0">
                  <a:solidFill>
                    <a:schemeClr val="tx1">
                      <a:lumMod val="75000"/>
                      <a:lumOff val="25000"/>
                    </a:schemeClr>
                  </a:solidFill>
                  <a:latin typeface="Arial" panose="020B0604020202020204" pitchFamily="34" charset="0"/>
                  <a:cs typeface="Arial" panose="020B0604020202020204" pitchFamily="34" charset="0"/>
                </a:rPr>
                <a:t>Streamlined Office and Staffing Structure</a:t>
              </a:r>
              <a:endParaRPr lang="en-US" sz="14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1"/>
            <p:cNvSpPr txBox="1"/>
            <p:nvPr/>
          </p:nvSpPr>
          <p:spPr>
            <a:xfrm>
              <a:off x="3549304" y="2121573"/>
              <a:ext cx="3058230" cy="1859028"/>
            </a:xfrm>
            <a:prstGeom prst="rect">
              <a:avLst/>
            </a:prstGeom>
            <a:noFill/>
          </p:spPr>
          <p:txBody>
            <a:bodyPr wrap="square" rtlCol="0">
              <a:spAutoFit/>
            </a:bodyPr>
            <a:lstStyle/>
            <a:p>
              <a:pPr marL="171450" indent="-171450">
                <a:buFont typeface="Arial" panose="020B0604020202020204" pitchFamily="34" charset="0"/>
                <a:buChar char="•"/>
              </a:pPr>
              <a:r>
                <a:rPr lang="en-US" sz="1400" dirty="0" smtClean="0">
                  <a:solidFill>
                    <a:schemeClr val="tx1">
                      <a:lumMod val="75000"/>
                      <a:lumOff val="25000"/>
                    </a:schemeClr>
                  </a:solidFill>
                  <a:cs typeface="Arial" panose="020B0604020202020204" pitchFamily="34" charset="0"/>
                </a:rPr>
                <a:t>Automated and optimized work assignments</a:t>
              </a:r>
            </a:p>
            <a:p>
              <a:pPr marL="171450" indent="-171450">
                <a:buFont typeface="Arial" panose="020B0604020202020204" pitchFamily="34" charset="0"/>
                <a:buChar char="•"/>
              </a:pPr>
              <a:r>
                <a:rPr lang="en-US" sz="1400" dirty="0" smtClean="0">
                  <a:solidFill>
                    <a:schemeClr val="tx1">
                      <a:lumMod val="75000"/>
                      <a:lumOff val="25000"/>
                    </a:schemeClr>
                  </a:solidFill>
                  <a:cs typeface="Arial" panose="020B0604020202020204" pitchFamily="34" charset="0"/>
                </a:rPr>
                <a:t>Automated recruiting, training, payroll and expense reporting</a:t>
              </a:r>
            </a:p>
            <a:p>
              <a:pPr marL="171450" indent="-171450">
                <a:buFont typeface="Arial" panose="020B0604020202020204" pitchFamily="34" charset="0"/>
                <a:buChar char="•"/>
              </a:pPr>
              <a:r>
                <a:rPr lang="en-US" sz="1400" dirty="0" smtClean="0">
                  <a:solidFill>
                    <a:schemeClr val="tx1">
                      <a:lumMod val="75000"/>
                      <a:lumOff val="25000"/>
                    </a:schemeClr>
                  </a:solidFill>
                  <a:cs typeface="Arial" panose="020B0604020202020204" pitchFamily="34" charset="0"/>
                </a:rPr>
                <a:t>Ability to conduct address updates and enumeration on same device</a:t>
              </a:r>
            </a:p>
            <a:p>
              <a:pPr marL="171450" indent="-171450">
                <a:buFont typeface="Arial" panose="020B0604020202020204" pitchFamily="34" charset="0"/>
                <a:buChar char="•"/>
              </a:pPr>
              <a:r>
                <a:rPr lang="en-US" sz="1400" dirty="0" smtClean="0">
                  <a:solidFill>
                    <a:schemeClr val="tx1">
                      <a:lumMod val="75000"/>
                      <a:lumOff val="25000"/>
                    </a:schemeClr>
                  </a:solidFill>
                  <a:cs typeface="Arial" panose="020B0604020202020204" pitchFamily="34" charset="0"/>
                </a:rPr>
                <a:t>Reduced paper and manual processing</a:t>
              </a:r>
            </a:p>
          </p:txBody>
        </p:sp>
        <p:sp>
          <p:nvSpPr>
            <p:cNvPr id="13" name="TextBox 12"/>
            <p:cNvSpPr txBox="1"/>
            <p:nvPr/>
          </p:nvSpPr>
          <p:spPr>
            <a:xfrm>
              <a:off x="1447725" y="2564978"/>
              <a:ext cx="1626722" cy="509540"/>
            </a:xfrm>
            <a:prstGeom prst="rect">
              <a:avLst/>
            </a:prstGeom>
            <a:noFill/>
          </p:spPr>
          <p:txBody>
            <a:bodyPr wrap="square" rtlCol="0">
              <a:spAutoFit/>
            </a:bodyPr>
            <a:lstStyle/>
            <a:p>
              <a:pPr algn="ctr"/>
              <a:r>
                <a:rPr lang="en-US" sz="1400" i="1" dirty="0" smtClean="0">
                  <a:solidFill>
                    <a:schemeClr val="tx1">
                      <a:lumMod val="75000"/>
                      <a:lumOff val="25000"/>
                    </a:schemeClr>
                  </a:solidFill>
                  <a:latin typeface="Arial" panose="020B0604020202020204" pitchFamily="34" charset="0"/>
                  <a:cs typeface="Arial" panose="020B0604020202020204" pitchFamily="34" charset="0"/>
                </a:rPr>
                <a:t>Area Manager of Operations</a:t>
              </a:r>
              <a:endParaRPr lang="en-US"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 name="TextBox 13"/>
            <p:cNvSpPr txBox="1"/>
            <p:nvPr/>
          </p:nvSpPr>
          <p:spPr>
            <a:xfrm>
              <a:off x="1530015" y="3380149"/>
              <a:ext cx="1626722" cy="509540"/>
            </a:xfrm>
            <a:prstGeom prst="rect">
              <a:avLst/>
            </a:prstGeom>
            <a:noFill/>
          </p:spPr>
          <p:txBody>
            <a:bodyPr wrap="square" rtlCol="0">
              <a:spAutoFit/>
            </a:bodyPr>
            <a:lstStyle/>
            <a:p>
              <a:pPr algn="ctr"/>
              <a:r>
                <a:rPr lang="en-US" sz="1400" i="1" dirty="0" smtClean="0">
                  <a:solidFill>
                    <a:schemeClr val="tx1">
                      <a:lumMod val="75000"/>
                      <a:lumOff val="25000"/>
                    </a:schemeClr>
                  </a:solidFill>
                  <a:latin typeface="Arial" panose="020B0604020202020204" pitchFamily="34" charset="0"/>
                  <a:cs typeface="Arial" panose="020B0604020202020204" pitchFamily="34" charset="0"/>
                </a:rPr>
                <a:t>Census Field Managers</a:t>
              </a:r>
              <a:endParaRPr lang="en-US"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5" name="TextBox 14"/>
            <p:cNvSpPr txBox="1"/>
            <p:nvPr/>
          </p:nvSpPr>
          <p:spPr>
            <a:xfrm>
              <a:off x="1725722" y="4122226"/>
              <a:ext cx="1626722" cy="509540"/>
            </a:xfrm>
            <a:prstGeom prst="rect">
              <a:avLst/>
            </a:prstGeom>
            <a:noFill/>
          </p:spPr>
          <p:txBody>
            <a:bodyPr wrap="square" rtlCol="0">
              <a:spAutoFit/>
            </a:bodyPr>
            <a:lstStyle/>
            <a:p>
              <a:pPr algn="ctr"/>
              <a:r>
                <a:rPr lang="en-US" sz="1400" i="1" dirty="0" smtClean="0">
                  <a:solidFill>
                    <a:schemeClr val="tx1">
                      <a:lumMod val="75000"/>
                      <a:lumOff val="25000"/>
                    </a:schemeClr>
                  </a:solidFill>
                  <a:latin typeface="Arial" panose="020B0604020202020204" pitchFamily="34" charset="0"/>
                  <a:cs typeface="Arial" panose="020B0604020202020204" pitchFamily="34" charset="0"/>
                </a:rPr>
                <a:t>Census Field Supervisors</a:t>
              </a:r>
              <a:endParaRPr lang="en-US"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6" name="TextBox 15"/>
            <p:cNvSpPr txBox="1"/>
            <p:nvPr/>
          </p:nvSpPr>
          <p:spPr>
            <a:xfrm>
              <a:off x="1957434" y="4790096"/>
              <a:ext cx="1339548" cy="509540"/>
            </a:xfrm>
            <a:prstGeom prst="rect">
              <a:avLst/>
            </a:prstGeom>
            <a:noFill/>
          </p:spPr>
          <p:txBody>
            <a:bodyPr wrap="square" rtlCol="0">
              <a:spAutoFit/>
            </a:bodyPr>
            <a:lstStyle/>
            <a:p>
              <a:pPr algn="ctr"/>
              <a:r>
                <a:rPr lang="en-US" sz="1400" i="1" dirty="0" smtClean="0">
                  <a:solidFill>
                    <a:schemeClr val="tx1">
                      <a:lumMod val="75000"/>
                      <a:lumOff val="25000"/>
                    </a:schemeClr>
                  </a:solidFill>
                  <a:latin typeface="Arial" panose="020B0604020202020204" pitchFamily="34" charset="0"/>
                  <a:cs typeface="Arial" panose="020B0604020202020204" pitchFamily="34" charset="0"/>
                </a:rPr>
                <a:t>Listers and Enumerators</a:t>
              </a:r>
              <a:endParaRPr lang="en-US" sz="1400" i="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p:cNvSpPr txBox="1"/>
            <p:nvPr/>
          </p:nvSpPr>
          <p:spPr>
            <a:xfrm>
              <a:off x="3594772" y="1546274"/>
              <a:ext cx="2886257" cy="523220"/>
            </a:xfrm>
            <a:prstGeom prst="rect">
              <a:avLst/>
            </a:prstGeom>
            <a:noFill/>
          </p:spPr>
          <p:txBody>
            <a:bodyPr wrap="square" rtlCol="0">
              <a:spAutoFit/>
            </a:bodyPr>
            <a:lstStyle/>
            <a:p>
              <a:pPr algn="ctr"/>
              <a:r>
                <a:rPr lang="en-US" sz="1400" b="1" dirty="0" smtClean="0">
                  <a:solidFill>
                    <a:schemeClr val="tx1">
                      <a:lumMod val="75000"/>
                      <a:lumOff val="25000"/>
                    </a:schemeClr>
                  </a:solidFill>
                  <a:latin typeface="Arial" panose="020B0604020202020204" pitchFamily="34" charset="0"/>
                  <a:cs typeface="Arial" panose="020B0604020202020204" pitchFamily="34" charset="0"/>
                </a:rPr>
                <a:t>Increased use of </a:t>
              </a:r>
            </a:p>
            <a:p>
              <a:pPr algn="ctr"/>
              <a:r>
                <a:rPr lang="en-US" sz="1400" b="1" dirty="0" smtClean="0">
                  <a:solidFill>
                    <a:schemeClr val="tx1">
                      <a:lumMod val="75000"/>
                      <a:lumOff val="25000"/>
                    </a:schemeClr>
                  </a:solidFill>
                  <a:latin typeface="Arial" panose="020B0604020202020204" pitchFamily="34" charset="0"/>
                  <a:cs typeface="Arial" panose="020B0604020202020204" pitchFamily="34" charset="0"/>
                </a:rPr>
                <a:t>Technology </a:t>
              </a:r>
              <a:endParaRPr lang="en-US" sz="14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8" name="Rectangle 17"/>
            <p:cNvSpPr/>
            <p:nvPr/>
          </p:nvSpPr>
          <p:spPr>
            <a:xfrm>
              <a:off x="6798245" y="2118618"/>
              <a:ext cx="2236781" cy="1558594"/>
            </a:xfrm>
            <a:prstGeom prst="rect">
              <a:avLst/>
            </a:prstGeom>
          </p:spPr>
          <p:txBody>
            <a:bodyPr wrap="square">
              <a:spAutoFit/>
            </a:bodyPr>
            <a:lstStyle/>
            <a:p>
              <a:pPr marL="171450" indent="-171450">
                <a:buFont typeface="Arial" panose="020B0604020202020204" pitchFamily="34" charset="0"/>
                <a:buChar char="•"/>
              </a:pPr>
              <a:r>
                <a:rPr lang="en-US" sz="1400" dirty="0" smtClean="0">
                  <a:cs typeface="Arial" panose="020B0604020202020204" pitchFamily="34" charset="0"/>
                </a:rPr>
                <a:t>Increased visibility into case status for improved workforce management</a:t>
              </a:r>
            </a:p>
            <a:p>
              <a:pPr marL="171450" indent="-171450">
                <a:buFont typeface="Arial" panose="020B0604020202020204" pitchFamily="34" charset="0"/>
                <a:buChar char="•"/>
              </a:pPr>
              <a:r>
                <a:rPr lang="en-US" sz="1400" dirty="0">
                  <a:cs typeface="Arial" panose="020B0604020202020204" pitchFamily="34" charset="0"/>
                </a:rPr>
                <a:t>R</a:t>
              </a:r>
              <a:r>
                <a:rPr lang="en-US" sz="1400" dirty="0" smtClean="0">
                  <a:cs typeface="Arial" panose="020B0604020202020204" pitchFamily="34" charset="0"/>
                </a:rPr>
                <a:t>edesigned </a:t>
              </a:r>
              <a:r>
                <a:rPr lang="en-US" sz="1400" dirty="0">
                  <a:cs typeface="Arial" panose="020B0604020202020204" pitchFamily="34" charset="0"/>
                </a:rPr>
                <a:t>quality assurance </a:t>
              </a:r>
              <a:r>
                <a:rPr lang="en-US" sz="1400" dirty="0" smtClean="0">
                  <a:cs typeface="Arial" panose="020B0604020202020204" pitchFamily="34" charset="0"/>
                </a:rPr>
                <a:t>operations</a:t>
              </a:r>
            </a:p>
            <a:p>
              <a:pPr marL="171450" indent="-171450">
                <a:buFont typeface="Arial" panose="020B0604020202020204" pitchFamily="34" charset="0"/>
                <a:buChar char="•"/>
              </a:pPr>
              <a:r>
                <a:rPr lang="en-US" sz="1400" dirty="0" smtClean="0">
                  <a:cs typeface="Arial" panose="020B0604020202020204" pitchFamily="34" charset="0"/>
                </a:rPr>
                <a:t>Improved communications</a:t>
              </a:r>
              <a:endParaRPr lang="en-US" sz="1400" dirty="0">
                <a:cs typeface="Arial" panose="020B0604020202020204" pitchFamily="34" charset="0"/>
              </a:endParaRPr>
            </a:p>
          </p:txBody>
        </p:sp>
        <p:sp>
          <p:nvSpPr>
            <p:cNvPr id="19" name="TextBox 18"/>
            <p:cNvSpPr txBox="1"/>
            <p:nvPr/>
          </p:nvSpPr>
          <p:spPr>
            <a:xfrm>
              <a:off x="6784764" y="1546274"/>
              <a:ext cx="2241010" cy="523220"/>
            </a:xfrm>
            <a:prstGeom prst="rect">
              <a:avLst/>
            </a:prstGeom>
            <a:noFill/>
          </p:spPr>
          <p:txBody>
            <a:bodyPr wrap="square" rtlCol="0">
              <a:spAutoFit/>
            </a:bodyPr>
            <a:lstStyle/>
            <a:p>
              <a:pPr algn="ctr"/>
              <a:r>
                <a:rPr lang="en-US" sz="1400" b="1" dirty="0" smtClean="0">
                  <a:solidFill>
                    <a:schemeClr val="tx1">
                      <a:lumMod val="75000"/>
                      <a:lumOff val="25000"/>
                    </a:schemeClr>
                  </a:solidFill>
                  <a:latin typeface="Arial" panose="020B0604020202020204" pitchFamily="34" charset="0"/>
                  <a:cs typeface="Arial" panose="020B0604020202020204" pitchFamily="34" charset="0"/>
                </a:rPr>
                <a:t>Increased Management and Staff Productivity</a:t>
              </a:r>
              <a:endParaRPr lang="en-US" sz="1400" b="1"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1387" y="4042209"/>
              <a:ext cx="380448" cy="577539"/>
            </a:xfrm>
            <a:prstGeom prst="rect">
              <a:avLst/>
            </a:prstGeom>
            <a:effectLst>
              <a:outerShdw blurRad="50800" dist="38100" dir="5400000" algn="t" rotWithShape="0">
                <a:prstClr val="black">
                  <a:alpha val="40000"/>
                </a:prstClr>
              </a:outerShdw>
            </a:effectLst>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6289" y="5082462"/>
              <a:ext cx="310645" cy="471574"/>
            </a:xfrm>
            <a:prstGeom prst="rect">
              <a:avLst/>
            </a:prstGeom>
            <a:effectLst>
              <a:outerShdw blurRad="50800" dist="38100" dir="5400000" algn="t" rotWithShape="0">
                <a:prstClr val="black">
                  <a:alpha val="40000"/>
                </a:prstClr>
              </a:outerShdw>
            </a:effectLst>
          </p:spPr>
        </p:pic>
        <p:sp>
          <p:nvSpPr>
            <p:cNvPr id="22" name="Arc 21"/>
            <p:cNvSpPr/>
            <p:nvPr/>
          </p:nvSpPr>
          <p:spPr>
            <a:xfrm rot="1949990">
              <a:off x="5378638" y="4435645"/>
              <a:ext cx="682836" cy="910447"/>
            </a:xfrm>
            <a:prstGeom prst="arc">
              <a:avLst>
                <a:gd name="adj1" fmla="val 16200000"/>
                <a:gd name="adj2" fmla="val 1202956"/>
              </a:avLst>
            </a:prstGeom>
            <a:ln w="38100">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Arc 22"/>
            <p:cNvSpPr/>
            <p:nvPr/>
          </p:nvSpPr>
          <p:spPr>
            <a:xfrm rot="19650010" flipH="1">
              <a:off x="5328216" y="4435645"/>
              <a:ext cx="682836" cy="910447"/>
            </a:xfrm>
            <a:prstGeom prst="arc">
              <a:avLst>
                <a:gd name="adj1" fmla="val 16200000"/>
                <a:gd name="adj2" fmla="val 1202956"/>
              </a:avLst>
            </a:prstGeom>
            <a:ln w="38100">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TextBox 23"/>
            <p:cNvSpPr txBox="1"/>
            <p:nvPr/>
          </p:nvSpPr>
          <p:spPr>
            <a:xfrm>
              <a:off x="4960013" y="3209370"/>
              <a:ext cx="1362409" cy="299636"/>
            </a:xfrm>
            <a:prstGeom prst="rect">
              <a:avLst/>
            </a:prstGeom>
            <a:noFill/>
          </p:spPr>
          <p:txBody>
            <a:bodyPr wrap="square" rtlCol="0">
              <a:spAutoFit/>
            </a:bodyPr>
            <a:lstStyle/>
            <a:p>
              <a:pPr algn="ctr"/>
              <a:endParaRPr lang="en-US" sz="1000" dirty="0">
                <a:solidFill>
                  <a:srgbClr val="0070C0"/>
                </a:solidFill>
                <a:latin typeface="Arial" panose="020B0604020202020204" pitchFamily="34" charset="0"/>
                <a:cs typeface="Arial" panose="020B0604020202020204" pitchFamily="34" charset="0"/>
              </a:endParaRPr>
            </a:p>
          </p:txBody>
        </p:sp>
        <p:grpSp>
          <p:nvGrpSpPr>
            <p:cNvPr id="26" name="Group 25"/>
            <p:cNvGrpSpPr/>
            <p:nvPr/>
          </p:nvGrpSpPr>
          <p:grpSpPr>
            <a:xfrm>
              <a:off x="4113671" y="4616472"/>
              <a:ext cx="722107" cy="476037"/>
              <a:chOff x="936641" y="3612535"/>
              <a:chExt cx="450675" cy="297100"/>
            </a:xfrm>
          </p:grpSpPr>
          <p:cxnSp>
            <p:nvCxnSpPr>
              <p:cNvPr id="62" name="Straight Connector 61"/>
              <p:cNvCxnSpPr/>
              <p:nvPr/>
            </p:nvCxnSpPr>
            <p:spPr>
              <a:xfrm flipV="1">
                <a:off x="936641" y="3612535"/>
                <a:ext cx="110519" cy="297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276797" y="3612535"/>
                <a:ext cx="110519" cy="297100"/>
              </a:xfrm>
              <a:prstGeom prst="line">
                <a:avLst/>
              </a:prstGeom>
              <a:ln w="38100"/>
            </p:spPr>
            <p:style>
              <a:lnRef idx="1">
                <a:schemeClr val="accent1"/>
              </a:lnRef>
              <a:fillRef idx="0">
                <a:schemeClr val="accent1"/>
              </a:fillRef>
              <a:effectRef idx="0">
                <a:schemeClr val="accent1"/>
              </a:effectRef>
              <a:fontRef idx="minor">
                <a:schemeClr val="tx1"/>
              </a:fontRef>
            </p:style>
          </p:cxnSp>
        </p:grpSp>
        <p:pic>
          <p:nvPicPr>
            <p:cNvPr id="27" name="Picture 26"/>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863849" y="5044707"/>
              <a:ext cx="560517" cy="641690"/>
            </a:xfrm>
            <a:prstGeom prst="rect">
              <a:avLst/>
            </a:prstGeom>
            <a:effectLst>
              <a:outerShdw blurRad="50800" dist="38100" dir="5400000" algn="t" rotWithShape="0">
                <a:prstClr val="black">
                  <a:alpha val="40000"/>
                </a:prstClr>
              </a:outerShdw>
            </a:effectLst>
          </p:spPr>
        </p:pic>
        <p:grpSp>
          <p:nvGrpSpPr>
            <p:cNvPr id="28" name="Group 27"/>
            <p:cNvGrpSpPr/>
            <p:nvPr/>
          </p:nvGrpSpPr>
          <p:grpSpPr>
            <a:xfrm>
              <a:off x="6897764" y="4917301"/>
              <a:ext cx="2044254" cy="614872"/>
              <a:chOff x="6912434" y="4613338"/>
              <a:chExt cx="1532403" cy="460917"/>
            </a:xfrm>
          </p:grpSpPr>
          <p:sp>
            <p:nvSpPr>
              <p:cNvPr id="59" name="Freeform 58"/>
              <p:cNvSpPr/>
              <p:nvPr/>
            </p:nvSpPr>
            <p:spPr>
              <a:xfrm>
                <a:off x="6912434" y="4613338"/>
                <a:ext cx="483220" cy="460917"/>
              </a:xfrm>
              <a:custGeom>
                <a:avLst/>
                <a:gdLst>
                  <a:gd name="connsiteX0" fmla="*/ 0 w 498088"/>
                  <a:gd name="connsiteY0" fmla="*/ 0 h 460917"/>
                  <a:gd name="connsiteX1" fmla="*/ 483220 w 498088"/>
                  <a:gd name="connsiteY1" fmla="*/ 81775 h 460917"/>
                  <a:gd name="connsiteX2" fmla="*/ 498088 w 498088"/>
                  <a:gd name="connsiteY2" fmla="*/ 394009 h 460917"/>
                  <a:gd name="connsiteX3" fmla="*/ 52039 w 498088"/>
                  <a:gd name="connsiteY3" fmla="*/ 460917 h 460917"/>
                  <a:gd name="connsiteX4" fmla="*/ 0 w 498088"/>
                  <a:gd name="connsiteY4" fmla="*/ 0 h 460917"/>
                  <a:gd name="connsiteX0" fmla="*/ 0 w 498088"/>
                  <a:gd name="connsiteY0" fmla="*/ 0 h 460917"/>
                  <a:gd name="connsiteX1" fmla="*/ 483220 w 498088"/>
                  <a:gd name="connsiteY1" fmla="*/ 81775 h 460917"/>
                  <a:gd name="connsiteX2" fmla="*/ 498088 w 498088"/>
                  <a:gd name="connsiteY2" fmla="*/ 394009 h 460917"/>
                  <a:gd name="connsiteX3" fmla="*/ 7434 w 498088"/>
                  <a:gd name="connsiteY3" fmla="*/ 460917 h 460917"/>
                  <a:gd name="connsiteX4" fmla="*/ 0 w 498088"/>
                  <a:gd name="connsiteY4" fmla="*/ 0 h 460917"/>
                  <a:gd name="connsiteX0" fmla="*/ 0 w 483220"/>
                  <a:gd name="connsiteY0" fmla="*/ 0 h 460917"/>
                  <a:gd name="connsiteX1" fmla="*/ 483220 w 483220"/>
                  <a:gd name="connsiteY1" fmla="*/ 81775 h 460917"/>
                  <a:gd name="connsiteX2" fmla="*/ 483220 w 483220"/>
                  <a:gd name="connsiteY2" fmla="*/ 401444 h 460917"/>
                  <a:gd name="connsiteX3" fmla="*/ 7434 w 483220"/>
                  <a:gd name="connsiteY3" fmla="*/ 460917 h 460917"/>
                  <a:gd name="connsiteX4" fmla="*/ 0 w 483220"/>
                  <a:gd name="connsiteY4" fmla="*/ 0 h 460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0" h="460917">
                    <a:moveTo>
                      <a:pt x="0" y="0"/>
                    </a:moveTo>
                    <a:lnTo>
                      <a:pt x="483220" y="81775"/>
                    </a:lnTo>
                    <a:lnTo>
                      <a:pt x="483220" y="401444"/>
                    </a:lnTo>
                    <a:lnTo>
                      <a:pt x="7434" y="460917"/>
                    </a:lnTo>
                    <a:lnTo>
                      <a:pt x="0" y="0"/>
                    </a:ln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p:cNvSpPr/>
              <p:nvPr/>
            </p:nvSpPr>
            <p:spPr>
              <a:xfrm>
                <a:off x="7395654" y="4699705"/>
                <a:ext cx="564318" cy="3143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60"/>
              <p:cNvSpPr/>
              <p:nvPr/>
            </p:nvSpPr>
            <p:spPr>
              <a:xfrm flipH="1">
                <a:off x="7961617" y="4613338"/>
                <a:ext cx="483220" cy="460917"/>
              </a:xfrm>
              <a:custGeom>
                <a:avLst/>
                <a:gdLst>
                  <a:gd name="connsiteX0" fmla="*/ 0 w 498088"/>
                  <a:gd name="connsiteY0" fmla="*/ 0 h 460917"/>
                  <a:gd name="connsiteX1" fmla="*/ 483220 w 498088"/>
                  <a:gd name="connsiteY1" fmla="*/ 81775 h 460917"/>
                  <a:gd name="connsiteX2" fmla="*/ 498088 w 498088"/>
                  <a:gd name="connsiteY2" fmla="*/ 394009 h 460917"/>
                  <a:gd name="connsiteX3" fmla="*/ 52039 w 498088"/>
                  <a:gd name="connsiteY3" fmla="*/ 460917 h 460917"/>
                  <a:gd name="connsiteX4" fmla="*/ 0 w 498088"/>
                  <a:gd name="connsiteY4" fmla="*/ 0 h 460917"/>
                  <a:gd name="connsiteX0" fmla="*/ 0 w 498088"/>
                  <a:gd name="connsiteY0" fmla="*/ 0 h 460917"/>
                  <a:gd name="connsiteX1" fmla="*/ 483220 w 498088"/>
                  <a:gd name="connsiteY1" fmla="*/ 81775 h 460917"/>
                  <a:gd name="connsiteX2" fmla="*/ 498088 w 498088"/>
                  <a:gd name="connsiteY2" fmla="*/ 394009 h 460917"/>
                  <a:gd name="connsiteX3" fmla="*/ 7434 w 498088"/>
                  <a:gd name="connsiteY3" fmla="*/ 460917 h 460917"/>
                  <a:gd name="connsiteX4" fmla="*/ 0 w 498088"/>
                  <a:gd name="connsiteY4" fmla="*/ 0 h 460917"/>
                  <a:gd name="connsiteX0" fmla="*/ 0 w 483220"/>
                  <a:gd name="connsiteY0" fmla="*/ 0 h 460917"/>
                  <a:gd name="connsiteX1" fmla="*/ 483220 w 483220"/>
                  <a:gd name="connsiteY1" fmla="*/ 81775 h 460917"/>
                  <a:gd name="connsiteX2" fmla="*/ 483220 w 483220"/>
                  <a:gd name="connsiteY2" fmla="*/ 401444 h 460917"/>
                  <a:gd name="connsiteX3" fmla="*/ 7434 w 483220"/>
                  <a:gd name="connsiteY3" fmla="*/ 460917 h 460917"/>
                  <a:gd name="connsiteX4" fmla="*/ 0 w 483220"/>
                  <a:gd name="connsiteY4" fmla="*/ 0 h 460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0" h="460917">
                    <a:moveTo>
                      <a:pt x="0" y="0"/>
                    </a:moveTo>
                    <a:lnTo>
                      <a:pt x="483220" y="81775"/>
                    </a:lnTo>
                    <a:lnTo>
                      <a:pt x="483220" y="401444"/>
                    </a:lnTo>
                    <a:lnTo>
                      <a:pt x="7434" y="460917"/>
                    </a:lnTo>
                    <a:lnTo>
                      <a:pt x="0" y="0"/>
                    </a:ln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85659" y="5006702"/>
              <a:ext cx="668833" cy="445192"/>
            </a:xfrm>
            <a:prstGeom prst="rect">
              <a:avLst/>
            </a:prstGeom>
          </p:spPr>
        </p:pic>
        <p:pic>
          <p:nvPicPr>
            <p:cNvPr id="30" name="Picture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09433" y="5059090"/>
              <a:ext cx="438615" cy="370961"/>
            </a:xfrm>
            <a:prstGeom prst="rect">
              <a:avLst/>
            </a:prstGeom>
          </p:spPr>
        </p:pic>
        <p:pic>
          <p:nvPicPr>
            <p:cNvPr id="31" name="Picture 3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450140" y="5059090"/>
              <a:ext cx="359113" cy="335470"/>
            </a:xfrm>
            <a:prstGeom prst="rect">
              <a:avLst/>
            </a:prstGeom>
          </p:spPr>
        </p:pic>
        <p:pic>
          <p:nvPicPr>
            <p:cNvPr id="32" name="Picture 31"/>
            <p:cNvPicPr>
              <a:picLocks noChangeAspect="1"/>
            </p:cNvPicPr>
            <p:nvPr/>
          </p:nvPicPr>
          <p:blipFill>
            <a:blip r:embed="rId10" cstate="print">
              <a:extLst>
                <a:ext uri="{BEBA8EAE-BF5A-486C-A8C5-ECC9F3942E4B}">
                  <a14:imgProps xmlns:a14="http://schemas.microsoft.com/office/drawing/2010/main">
                    <a14:imgLayer r:embed="rId11">
                      <a14:imgEffect>
                        <a14:saturation sat="66000"/>
                      </a14:imgEffect>
                    </a14:imgLayer>
                  </a14:imgProps>
                </a:ext>
                <a:ext uri="{28A0092B-C50C-407E-A947-70E740481C1C}">
                  <a14:useLocalDpi xmlns:a14="http://schemas.microsoft.com/office/drawing/2010/main" val="0"/>
                </a:ext>
              </a:extLst>
            </a:blip>
            <a:stretch>
              <a:fillRect/>
            </a:stretch>
          </p:blipFill>
          <p:spPr>
            <a:xfrm>
              <a:off x="4560030" y="5023800"/>
              <a:ext cx="560517" cy="662596"/>
            </a:xfrm>
            <a:prstGeom prst="rect">
              <a:avLst/>
            </a:prstGeom>
            <a:effectLst>
              <a:outerShdw blurRad="50800" dist="38100" dir="5400000" algn="t" rotWithShape="0">
                <a:prstClr val="black">
                  <a:alpha val="40000"/>
                </a:prstClr>
              </a:outerShdw>
            </a:effectLst>
          </p:spPr>
        </p:pic>
        <p:pic>
          <p:nvPicPr>
            <p:cNvPr id="33" name="Picture 32"/>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202212" y="4074203"/>
              <a:ext cx="655431" cy="750350"/>
            </a:xfrm>
            <a:prstGeom prst="rect">
              <a:avLst/>
            </a:prstGeom>
            <a:effectLst>
              <a:outerShdw blurRad="50800" dist="38100" dir="5400000" algn="t" rotWithShape="0">
                <a:prstClr val="black">
                  <a:alpha val="40000"/>
                </a:prstClr>
              </a:outerShdw>
            </a:effectLst>
          </p:spPr>
        </p:pic>
        <p:pic>
          <p:nvPicPr>
            <p:cNvPr id="34" name="Picture 33"/>
            <p:cNvPicPr>
              <a:picLocks noChangeAspect="1"/>
            </p:cNvPicPr>
            <p:nvPr/>
          </p:nvPicPr>
          <p:blipFill>
            <a:blip r:embed="rId13" cstate="print">
              <a:extLst>
                <a:ext uri="{BEBA8EAE-BF5A-486C-A8C5-ECC9F3942E4B}">
                  <a14:imgProps xmlns:a14="http://schemas.microsoft.com/office/drawing/2010/main">
                    <a14:imgLayer r:embed="rId14">
                      <a14:imgEffect>
                        <a14:saturation sat="66000"/>
                      </a14:imgEffect>
                    </a14:imgLayer>
                  </a14:imgProps>
                </a:ext>
                <a:ext uri="{28A0092B-C50C-407E-A947-70E740481C1C}">
                  <a14:useLocalDpi xmlns:a14="http://schemas.microsoft.com/office/drawing/2010/main" val="0"/>
                </a:ext>
              </a:extLst>
            </a:blip>
            <a:stretch>
              <a:fillRect/>
            </a:stretch>
          </p:blipFill>
          <p:spPr>
            <a:xfrm>
              <a:off x="6924074" y="3899603"/>
              <a:ext cx="704507" cy="831227"/>
            </a:xfrm>
            <a:prstGeom prst="rect">
              <a:avLst/>
            </a:prstGeom>
            <a:effectLst>
              <a:outerShdw blurRad="50800" dist="38100" dir="5400000" algn="t" rotWithShape="0">
                <a:prstClr val="black">
                  <a:alpha val="40000"/>
                </a:prstClr>
              </a:outerShdw>
            </a:effectLst>
          </p:spPr>
        </p:pic>
        <p:grpSp>
          <p:nvGrpSpPr>
            <p:cNvPr id="38" name="Group 37"/>
            <p:cNvGrpSpPr/>
            <p:nvPr/>
          </p:nvGrpSpPr>
          <p:grpSpPr>
            <a:xfrm>
              <a:off x="573154" y="2337045"/>
              <a:ext cx="1399883" cy="3020199"/>
              <a:chOff x="590572" y="2337045"/>
              <a:chExt cx="1399883" cy="3020199"/>
            </a:xfrm>
          </p:grpSpPr>
          <p:cxnSp>
            <p:nvCxnSpPr>
              <p:cNvPr id="39" name="Straight Connector 38"/>
              <p:cNvCxnSpPr/>
              <p:nvPr/>
            </p:nvCxnSpPr>
            <p:spPr>
              <a:xfrm>
                <a:off x="1290513" y="2992297"/>
                <a:ext cx="0" cy="53733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590572" y="4823995"/>
                <a:ext cx="1399883" cy="533249"/>
                <a:chOff x="597778" y="4927026"/>
                <a:chExt cx="1399883" cy="533249"/>
              </a:xfrm>
            </p:grpSpPr>
            <p:cxnSp>
              <p:nvCxnSpPr>
                <p:cNvPr id="50" name="Straight Connector 49"/>
                <p:cNvCxnSpPr/>
                <p:nvPr/>
              </p:nvCxnSpPr>
              <p:spPr>
                <a:xfrm>
                  <a:off x="774578" y="4934460"/>
                  <a:ext cx="103198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778083" y="4928301"/>
                  <a:ext cx="0" cy="2021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114452" y="4934460"/>
                  <a:ext cx="0" cy="2021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451819" y="4934460"/>
                  <a:ext cx="0" cy="2021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799534" y="4927026"/>
                  <a:ext cx="0" cy="202101"/>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5" name="Picture 54"/>
                <p:cNvPicPr>
                  <a:picLocks noChangeAspect="1"/>
                </p:cNvPicPr>
                <p:nvPr/>
              </p:nvPicPr>
              <p:blipFill>
                <a:blip r:embed="rId15" cstate="print">
                  <a:extLst>
                    <a:ext uri="{BEBA8EAE-BF5A-486C-A8C5-ECC9F3942E4B}">
                      <a14:imgProps xmlns:a14="http://schemas.microsoft.com/office/drawing/2010/main">
                        <a14:imgLayer r:embed="rId16">
                          <a14:imgEffect>
                            <a14:saturation sat="66000"/>
                          </a14:imgEffect>
                        </a14:imgLayer>
                      </a14:imgProps>
                    </a:ext>
                    <a:ext uri="{28A0092B-C50C-407E-A947-70E740481C1C}">
                      <a14:useLocalDpi xmlns:a14="http://schemas.microsoft.com/office/drawing/2010/main" val="0"/>
                    </a:ext>
                  </a:extLst>
                </a:blip>
                <a:stretch>
                  <a:fillRect/>
                </a:stretch>
              </p:blipFill>
              <p:spPr>
                <a:xfrm>
                  <a:off x="597778" y="4989361"/>
                  <a:ext cx="382523" cy="470914"/>
                </a:xfrm>
                <a:prstGeom prst="rect">
                  <a:avLst/>
                </a:prstGeom>
                <a:effectLst>
                  <a:outerShdw blurRad="50800" dist="38100" dir="5400000" algn="t" rotWithShape="0">
                    <a:prstClr val="black">
                      <a:alpha val="40000"/>
                    </a:prstClr>
                  </a:outerShdw>
                </a:effectLst>
              </p:spPr>
            </p:pic>
            <p:pic>
              <p:nvPicPr>
                <p:cNvPr id="56" name="Picture 55"/>
                <p:cNvPicPr>
                  <a:picLocks noChangeAspect="1"/>
                </p:cNvPicPr>
                <p:nvPr/>
              </p:nvPicPr>
              <p:blipFill>
                <a:blip r:embed="rId15" cstate="print">
                  <a:extLst>
                    <a:ext uri="{BEBA8EAE-BF5A-486C-A8C5-ECC9F3942E4B}">
                      <a14:imgProps xmlns:a14="http://schemas.microsoft.com/office/drawing/2010/main">
                        <a14:imgLayer r:embed="rId16">
                          <a14:imgEffect>
                            <a14:saturation sat="66000"/>
                          </a14:imgEffect>
                        </a14:imgLayer>
                      </a14:imgProps>
                    </a:ext>
                    <a:ext uri="{28A0092B-C50C-407E-A947-70E740481C1C}">
                      <a14:useLocalDpi xmlns:a14="http://schemas.microsoft.com/office/drawing/2010/main" val="0"/>
                    </a:ext>
                  </a:extLst>
                </a:blip>
                <a:stretch>
                  <a:fillRect/>
                </a:stretch>
              </p:blipFill>
              <p:spPr>
                <a:xfrm>
                  <a:off x="935981" y="4989361"/>
                  <a:ext cx="382523" cy="470914"/>
                </a:xfrm>
                <a:prstGeom prst="rect">
                  <a:avLst/>
                </a:prstGeom>
                <a:effectLst>
                  <a:outerShdw blurRad="50800" dist="38100" dir="5400000" algn="t" rotWithShape="0">
                    <a:prstClr val="black">
                      <a:alpha val="40000"/>
                    </a:prstClr>
                  </a:outerShdw>
                </a:effectLst>
              </p:spPr>
            </p:pic>
            <p:pic>
              <p:nvPicPr>
                <p:cNvPr id="57" name="Picture 56"/>
                <p:cNvPicPr>
                  <a:picLocks noChangeAspect="1"/>
                </p:cNvPicPr>
                <p:nvPr/>
              </p:nvPicPr>
              <p:blipFill>
                <a:blip r:embed="rId15" cstate="print">
                  <a:extLst>
                    <a:ext uri="{BEBA8EAE-BF5A-486C-A8C5-ECC9F3942E4B}">
                      <a14:imgProps xmlns:a14="http://schemas.microsoft.com/office/drawing/2010/main">
                        <a14:imgLayer r:embed="rId16">
                          <a14:imgEffect>
                            <a14:saturation sat="66000"/>
                          </a14:imgEffect>
                        </a14:imgLayer>
                      </a14:imgProps>
                    </a:ext>
                    <a:ext uri="{28A0092B-C50C-407E-A947-70E740481C1C}">
                      <a14:useLocalDpi xmlns:a14="http://schemas.microsoft.com/office/drawing/2010/main" val="0"/>
                    </a:ext>
                  </a:extLst>
                </a:blip>
                <a:stretch>
                  <a:fillRect/>
                </a:stretch>
              </p:blipFill>
              <p:spPr>
                <a:xfrm>
                  <a:off x="1275243" y="4989361"/>
                  <a:ext cx="382523" cy="470914"/>
                </a:xfrm>
                <a:prstGeom prst="rect">
                  <a:avLst/>
                </a:prstGeom>
                <a:effectLst>
                  <a:outerShdw blurRad="50800" dist="38100" dir="5400000" algn="t" rotWithShape="0">
                    <a:prstClr val="black">
                      <a:alpha val="40000"/>
                    </a:prstClr>
                  </a:outerShdw>
                </a:effectLst>
              </p:spPr>
            </p:pic>
            <p:pic>
              <p:nvPicPr>
                <p:cNvPr id="58" name="Picture 57"/>
                <p:cNvPicPr>
                  <a:picLocks noChangeAspect="1"/>
                </p:cNvPicPr>
                <p:nvPr/>
              </p:nvPicPr>
              <p:blipFill>
                <a:blip r:embed="rId15" cstate="print">
                  <a:extLst>
                    <a:ext uri="{BEBA8EAE-BF5A-486C-A8C5-ECC9F3942E4B}">
                      <a14:imgProps xmlns:a14="http://schemas.microsoft.com/office/drawing/2010/main">
                        <a14:imgLayer r:embed="rId16">
                          <a14:imgEffect>
                            <a14:saturation sat="66000"/>
                          </a14:imgEffect>
                        </a14:imgLayer>
                      </a14:imgProps>
                    </a:ext>
                    <a:ext uri="{28A0092B-C50C-407E-A947-70E740481C1C}">
                      <a14:useLocalDpi xmlns:a14="http://schemas.microsoft.com/office/drawing/2010/main" val="0"/>
                    </a:ext>
                  </a:extLst>
                </a:blip>
                <a:stretch>
                  <a:fillRect/>
                </a:stretch>
              </p:blipFill>
              <p:spPr>
                <a:xfrm>
                  <a:off x="1615138" y="4989361"/>
                  <a:ext cx="382523" cy="470914"/>
                </a:xfrm>
                <a:prstGeom prst="rect">
                  <a:avLst/>
                </a:prstGeom>
                <a:effectLst>
                  <a:outerShdw blurRad="50800" dist="38100" dir="5400000" algn="t" rotWithShape="0">
                    <a:prstClr val="black">
                      <a:alpha val="40000"/>
                    </a:prstClr>
                  </a:outerShdw>
                </a:effectLst>
              </p:spPr>
            </p:pic>
          </p:grpSp>
          <p:pic>
            <p:nvPicPr>
              <p:cNvPr id="41" name="Picture 40"/>
              <p:cNvPicPr>
                <a:picLocks noChangeAspect="1"/>
              </p:cNvPicPr>
              <p:nvPr/>
            </p:nvPicPr>
            <p:blipFill>
              <a:blip r:embed="rId13" cstate="print">
                <a:extLst>
                  <a:ext uri="{BEBA8EAE-BF5A-486C-A8C5-ECC9F3942E4B}">
                    <a14:imgProps xmlns:a14="http://schemas.microsoft.com/office/drawing/2010/main">
                      <a14:imgLayer r:embed="rId14">
                        <a14:imgEffect>
                          <a14:saturation sat="66000"/>
                        </a14:imgEffect>
                      </a14:imgLayer>
                    </a14:imgProps>
                  </a:ext>
                  <a:ext uri="{28A0092B-C50C-407E-A947-70E740481C1C}">
                    <a14:useLocalDpi xmlns:a14="http://schemas.microsoft.com/office/drawing/2010/main" val="0"/>
                  </a:ext>
                </a:extLst>
              </a:blip>
              <a:stretch>
                <a:fillRect/>
              </a:stretch>
            </p:blipFill>
            <p:spPr>
              <a:xfrm>
                <a:off x="938260" y="2337045"/>
                <a:ext cx="704507" cy="867301"/>
              </a:xfrm>
              <a:prstGeom prst="rect">
                <a:avLst/>
              </a:prstGeom>
              <a:effectLst>
                <a:outerShdw blurRad="50800" dist="38100" dir="5400000" algn="t" rotWithShape="0">
                  <a:prstClr val="black">
                    <a:alpha val="40000"/>
                  </a:prstClr>
                </a:outerShdw>
              </a:effectLst>
            </p:spPr>
          </p:pic>
          <p:cxnSp>
            <p:nvCxnSpPr>
              <p:cNvPr id="42" name="Straight Connector 41"/>
              <p:cNvCxnSpPr/>
              <p:nvPr/>
            </p:nvCxnSpPr>
            <p:spPr>
              <a:xfrm>
                <a:off x="991930" y="4578219"/>
                <a:ext cx="0" cy="25289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579542" y="4571097"/>
                <a:ext cx="0" cy="252898"/>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782827" y="3925655"/>
                <a:ext cx="1056941" cy="786395"/>
                <a:chOff x="749622" y="4003158"/>
                <a:chExt cx="1056941" cy="786395"/>
              </a:xfrm>
            </p:grpSpPr>
            <p:cxnSp>
              <p:nvCxnSpPr>
                <p:cNvPr id="46" name="Straight Connector 45"/>
                <p:cNvCxnSpPr/>
                <p:nvPr/>
              </p:nvCxnSpPr>
              <p:spPr>
                <a:xfrm flipV="1">
                  <a:off x="1047757" y="4003158"/>
                  <a:ext cx="110519" cy="297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387913" y="4003158"/>
                  <a:ext cx="110519" cy="29710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8" name="Picture 4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49622" y="4201122"/>
                  <a:ext cx="477982" cy="588431"/>
                </a:xfrm>
                <a:prstGeom prst="rect">
                  <a:avLst/>
                </a:prstGeom>
                <a:effectLst>
                  <a:outerShdw blurRad="50800" dist="38100" dir="5400000" algn="t" rotWithShape="0">
                    <a:prstClr val="black">
                      <a:alpha val="40000"/>
                    </a:prstClr>
                  </a:outerShdw>
                </a:effectLst>
              </p:spPr>
            </p:pic>
            <p:pic>
              <p:nvPicPr>
                <p:cNvPr id="49" name="Picture 4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328581" y="4201122"/>
                  <a:ext cx="477982" cy="588431"/>
                </a:xfrm>
                <a:prstGeom prst="rect">
                  <a:avLst/>
                </a:prstGeom>
                <a:effectLst>
                  <a:outerShdw blurRad="50800" dist="38100" dir="5400000" algn="t" rotWithShape="0">
                    <a:prstClr val="black">
                      <a:alpha val="40000"/>
                    </a:prstClr>
                  </a:outerShdw>
                </a:effectLst>
              </p:spPr>
            </p:pic>
          </p:grpSp>
          <p:pic>
            <p:nvPicPr>
              <p:cNvPr id="45" name="Picture 44"/>
              <p:cNvPicPr>
                <a:picLocks noChangeAspect="1"/>
              </p:cNvPicPr>
              <p:nvPr/>
            </p:nvPicPr>
            <p:blipFill>
              <a:blip r:embed="rId18"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991929" y="3276516"/>
                <a:ext cx="597168" cy="735158"/>
              </a:xfrm>
              <a:prstGeom prst="rect">
                <a:avLst/>
              </a:prstGeom>
              <a:effectLst>
                <a:outerShdw blurRad="50800" dist="38100" dir="5400000" algn="t" rotWithShape="0">
                  <a:prstClr val="black">
                    <a:alpha val="40000"/>
                  </a:prstClr>
                </a:outerShdw>
              </a:effectLst>
            </p:spPr>
          </p:pic>
        </p:grpSp>
      </p:grpSp>
      <p:pic>
        <p:nvPicPr>
          <p:cNvPr id="66" name="Picture 65"/>
          <p:cNvPicPr>
            <a:picLocks noChangeAspect="1"/>
          </p:cNvPicPr>
          <p:nvPr/>
        </p:nvPicPr>
        <p:blipFill>
          <a:blip r:embed="rId18"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377176" y="4353292"/>
            <a:ext cx="609315" cy="858600"/>
          </a:xfrm>
          <a:prstGeom prst="rect">
            <a:avLst/>
          </a:prstGeom>
          <a:effectLst>
            <a:outerShdw blurRad="50800" dist="38100" dir="5400000" algn="t" rotWithShape="0">
              <a:prstClr val="black">
                <a:alpha val="40000"/>
              </a:prstClr>
            </a:outerShdw>
          </a:effectLst>
        </p:spPr>
      </p:pic>
      <p:pic>
        <p:nvPicPr>
          <p:cNvPr id="64" name="Picture 6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054251" y="4347341"/>
            <a:ext cx="657625" cy="867333"/>
          </a:xfrm>
          <a:prstGeom prst="rect">
            <a:avLst/>
          </a:prstGeom>
          <a:effectLst>
            <a:outerShdw blurRad="50800" dist="38100" dir="5400000" algn="t" rotWithShape="0">
              <a:prstClr val="black">
                <a:alpha val="40000"/>
              </a:prstClr>
            </a:outerShdw>
          </a:effectLst>
        </p:spPr>
      </p:pic>
      <p:sp>
        <p:nvSpPr>
          <p:cNvPr id="65" name="Title 1"/>
          <p:cNvSpPr txBox="1">
            <a:spLocks noGrp="1"/>
          </p:cNvSpPr>
          <p:nvPr>
            <p:ph type="title"/>
          </p:nvPr>
        </p:nvSpPr>
        <p:spPr>
          <a:xfrm>
            <a:off x="381000" y="533400"/>
            <a:ext cx="8229600" cy="1143000"/>
          </a:xfrm>
          <a:prstGeom prst="rect">
            <a:avLst/>
          </a:prstGeom>
        </p:spPr>
        <p:txBody>
          <a:bodyPr>
            <a:normAutofit fontScale="90000"/>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3100" b="0" dirty="0" smtClean="0">
                <a:solidFill>
                  <a:schemeClr val="tx1">
                    <a:lumMod val="75000"/>
                    <a:lumOff val="25000"/>
                  </a:schemeClr>
                </a:solidFill>
                <a:latin typeface="+mj-lt"/>
              </a:rPr>
              <a:t>The 2020 Census: Count the Population</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2700" b="0" dirty="0" smtClean="0">
                <a:solidFill>
                  <a:schemeClr val="accent1"/>
                </a:solidFill>
                <a:latin typeface="+mj-lt"/>
              </a:rPr>
              <a:t>Reengineering Field Operations</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Tree>
    <p:extLst>
      <p:ext uri="{BB962C8B-B14F-4D97-AF65-F5344CB8AC3E}">
        <p14:creationId xmlns:p14="http://schemas.microsoft.com/office/powerpoint/2010/main" val="8016729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90996" cy="473522"/>
          </a:xfrm>
        </p:spPr>
        <p:txBody>
          <a:bodyPr>
            <a:noAutofit/>
          </a:bodyPr>
          <a:lstStyle/>
          <a:p>
            <a:pPr marL="0" indent="0">
              <a:buNone/>
            </a:pPr>
            <a:r>
              <a:rPr lang="en-US" sz="1600" dirty="0" smtClean="0">
                <a:solidFill>
                  <a:schemeClr val="tx1">
                    <a:lumMod val="75000"/>
                    <a:lumOff val="25000"/>
                  </a:schemeClr>
                </a:solidFill>
              </a:rPr>
              <a:t>Use information people have already provided to reduce expensive in-person follow-up.</a:t>
            </a:r>
            <a:endParaRPr lang="en-US" sz="1600" dirty="0">
              <a:solidFill>
                <a:schemeClr val="tx1">
                  <a:lumMod val="75000"/>
                  <a:lumOff val="25000"/>
                </a:schemeClr>
              </a:solidFill>
            </a:endParaRPr>
          </a:p>
        </p:txBody>
      </p:sp>
      <p:sp>
        <p:nvSpPr>
          <p:cNvPr id="97" name="Rectangle 96"/>
          <p:cNvSpPr/>
          <p:nvPr/>
        </p:nvSpPr>
        <p:spPr>
          <a:xfrm>
            <a:off x="457199" y="5078360"/>
            <a:ext cx="2040751" cy="1091696"/>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Reduce Field Workload for Followup Activities</a:t>
            </a:r>
            <a:endParaRPr lang="en-US" sz="1400" dirty="0"/>
          </a:p>
        </p:txBody>
      </p:sp>
      <p:sp>
        <p:nvSpPr>
          <p:cNvPr id="99" name="Rectangle 98"/>
          <p:cNvSpPr/>
          <p:nvPr/>
        </p:nvSpPr>
        <p:spPr>
          <a:xfrm>
            <a:off x="2497106" y="5076624"/>
            <a:ext cx="6232799" cy="1095576"/>
          </a:xfrm>
          <a:prstGeom prst="rect">
            <a:avLst/>
          </a:prstGeom>
          <a:solidFill>
            <a:schemeClr val="accent2">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0" name="Picture 9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0967" y="5188439"/>
            <a:ext cx="536794" cy="721666"/>
          </a:xfrm>
          <a:prstGeom prst="rect">
            <a:avLst/>
          </a:prstGeom>
        </p:spPr>
      </p:pic>
      <p:sp>
        <p:nvSpPr>
          <p:cNvPr id="102" name="TextBox 101"/>
          <p:cNvSpPr txBox="1"/>
          <p:nvPr/>
        </p:nvSpPr>
        <p:spPr>
          <a:xfrm>
            <a:off x="3247761" y="5133774"/>
            <a:ext cx="3311960" cy="738664"/>
          </a:xfrm>
          <a:prstGeom prst="rect">
            <a:avLst/>
          </a:prstGeom>
          <a:noFill/>
        </p:spPr>
        <p:txBody>
          <a:bodyPr wrap="square" rtlCol="0">
            <a:spAutoFit/>
          </a:bodyPr>
          <a:lstStyle/>
          <a:p>
            <a:r>
              <a:rPr lang="en-US" sz="1400" dirty="0" smtClean="0"/>
              <a:t>Remove vacant and nonresponding occupied housing units from the</a:t>
            </a:r>
          </a:p>
          <a:p>
            <a:r>
              <a:rPr lang="en-US" sz="1400" dirty="0" smtClean="0"/>
              <a:t>nonresponse followup workload</a:t>
            </a:r>
            <a:endParaRPr lang="en-US" sz="1400" dirty="0"/>
          </a:p>
        </p:txBody>
      </p:sp>
      <p:sp>
        <p:nvSpPr>
          <p:cNvPr id="103" name="TextBox 102"/>
          <p:cNvSpPr txBox="1"/>
          <p:nvPr/>
        </p:nvSpPr>
        <p:spPr>
          <a:xfrm>
            <a:off x="6980260" y="5133774"/>
            <a:ext cx="1616761" cy="738664"/>
          </a:xfrm>
          <a:prstGeom prst="rect">
            <a:avLst/>
          </a:prstGeom>
          <a:noFill/>
        </p:spPr>
        <p:txBody>
          <a:bodyPr wrap="square" rtlCol="0">
            <a:spAutoFit/>
          </a:bodyPr>
          <a:lstStyle/>
          <a:p>
            <a:r>
              <a:rPr lang="en-US" sz="1400" dirty="0" smtClean="0"/>
              <a:t>Optimize the </a:t>
            </a:r>
            <a:r>
              <a:rPr lang="en-US" sz="1400" dirty="0"/>
              <a:t>number of contact attempts</a:t>
            </a:r>
          </a:p>
        </p:txBody>
      </p:sp>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3466" y="5188439"/>
            <a:ext cx="536794" cy="721666"/>
          </a:xfrm>
          <a:prstGeom prst="rect">
            <a:avLst/>
          </a:prstGeom>
        </p:spPr>
      </p:pic>
      <p:sp>
        <p:nvSpPr>
          <p:cNvPr id="44" name="Rectangle 43"/>
          <p:cNvSpPr/>
          <p:nvPr/>
        </p:nvSpPr>
        <p:spPr>
          <a:xfrm>
            <a:off x="457199" y="3990482"/>
            <a:ext cx="2040751" cy="97651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Validate Respondent </a:t>
            </a:r>
            <a:r>
              <a:rPr lang="en-US" sz="1400" dirty="0"/>
              <a:t>Submissions</a:t>
            </a:r>
          </a:p>
        </p:txBody>
      </p:sp>
      <p:sp>
        <p:nvSpPr>
          <p:cNvPr id="45" name="Rectangle 44"/>
          <p:cNvSpPr/>
          <p:nvPr/>
        </p:nvSpPr>
        <p:spPr>
          <a:xfrm>
            <a:off x="2497106" y="3988746"/>
            <a:ext cx="6232799" cy="979984"/>
          </a:xfrm>
          <a:prstGeom prst="rect">
            <a:avLst/>
          </a:prstGeom>
          <a:solidFill>
            <a:schemeClr val="accent2">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TextBox 120"/>
          <p:cNvSpPr txBox="1"/>
          <p:nvPr/>
        </p:nvSpPr>
        <p:spPr>
          <a:xfrm>
            <a:off x="3347256" y="4186351"/>
            <a:ext cx="4419206" cy="523220"/>
          </a:xfrm>
          <a:prstGeom prst="rect">
            <a:avLst/>
          </a:prstGeom>
          <a:noFill/>
        </p:spPr>
        <p:txBody>
          <a:bodyPr wrap="square" rtlCol="0">
            <a:spAutoFit/>
          </a:bodyPr>
          <a:lstStyle/>
          <a:p>
            <a:r>
              <a:rPr lang="en-US" sz="1400" dirty="0" smtClean="0"/>
              <a:t>Validate respondent addresses for those without a Census ID and prevent fraudulent submissions</a:t>
            </a:r>
            <a:endParaRPr lang="en-US" sz="1400" dirty="0"/>
          </a:p>
        </p:txBody>
      </p:sp>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5065" y="4117905"/>
            <a:ext cx="536794" cy="721666"/>
          </a:xfrm>
          <a:prstGeom prst="rect">
            <a:avLst/>
          </a:prstGeom>
        </p:spPr>
      </p:pic>
      <p:sp>
        <p:nvSpPr>
          <p:cNvPr id="42" name="Rectangle 41"/>
          <p:cNvSpPr/>
          <p:nvPr/>
        </p:nvSpPr>
        <p:spPr>
          <a:xfrm>
            <a:off x="457199" y="2902605"/>
            <a:ext cx="2040751" cy="97651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Increase </a:t>
            </a:r>
            <a:r>
              <a:rPr lang="en-US" sz="1400" dirty="0" smtClean="0"/>
              <a:t>Effectiveness </a:t>
            </a:r>
            <a:r>
              <a:rPr lang="en-US" sz="1400" dirty="0"/>
              <a:t>of </a:t>
            </a:r>
            <a:r>
              <a:rPr lang="en-US" sz="1400" dirty="0" smtClean="0"/>
              <a:t>Advertising </a:t>
            </a:r>
            <a:r>
              <a:rPr lang="en-US" sz="1400" dirty="0"/>
              <a:t>and </a:t>
            </a:r>
            <a:r>
              <a:rPr lang="en-US" sz="1400" dirty="0" smtClean="0"/>
              <a:t>Contact </a:t>
            </a:r>
            <a:r>
              <a:rPr lang="en-US" sz="1400" dirty="0"/>
              <a:t>S</a:t>
            </a:r>
            <a:r>
              <a:rPr lang="en-US" sz="1400" dirty="0" smtClean="0"/>
              <a:t>trategies</a:t>
            </a:r>
            <a:endParaRPr lang="en-US" sz="1400" dirty="0"/>
          </a:p>
        </p:txBody>
      </p:sp>
      <p:sp>
        <p:nvSpPr>
          <p:cNvPr id="43" name="Rectangle 42"/>
          <p:cNvSpPr/>
          <p:nvPr/>
        </p:nvSpPr>
        <p:spPr>
          <a:xfrm>
            <a:off x="2497106" y="2900869"/>
            <a:ext cx="6232799" cy="979984"/>
          </a:xfrm>
          <a:prstGeom prst="rect">
            <a:avLst/>
          </a:prstGeom>
          <a:solidFill>
            <a:schemeClr val="accent2">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TextBox 113"/>
          <p:cNvSpPr txBox="1"/>
          <p:nvPr/>
        </p:nvSpPr>
        <p:spPr>
          <a:xfrm>
            <a:off x="3359132" y="2975363"/>
            <a:ext cx="1984584" cy="738664"/>
          </a:xfrm>
          <a:prstGeom prst="rect">
            <a:avLst/>
          </a:prstGeom>
          <a:noFill/>
        </p:spPr>
        <p:txBody>
          <a:bodyPr wrap="square" rtlCol="0">
            <a:spAutoFit/>
          </a:bodyPr>
          <a:lstStyle/>
          <a:p>
            <a:r>
              <a:rPr lang="en-US" sz="1400" dirty="0" smtClean="0"/>
              <a:t>Support the micro-targeted advertising campaign</a:t>
            </a:r>
            <a:endParaRPr lang="en-US" sz="1400" dirty="0"/>
          </a:p>
        </p:txBody>
      </p:sp>
      <p:sp>
        <p:nvSpPr>
          <p:cNvPr id="116" name="TextBox 115"/>
          <p:cNvSpPr txBox="1"/>
          <p:nvPr/>
        </p:nvSpPr>
        <p:spPr>
          <a:xfrm>
            <a:off x="6194901" y="2975103"/>
            <a:ext cx="2658149" cy="738664"/>
          </a:xfrm>
          <a:prstGeom prst="rect">
            <a:avLst/>
          </a:prstGeom>
          <a:noFill/>
        </p:spPr>
        <p:txBody>
          <a:bodyPr wrap="square" rtlCol="0">
            <a:spAutoFit/>
          </a:bodyPr>
          <a:lstStyle/>
          <a:p>
            <a:r>
              <a:rPr lang="en-US" sz="1400" dirty="0" smtClean="0"/>
              <a:t>Create the contact frame</a:t>
            </a:r>
          </a:p>
          <a:p>
            <a:r>
              <a:rPr lang="en-US" sz="1400" dirty="0" smtClean="0"/>
              <a:t>(e.g., email addresses and telephone numbers)</a:t>
            </a:r>
            <a:endParaRPr lang="en-US" sz="1400" dirty="0"/>
          </a:p>
        </p:txBody>
      </p:sp>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7114" y="3030028"/>
            <a:ext cx="536794" cy="721666"/>
          </a:xfrm>
          <a:prstGeom prst="rect">
            <a:avLst/>
          </a:prstGeom>
        </p:spPr>
      </p:pic>
      <p:pic>
        <p:nvPicPr>
          <p:cNvPr id="38" name="Picture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847" y="3030028"/>
            <a:ext cx="536794" cy="721666"/>
          </a:xfrm>
          <a:prstGeom prst="rect">
            <a:avLst/>
          </a:prstGeom>
        </p:spPr>
      </p:pic>
      <p:sp>
        <p:nvSpPr>
          <p:cNvPr id="39" name="Rectangle 38"/>
          <p:cNvSpPr/>
          <p:nvPr/>
        </p:nvSpPr>
        <p:spPr>
          <a:xfrm>
            <a:off x="457199" y="1814728"/>
            <a:ext cx="2040751" cy="976513"/>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Improve the Quality of the Address List</a:t>
            </a:r>
            <a:endParaRPr lang="en-US" sz="1400" dirty="0"/>
          </a:p>
        </p:txBody>
      </p:sp>
      <p:sp>
        <p:nvSpPr>
          <p:cNvPr id="40" name="Rectangle 39"/>
          <p:cNvSpPr/>
          <p:nvPr/>
        </p:nvSpPr>
        <p:spPr>
          <a:xfrm>
            <a:off x="2467059" y="1812992"/>
            <a:ext cx="6262702" cy="979984"/>
          </a:xfrm>
          <a:prstGeom prst="rect">
            <a:avLst/>
          </a:prstGeom>
          <a:solidFill>
            <a:schemeClr val="accent2">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TextBox 108"/>
          <p:cNvSpPr txBox="1"/>
          <p:nvPr/>
        </p:nvSpPr>
        <p:spPr>
          <a:xfrm>
            <a:off x="3347257" y="2133707"/>
            <a:ext cx="2013344" cy="307777"/>
          </a:xfrm>
          <a:prstGeom prst="rect">
            <a:avLst/>
          </a:prstGeom>
          <a:noFill/>
        </p:spPr>
        <p:txBody>
          <a:bodyPr wrap="square" rtlCol="0">
            <a:spAutoFit/>
          </a:bodyPr>
          <a:lstStyle/>
          <a:p>
            <a:r>
              <a:rPr lang="en-US" sz="1400" dirty="0" smtClean="0"/>
              <a:t>Update the address list</a:t>
            </a:r>
            <a:endParaRPr lang="en-US" sz="1400" dirty="0"/>
          </a:p>
        </p:txBody>
      </p:sp>
      <p:pic>
        <p:nvPicPr>
          <p:cNvPr id="33" name="Pictur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3261" y="1942151"/>
            <a:ext cx="536794" cy="721666"/>
          </a:xfrm>
          <a:prstGeom prst="rect">
            <a:avLst/>
          </a:prstGeom>
        </p:spPr>
      </p:pic>
      <p:pic>
        <p:nvPicPr>
          <p:cNvPr id="37" name="Picture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847" y="1942151"/>
            <a:ext cx="536794" cy="721666"/>
          </a:xfrm>
          <a:prstGeom prst="rect">
            <a:avLst/>
          </a:prstGeom>
        </p:spPr>
      </p:pic>
      <p:sp>
        <p:nvSpPr>
          <p:cNvPr id="111" name="TextBox 110"/>
          <p:cNvSpPr txBox="1"/>
          <p:nvPr/>
        </p:nvSpPr>
        <p:spPr>
          <a:xfrm>
            <a:off x="6159276" y="1887486"/>
            <a:ext cx="2570629" cy="738664"/>
          </a:xfrm>
          <a:prstGeom prst="rect">
            <a:avLst/>
          </a:prstGeom>
          <a:noFill/>
        </p:spPr>
        <p:txBody>
          <a:bodyPr wrap="square" rtlCol="0">
            <a:spAutoFit/>
          </a:bodyPr>
          <a:lstStyle/>
          <a:p>
            <a:r>
              <a:rPr lang="en-US" sz="1400" dirty="0" smtClean="0"/>
              <a:t>Validate incoming data from federal, </a:t>
            </a:r>
            <a:r>
              <a:rPr lang="en-US" sz="1400" dirty="0"/>
              <a:t>tribal, state</a:t>
            </a:r>
            <a:r>
              <a:rPr lang="en-US" sz="1400" dirty="0" smtClean="0"/>
              <a:t>, and local governments</a:t>
            </a:r>
            <a:endParaRPr lang="en-US" sz="1400" dirty="0"/>
          </a:p>
        </p:txBody>
      </p:sp>
      <p:sp>
        <p:nvSpPr>
          <p:cNvPr id="28"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10</a:t>
            </a:fld>
            <a:endParaRPr lang="en-US" dirty="0"/>
          </a:p>
        </p:txBody>
      </p:sp>
      <p:sp>
        <p:nvSpPr>
          <p:cNvPr id="29" name="Title 1"/>
          <p:cNvSpPr txBox="1">
            <a:spLocks noGrp="1"/>
          </p:cNvSpPr>
          <p:nvPr>
            <p:ph type="title"/>
          </p:nvPr>
        </p:nvSpPr>
        <p:spPr>
          <a:xfrm>
            <a:off x="381000" y="533400"/>
            <a:ext cx="8229600" cy="1143000"/>
          </a:xfrm>
          <a:prstGeom prst="rect">
            <a:avLst/>
          </a:prstGeom>
        </p:spPr>
        <p:txBody>
          <a:bodyPr>
            <a:normAutofit fontScale="90000"/>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3100" b="0" dirty="0" smtClean="0">
                <a:solidFill>
                  <a:schemeClr val="tx1">
                    <a:lumMod val="75000"/>
                    <a:lumOff val="25000"/>
                  </a:schemeClr>
                </a:solidFill>
                <a:latin typeface="+mj-lt"/>
              </a:rPr>
              <a:t>The 2020 Census: Count the Population</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2700" b="0" dirty="0" smtClean="0">
                <a:solidFill>
                  <a:schemeClr val="accent1"/>
                </a:solidFill>
                <a:latin typeface="+mj-lt"/>
              </a:rPr>
              <a:t>Utilizing Administrative Records and Third-Party Data</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Tree>
    <p:extLst>
      <p:ext uri="{BB962C8B-B14F-4D97-AF65-F5344CB8AC3E}">
        <p14:creationId xmlns:p14="http://schemas.microsoft.com/office/powerpoint/2010/main" val="979518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268A5C4-149D-4D66-BABE-E6DD2BE69C90}" type="slidenum">
              <a:rPr lang="en-US" smtClean="0">
                <a:solidFill>
                  <a:prstClr val="black">
                    <a:tint val="75000"/>
                  </a:prstClr>
                </a:solidFill>
              </a:rPr>
              <a:pPr/>
              <a:t>11</a:t>
            </a:fld>
            <a:endParaRPr lang="en-US" dirty="0">
              <a:solidFill>
                <a:prstClr val="black">
                  <a:tint val="75000"/>
                </a:prstClr>
              </a:solidFill>
            </a:endParaRPr>
          </a:p>
        </p:txBody>
      </p:sp>
      <p:pic>
        <p:nvPicPr>
          <p:cNvPr id="2050" name="Picture 2" descr="H:\Operational Plan\Slide Deck Library\Slide decks\7-1 to 7-15\Modernizing Census graphic_v6.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0200"/>
            <a:ext cx="9144000" cy="457200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381000" y="685800"/>
            <a:ext cx="8229600" cy="762000"/>
          </a:xfrm>
        </p:spPr>
        <p:txBody>
          <a:bodyPr>
            <a:normAutofit fontScale="90000"/>
          </a:bodyPr>
          <a:lstStyle/>
          <a:p>
            <a:pPr algn="l"/>
            <a:r>
              <a:rPr lang="en-US" sz="3100" b="0" dirty="0" smtClean="0">
                <a:solidFill>
                  <a:schemeClr val="tx1">
                    <a:lumMod val="75000"/>
                    <a:lumOff val="25000"/>
                  </a:schemeClr>
                </a:solidFill>
                <a:latin typeface="+mj-lt"/>
              </a:rPr>
              <a:t>The 2020 Census</a:t>
            </a:r>
            <a:r>
              <a:rPr lang="en-US" sz="2800" b="0" dirty="0" smtClean="0">
                <a:solidFill>
                  <a:schemeClr val="tx1">
                    <a:lumMod val="75000"/>
                    <a:lumOff val="25000"/>
                  </a:schemeClr>
                </a:solidFill>
                <a:latin typeface="+mj-lt"/>
              </a:rPr>
              <a:t/>
            </a:r>
            <a:br>
              <a:rPr lang="en-US" sz="2800" b="0" dirty="0" smtClean="0">
                <a:solidFill>
                  <a:schemeClr val="tx1">
                    <a:lumMod val="75000"/>
                    <a:lumOff val="25000"/>
                  </a:schemeClr>
                </a:solidFill>
                <a:latin typeface="+mj-lt"/>
              </a:rPr>
            </a:br>
            <a:r>
              <a:rPr lang="en-US" sz="2700" b="0" dirty="0" smtClean="0">
                <a:solidFill>
                  <a:schemeClr val="accent1"/>
                </a:solidFill>
                <a:latin typeface="+mj-lt"/>
              </a:rPr>
              <a:t>A New Design for the 21</a:t>
            </a:r>
            <a:r>
              <a:rPr lang="en-US" sz="2700" b="0" baseline="30000" dirty="0" smtClean="0">
                <a:solidFill>
                  <a:schemeClr val="accent1"/>
                </a:solidFill>
                <a:latin typeface="+mj-lt"/>
              </a:rPr>
              <a:t>st</a:t>
            </a:r>
            <a:r>
              <a:rPr lang="en-US" sz="2700" b="0" dirty="0" smtClean="0">
                <a:solidFill>
                  <a:schemeClr val="accent1"/>
                </a:solidFill>
                <a:latin typeface="+mj-lt"/>
              </a:rPr>
              <a:t> Century</a:t>
            </a:r>
            <a:r>
              <a:rPr lang="en-US" sz="2700" b="0" dirty="0" smtClean="0">
                <a:solidFill>
                  <a:schemeClr val="tx1">
                    <a:lumMod val="75000"/>
                    <a:lumOff val="25000"/>
                  </a:schemeClr>
                </a:solidFill>
                <a:latin typeface="+mj-lt"/>
              </a:rPr>
              <a:t/>
            </a:r>
            <a:br>
              <a:rPr lang="en-US" sz="2700" b="0" dirty="0" smtClean="0">
                <a:solidFill>
                  <a:schemeClr val="tx1">
                    <a:lumMod val="75000"/>
                    <a:lumOff val="25000"/>
                  </a:schemeClr>
                </a:solidFill>
                <a:latin typeface="+mj-lt"/>
              </a:rPr>
            </a:br>
            <a:endParaRPr lang="en-US" sz="2700" b="0" dirty="0">
              <a:solidFill>
                <a:schemeClr val="tx1">
                  <a:lumMod val="75000"/>
                  <a:lumOff val="25000"/>
                </a:schemeClr>
              </a:solidFill>
              <a:latin typeface="+mj-lt"/>
            </a:endParaRPr>
          </a:p>
        </p:txBody>
      </p:sp>
    </p:spTree>
    <p:extLst>
      <p:ext uri="{BB962C8B-B14F-4D97-AF65-F5344CB8AC3E}">
        <p14:creationId xmlns:p14="http://schemas.microsoft.com/office/powerpoint/2010/main" val="5210355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3124200"/>
          </a:xfrm>
        </p:spPr>
        <p:txBody>
          <a:bodyPr>
            <a:noAutofit/>
          </a:bodyPr>
          <a:lstStyle/>
          <a:p>
            <a:pPr marL="0" indent="0"/>
            <a:r>
              <a:rPr lang="en-US" dirty="0">
                <a:latin typeface="Calibri" pitchFamily="34" charset="0"/>
              </a:rPr>
              <a:t>Overview of the 2020 Census </a:t>
            </a:r>
            <a:r>
              <a:rPr lang="en-US" dirty="0"/>
              <a:t>Integrated Partnership and Communications (IPC) Program</a:t>
            </a:r>
            <a:endParaRPr lang="en-US" dirty="0">
              <a:latin typeface="Calibri" pitchFamily="34" charset="0"/>
            </a:endParaRPr>
          </a:p>
        </p:txBody>
      </p:sp>
      <p:sp>
        <p:nvSpPr>
          <p:cNvPr id="3" name="Content Placeholder 2"/>
          <p:cNvSpPr>
            <a:spLocks noGrp="1"/>
          </p:cNvSpPr>
          <p:nvPr>
            <p:ph idx="1"/>
          </p:nvPr>
        </p:nvSpPr>
        <p:spPr>
          <a:xfrm>
            <a:off x="533400" y="4008437"/>
            <a:ext cx="8153400" cy="1630363"/>
          </a:xfrm>
        </p:spPr>
        <p:txBody>
          <a:bodyPr>
            <a:normAutofit/>
          </a:bodyPr>
          <a:lstStyle/>
          <a:p>
            <a:pPr marL="0" indent="0" algn="ctr">
              <a:buNone/>
            </a:pPr>
            <a:endParaRPr lang="en-US" altLang="en-US" sz="1400" dirty="0">
              <a:latin typeface="Calibri" panose="020F0502020204030204" pitchFamily="34" charset="0"/>
              <a:cs typeface="Times New Roman" panose="02020603050405020304" pitchFamily="18" charset="0"/>
            </a:endParaRPr>
          </a:p>
          <a:p>
            <a:pPr marL="0" indent="0" algn="ctr">
              <a:spcBef>
                <a:spcPts val="0"/>
              </a:spcBef>
              <a:buNone/>
            </a:pPr>
            <a:r>
              <a:rPr lang="en-US" sz="2800" dirty="0">
                <a:cs typeface="Arial" pitchFamily="34" charset="0"/>
              </a:rPr>
              <a:t>Tasha Boone, </a:t>
            </a:r>
            <a:r>
              <a:rPr lang="en-US" sz="2400" dirty="0">
                <a:cs typeface="Arial" pitchFamily="34" charset="0"/>
              </a:rPr>
              <a:t>Decennial Directorate</a:t>
            </a:r>
          </a:p>
          <a:p>
            <a:pPr marL="0" indent="0" algn="ctr">
              <a:spcBef>
                <a:spcPts val="0"/>
              </a:spcBef>
              <a:buNone/>
            </a:pPr>
            <a:r>
              <a:rPr lang="en-US" sz="2800" dirty="0">
                <a:cs typeface="Arial" pitchFamily="34" charset="0"/>
              </a:rPr>
              <a:t>Kendall Johnson, </a:t>
            </a:r>
            <a:r>
              <a:rPr lang="en-US" sz="2400" dirty="0">
                <a:cs typeface="Arial" pitchFamily="34" charset="0"/>
              </a:rPr>
              <a:t>Communications Directorate</a:t>
            </a:r>
          </a:p>
        </p:txBody>
      </p:sp>
    </p:spTree>
    <p:extLst>
      <p:ext uri="{BB962C8B-B14F-4D97-AF65-F5344CB8AC3E}">
        <p14:creationId xmlns:p14="http://schemas.microsoft.com/office/powerpoint/2010/main" val="747694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2020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The Mission</a:t>
            </a:r>
            <a:endParaRPr lang="en-US" sz="2400" b="0" dirty="0">
              <a:solidFill>
                <a:schemeClr val="accent1"/>
              </a:solidFill>
              <a:latin typeface="+mn-lt"/>
            </a:endParaRPr>
          </a:p>
        </p:txBody>
      </p:sp>
      <p:sp>
        <p:nvSpPr>
          <p:cNvPr id="7" name="Content Placeholder 2"/>
          <p:cNvSpPr txBox="1">
            <a:spLocks/>
          </p:cNvSpPr>
          <p:nvPr/>
        </p:nvSpPr>
        <p:spPr>
          <a:xfrm>
            <a:off x="642026" y="2514600"/>
            <a:ext cx="8077200" cy="990600"/>
          </a:xfrm>
          <a:prstGeom prst="rect">
            <a:avLst/>
          </a:prstGeom>
        </p:spPr>
        <p:txBody>
          <a:bodyPr/>
          <a:lstStyle>
            <a:lvl1pPr marL="342900" indent="-342900" algn="l" defTabSz="457200" rtl="0" eaLnBrk="1" latinLnBrk="0" hangingPunct="1">
              <a:spcBef>
                <a:spcPct val="20000"/>
              </a:spcBef>
              <a:buClr>
                <a:srgbClr val="1C5696"/>
              </a:buClr>
              <a:buFont typeface="Arial"/>
              <a:buChar char="•"/>
              <a:defRPr sz="32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ts val="0"/>
              </a:spcBef>
              <a:buNone/>
              <a:defRPr/>
            </a:pPr>
            <a:r>
              <a:rPr lang="en-US" sz="3600" dirty="0">
                <a:latin typeface="+mj-lt"/>
                <a:cs typeface="Arial" panose="020B0604020202020204" pitchFamily="34" charset="0"/>
              </a:rPr>
              <a:t>Count everyone once</a:t>
            </a:r>
            <a:r>
              <a:rPr lang="en-US" sz="3600" dirty="0" smtClean="0">
                <a:latin typeface="+mj-lt"/>
                <a:cs typeface="Arial" panose="020B0604020202020204" pitchFamily="34" charset="0"/>
              </a:rPr>
              <a:t>,</a:t>
            </a:r>
            <a:r>
              <a:rPr lang="en-US" sz="3600" b="1" dirty="0" smtClean="0">
                <a:latin typeface="+mj-lt"/>
                <a:cs typeface="Arial" panose="020B0604020202020204" pitchFamily="34" charset="0"/>
              </a:rPr>
              <a:t> </a:t>
            </a:r>
            <a:r>
              <a:rPr lang="en-US" sz="3600" b="1" dirty="0">
                <a:latin typeface="+mj-lt"/>
                <a:cs typeface="Arial" panose="020B0604020202020204" pitchFamily="34" charset="0"/>
              </a:rPr>
              <a:t>only once</a:t>
            </a:r>
            <a:r>
              <a:rPr lang="en-US" sz="3600" dirty="0">
                <a:latin typeface="+mj-lt"/>
                <a:cs typeface="Arial" panose="020B0604020202020204" pitchFamily="34" charset="0"/>
              </a:rPr>
              <a:t>, and </a:t>
            </a:r>
            <a:endParaRPr lang="en-US" sz="3600" dirty="0" smtClean="0">
              <a:latin typeface="+mj-lt"/>
              <a:cs typeface="Arial" panose="020B0604020202020204" pitchFamily="34" charset="0"/>
            </a:endParaRPr>
          </a:p>
          <a:p>
            <a:pPr marL="0" indent="0" algn="ctr">
              <a:spcBef>
                <a:spcPts val="0"/>
              </a:spcBef>
              <a:buNone/>
              <a:defRPr/>
            </a:pPr>
            <a:r>
              <a:rPr lang="en-US" sz="3600" u="sng" dirty="0" smtClean="0">
                <a:latin typeface="+mj-lt"/>
                <a:cs typeface="Arial" panose="020B0604020202020204" pitchFamily="34" charset="0"/>
              </a:rPr>
              <a:t>in </a:t>
            </a:r>
            <a:r>
              <a:rPr lang="en-US" sz="3600" u="sng" dirty="0">
                <a:latin typeface="+mj-lt"/>
                <a:cs typeface="Arial" panose="020B0604020202020204" pitchFamily="34" charset="0"/>
              </a:rPr>
              <a:t>the right place</a:t>
            </a:r>
            <a:r>
              <a:rPr lang="en-US" sz="3600" dirty="0">
                <a:latin typeface="+mj-lt"/>
                <a:cs typeface="Arial" panose="020B0604020202020204" pitchFamily="34" charset="0"/>
              </a:rPr>
              <a:t>.</a:t>
            </a:r>
          </a:p>
          <a:p>
            <a:pPr marL="0" indent="0">
              <a:buNone/>
            </a:pPr>
            <a:endParaRPr lang="en-US" sz="4000" dirty="0" smtClean="0">
              <a:solidFill>
                <a:srgbClr val="0070C0"/>
              </a:solidFill>
              <a:latin typeface="+mn-lt"/>
            </a:endParaRPr>
          </a:p>
          <a:p>
            <a:endParaRPr lang="en-US" sz="1100" dirty="0">
              <a:solidFill>
                <a:srgbClr val="0070C0"/>
              </a:solidFill>
              <a:latin typeface="+mn-lt"/>
              <a:cs typeface="Arial" pitchFamily="34" charset="0"/>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13</a:t>
            </a:fld>
            <a:endParaRPr lang="en-US" dirty="0"/>
          </a:p>
        </p:txBody>
      </p:sp>
    </p:spTree>
    <p:extLst>
      <p:ext uri="{BB962C8B-B14F-4D97-AF65-F5344CB8AC3E}">
        <p14:creationId xmlns:p14="http://schemas.microsoft.com/office/powerpoint/2010/main" val="42779984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686800" cy="1143000"/>
          </a:xfrm>
          <a:prstGeom prst="rect">
            <a:avLst/>
          </a:prstGeom>
        </p:spPr>
        <p:txBody>
          <a:bodyPr>
            <a:normAutofit fontScale="90000"/>
          </a:bodyPr>
          <a:lstStyle/>
          <a:p>
            <a:pPr marL="0" indent="0" algn="l"/>
            <a:r>
              <a:rPr lang="en-US" sz="2800" b="0" dirty="0" smtClean="0">
                <a:solidFill>
                  <a:schemeClr val="tx1">
                    <a:lumMod val="75000"/>
                    <a:lumOff val="25000"/>
                  </a:schemeClr>
                </a:solidFill>
                <a:latin typeface="+mn-lt"/>
              </a:rPr>
              <a:t>2020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Purpose of the Integrated Partnership and Communications (IPC) </a:t>
            </a:r>
            <a:r>
              <a:rPr lang="en-US" sz="2400" b="0" dirty="0">
                <a:solidFill>
                  <a:schemeClr val="accent1"/>
                </a:solidFill>
                <a:latin typeface="+mj-lt"/>
              </a:rPr>
              <a:t>Program </a:t>
            </a:r>
          </a:p>
        </p:txBody>
      </p:sp>
      <p:sp>
        <p:nvSpPr>
          <p:cNvPr id="7" name="Content Placeholder 2"/>
          <p:cNvSpPr txBox="1">
            <a:spLocks/>
          </p:cNvSpPr>
          <p:nvPr/>
        </p:nvSpPr>
        <p:spPr>
          <a:xfrm>
            <a:off x="609600" y="1295400"/>
            <a:ext cx="8077200" cy="3962400"/>
          </a:xfrm>
          <a:prstGeom prst="rect">
            <a:avLst/>
          </a:prstGeom>
        </p:spPr>
        <p:txBody>
          <a:bodyPr/>
          <a:lstStyle>
            <a:lvl1pPr marL="342900" indent="-342900" algn="l" defTabSz="457200" rtl="0" eaLnBrk="1" latinLnBrk="0" hangingPunct="1">
              <a:spcBef>
                <a:spcPct val="20000"/>
              </a:spcBef>
              <a:buClr>
                <a:srgbClr val="1C5696"/>
              </a:buClr>
              <a:buFont typeface="Arial"/>
              <a:buChar char="•"/>
              <a:defRPr sz="32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1800" dirty="0">
              <a:latin typeface="+mn-lt"/>
              <a:cs typeface="Arial" panose="020B0604020202020204" pitchFamily="34" charset="0"/>
            </a:endParaRPr>
          </a:p>
          <a:p>
            <a:pPr marL="0" indent="0">
              <a:spcBef>
                <a:spcPts val="0"/>
              </a:spcBef>
              <a:buNone/>
              <a:defRPr/>
            </a:pPr>
            <a:endParaRPr lang="en-US" sz="1800" dirty="0" smtClean="0">
              <a:latin typeface="+mn-lt"/>
              <a:cs typeface="Arial" panose="020B0604020202020204" pitchFamily="34" charset="0"/>
            </a:endParaRPr>
          </a:p>
          <a:p>
            <a:pPr marL="0" indent="0">
              <a:spcBef>
                <a:spcPts val="0"/>
              </a:spcBef>
              <a:buNone/>
              <a:defRPr/>
            </a:pPr>
            <a:r>
              <a:rPr lang="en-US" sz="1800" dirty="0" smtClean="0">
                <a:latin typeface="+mn-lt"/>
                <a:cs typeface="Arial" panose="020B0604020202020204" pitchFamily="34" charset="0"/>
              </a:rPr>
              <a:t>To </a:t>
            </a:r>
            <a:r>
              <a:rPr lang="en-US" sz="1800" dirty="0">
                <a:latin typeface="+mn-lt"/>
                <a:cs typeface="Arial" panose="020B0604020202020204" pitchFamily="34" charset="0"/>
              </a:rPr>
              <a:t>communicate the importance of participating in the 2020 Census to the entire population of the 50 states, the District of Columbia, </a:t>
            </a:r>
            <a:r>
              <a:rPr lang="en-US" sz="1800" dirty="0" smtClean="0">
                <a:latin typeface="+mn-lt"/>
                <a:cs typeface="Arial" panose="020B0604020202020204" pitchFamily="34" charset="0"/>
              </a:rPr>
              <a:t>Puerto Rico and Island Areas:</a:t>
            </a:r>
          </a:p>
          <a:p>
            <a:pPr marL="0" indent="0">
              <a:spcBef>
                <a:spcPts val="0"/>
              </a:spcBef>
              <a:buNone/>
              <a:defRPr/>
            </a:pPr>
            <a:endParaRPr lang="en-US" sz="1800" dirty="0">
              <a:latin typeface="+mn-lt"/>
              <a:cs typeface="Arial" panose="020B0604020202020204" pitchFamily="34" charset="0"/>
            </a:endParaRPr>
          </a:p>
          <a:p>
            <a:pPr marL="857250" lvl="1" indent="-457200">
              <a:spcBef>
                <a:spcPts val="0"/>
              </a:spcBef>
              <a:buFont typeface="Wingdings" panose="05000000000000000000" pitchFamily="2" charset="2"/>
              <a:buChar char="§"/>
              <a:defRPr/>
            </a:pPr>
            <a:r>
              <a:rPr lang="en-US" sz="1800" dirty="0">
                <a:latin typeface="+mn-lt"/>
                <a:cs typeface="Arial" panose="020B0604020202020204" pitchFamily="34" charset="0"/>
              </a:rPr>
              <a:t>Engage and motivate people to self-respond, preferably via the Internet</a:t>
            </a:r>
          </a:p>
          <a:p>
            <a:pPr marL="685800" lvl="1">
              <a:spcBef>
                <a:spcPts val="0"/>
              </a:spcBef>
              <a:buFont typeface="Wingdings" panose="05000000000000000000" pitchFamily="2" charset="2"/>
              <a:buChar char="§"/>
              <a:defRPr/>
            </a:pPr>
            <a:endParaRPr lang="en-US" sz="1800" dirty="0">
              <a:latin typeface="+mn-lt"/>
              <a:cs typeface="Arial" panose="020B0604020202020204" pitchFamily="34" charset="0"/>
            </a:endParaRPr>
          </a:p>
          <a:p>
            <a:pPr marL="857250" lvl="1" indent="-457200">
              <a:spcBef>
                <a:spcPts val="0"/>
              </a:spcBef>
              <a:buFont typeface="Wingdings" panose="05000000000000000000" pitchFamily="2" charset="2"/>
              <a:buChar char="§"/>
              <a:defRPr/>
            </a:pPr>
            <a:r>
              <a:rPr lang="en-US" sz="1800" dirty="0">
                <a:latin typeface="+mn-lt"/>
                <a:cs typeface="Arial" panose="020B0604020202020204" pitchFamily="34" charset="0"/>
              </a:rPr>
              <a:t>Raise and keep awareness high throughout the entire 2020 Census to encourage response</a:t>
            </a:r>
          </a:p>
          <a:p>
            <a:endParaRPr lang="en-US" sz="1800" dirty="0" smtClean="0">
              <a:solidFill>
                <a:srgbClr val="0070C0"/>
              </a:solidFill>
              <a:latin typeface="+mn-lt"/>
            </a:endParaRPr>
          </a:p>
          <a:p>
            <a:endParaRPr lang="en-US" sz="1800" dirty="0">
              <a:solidFill>
                <a:srgbClr val="0070C0"/>
              </a:solidFill>
              <a:latin typeface="+mn-lt"/>
              <a:cs typeface="Arial" pitchFamily="34" charset="0"/>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14</a:t>
            </a:fld>
            <a:endParaRPr lang="en-US" dirty="0"/>
          </a:p>
        </p:txBody>
      </p:sp>
    </p:spTree>
    <p:extLst>
      <p:ext uri="{BB962C8B-B14F-4D97-AF65-F5344CB8AC3E}">
        <p14:creationId xmlns:p14="http://schemas.microsoft.com/office/powerpoint/2010/main" val="29396469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009520" y="2578042"/>
            <a:ext cx="2144548" cy="2635745"/>
            <a:chOff x="1478663" y="2205048"/>
            <a:chExt cx="2144548" cy="2635745"/>
          </a:xfrm>
        </p:grpSpPr>
        <p:sp>
          <p:nvSpPr>
            <p:cNvPr id="17" name="Block Arc 2048"/>
            <p:cNvSpPr/>
            <p:nvPr/>
          </p:nvSpPr>
          <p:spPr>
            <a:xfrm rot="18008335">
              <a:off x="1233064" y="2450647"/>
              <a:ext cx="2635745" cy="2144548"/>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745" h="2144548">
                  <a:moveTo>
                    <a:pt x="0" y="1429842"/>
                  </a:moveTo>
                  <a:cubicBezTo>
                    <a:pt x="510967" y="551369"/>
                    <a:pt x="1451751" y="7375"/>
                    <a:pt x="2472772" y="0"/>
                  </a:cubicBezTo>
                  <a:cubicBezTo>
                    <a:pt x="2477879" y="63934"/>
                    <a:pt x="2469673" y="495598"/>
                    <a:pt x="2473803" y="513282"/>
                  </a:cubicBezTo>
                  <a:cubicBezTo>
                    <a:pt x="2671619" y="563507"/>
                    <a:pt x="2704795" y="850226"/>
                    <a:pt x="2480153" y="915713"/>
                  </a:cubicBezTo>
                  <a:cubicBezTo>
                    <a:pt x="2481730" y="1069306"/>
                    <a:pt x="2483405" y="1199079"/>
                    <a:pt x="2483268" y="1434841"/>
                  </a:cubicBezTo>
                  <a:cubicBezTo>
                    <a:pt x="1972264" y="1438486"/>
                    <a:pt x="1501186" y="1708320"/>
                    <a:pt x="1244254" y="2144548"/>
                  </a:cubicBezTo>
                  <a:lnTo>
                    <a:pt x="797403" y="1880119"/>
                  </a:lnTo>
                  <a:cubicBezTo>
                    <a:pt x="854554" y="1695969"/>
                    <a:pt x="635479" y="1518963"/>
                    <a:pt x="447360" y="1684857"/>
                  </a:cubicBezTo>
                  <a:lnTo>
                    <a:pt x="0" y="1429842"/>
                  </a:lnTo>
                  <a:close/>
                </a:path>
              </a:pathLst>
            </a:custGeom>
            <a:solidFill>
              <a:srgbClr val="67ABF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TextBox 17"/>
            <p:cNvSpPr txBox="1"/>
            <p:nvPr/>
          </p:nvSpPr>
          <p:spPr>
            <a:xfrm>
              <a:off x="1835696" y="2896488"/>
              <a:ext cx="1447800" cy="892552"/>
            </a:xfrm>
            <a:prstGeom prst="rect">
              <a:avLst/>
            </a:prstGeom>
            <a:noFill/>
          </p:spPr>
          <p:txBody>
            <a:bodyPr wrap="square" rtlCol="0">
              <a:spAutoFit/>
            </a:bodyPr>
            <a:lstStyle/>
            <a:p>
              <a:pPr algn="ctr"/>
              <a:r>
                <a:rPr lang="en-US" sz="2600" b="1" dirty="0" smtClean="0">
                  <a:solidFill>
                    <a:schemeClr val="bg1"/>
                  </a:solidFill>
                </a:rPr>
                <a:t> Earned Media</a:t>
              </a:r>
              <a:endParaRPr lang="en-US" sz="2600" b="1" dirty="0">
                <a:solidFill>
                  <a:schemeClr val="bg1"/>
                </a:solidFill>
              </a:endParaRPr>
            </a:p>
          </p:txBody>
        </p:sp>
      </p:grpSp>
      <p:grpSp>
        <p:nvGrpSpPr>
          <p:cNvPr id="5" name="Group 4"/>
          <p:cNvGrpSpPr/>
          <p:nvPr/>
        </p:nvGrpSpPr>
        <p:grpSpPr>
          <a:xfrm>
            <a:off x="6030850" y="4522074"/>
            <a:ext cx="2635745" cy="2144548"/>
            <a:chOff x="4499993" y="4149080"/>
            <a:chExt cx="2635745" cy="2144548"/>
          </a:xfrm>
        </p:grpSpPr>
        <p:sp>
          <p:nvSpPr>
            <p:cNvPr id="12" name="Block Arc 2048"/>
            <p:cNvSpPr/>
            <p:nvPr/>
          </p:nvSpPr>
          <p:spPr>
            <a:xfrm rot="10800000">
              <a:off x="4499993" y="4149080"/>
              <a:ext cx="2635745" cy="2144548"/>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745" h="2144548">
                  <a:moveTo>
                    <a:pt x="0" y="1429842"/>
                  </a:moveTo>
                  <a:cubicBezTo>
                    <a:pt x="510967" y="551369"/>
                    <a:pt x="1451751" y="7375"/>
                    <a:pt x="2472772" y="0"/>
                  </a:cubicBezTo>
                  <a:cubicBezTo>
                    <a:pt x="2477879" y="63934"/>
                    <a:pt x="2469673" y="495598"/>
                    <a:pt x="2473803" y="513282"/>
                  </a:cubicBezTo>
                  <a:cubicBezTo>
                    <a:pt x="2671619" y="563507"/>
                    <a:pt x="2704795" y="850226"/>
                    <a:pt x="2480153" y="915713"/>
                  </a:cubicBezTo>
                  <a:cubicBezTo>
                    <a:pt x="2481730" y="1069306"/>
                    <a:pt x="2483405" y="1199079"/>
                    <a:pt x="2483268" y="1434841"/>
                  </a:cubicBezTo>
                  <a:cubicBezTo>
                    <a:pt x="1972264" y="1438486"/>
                    <a:pt x="1501186" y="1708320"/>
                    <a:pt x="1244254" y="2144548"/>
                  </a:cubicBezTo>
                  <a:lnTo>
                    <a:pt x="797403" y="1880119"/>
                  </a:lnTo>
                  <a:cubicBezTo>
                    <a:pt x="854554" y="1695969"/>
                    <a:pt x="635479" y="1518963"/>
                    <a:pt x="447360" y="1684857"/>
                  </a:cubicBezTo>
                  <a:lnTo>
                    <a:pt x="0" y="1429842"/>
                  </a:lnTo>
                  <a:close/>
                </a:path>
              </a:pathLst>
            </a:custGeom>
            <a:solidFill>
              <a:srgbClr val="0F70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TextBox 18"/>
            <p:cNvSpPr txBox="1"/>
            <p:nvPr/>
          </p:nvSpPr>
          <p:spPr>
            <a:xfrm>
              <a:off x="4794712" y="4797152"/>
              <a:ext cx="1793512" cy="892552"/>
            </a:xfrm>
            <a:prstGeom prst="rect">
              <a:avLst/>
            </a:prstGeom>
            <a:noFill/>
          </p:spPr>
          <p:txBody>
            <a:bodyPr wrap="square" rtlCol="0">
              <a:spAutoFit/>
            </a:bodyPr>
            <a:lstStyle/>
            <a:p>
              <a:pPr algn="ctr"/>
              <a:r>
                <a:rPr lang="en-US" sz="2600" b="1" dirty="0" smtClean="0">
                  <a:solidFill>
                    <a:schemeClr val="bg1"/>
                  </a:solidFill>
                </a:rPr>
                <a:t>Statistics</a:t>
              </a:r>
            </a:p>
            <a:p>
              <a:pPr algn="ctr"/>
              <a:r>
                <a:rPr lang="en-US" sz="2600" b="1" dirty="0" smtClean="0">
                  <a:solidFill>
                    <a:schemeClr val="bg1"/>
                  </a:solidFill>
                </a:rPr>
                <a:t> in Schools</a:t>
              </a:r>
              <a:endParaRPr lang="en-US" sz="2600" b="1" dirty="0">
                <a:solidFill>
                  <a:schemeClr val="bg1"/>
                </a:solidFill>
              </a:endParaRPr>
            </a:p>
          </p:txBody>
        </p:sp>
      </p:grpSp>
      <p:grpSp>
        <p:nvGrpSpPr>
          <p:cNvPr id="6" name="Group 5"/>
          <p:cNvGrpSpPr/>
          <p:nvPr/>
        </p:nvGrpSpPr>
        <p:grpSpPr>
          <a:xfrm>
            <a:off x="4130041" y="4374655"/>
            <a:ext cx="2177899" cy="2635745"/>
            <a:chOff x="2599184" y="4001661"/>
            <a:chExt cx="2177899" cy="2635745"/>
          </a:xfrm>
        </p:grpSpPr>
        <p:sp>
          <p:nvSpPr>
            <p:cNvPr id="16" name="Block Arc 2048"/>
            <p:cNvSpPr/>
            <p:nvPr/>
          </p:nvSpPr>
          <p:spPr>
            <a:xfrm rot="14436269">
              <a:off x="2386936" y="4247260"/>
              <a:ext cx="2635745" cy="2144548"/>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745" h="2144548">
                  <a:moveTo>
                    <a:pt x="0" y="1429842"/>
                  </a:moveTo>
                  <a:cubicBezTo>
                    <a:pt x="510967" y="551369"/>
                    <a:pt x="1451751" y="7375"/>
                    <a:pt x="2472772" y="0"/>
                  </a:cubicBezTo>
                  <a:cubicBezTo>
                    <a:pt x="2477879" y="63934"/>
                    <a:pt x="2469673" y="495598"/>
                    <a:pt x="2473803" y="513282"/>
                  </a:cubicBezTo>
                  <a:cubicBezTo>
                    <a:pt x="2671619" y="563507"/>
                    <a:pt x="2704795" y="850226"/>
                    <a:pt x="2480153" y="915713"/>
                  </a:cubicBezTo>
                  <a:cubicBezTo>
                    <a:pt x="2481730" y="1069306"/>
                    <a:pt x="2483405" y="1199079"/>
                    <a:pt x="2483268" y="1434841"/>
                  </a:cubicBezTo>
                  <a:cubicBezTo>
                    <a:pt x="1972264" y="1438486"/>
                    <a:pt x="1501186" y="1708320"/>
                    <a:pt x="1244254" y="2144548"/>
                  </a:cubicBezTo>
                  <a:lnTo>
                    <a:pt x="797403" y="1880119"/>
                  </a:lnTo>
                  <a:cubicBezTo>
                    <a:pt x="854554" y="1695969"/>
                    <a:pt x="635479" y="1518963"/>
                    <a:pt x="447360" y="1684857"/>
                  </a:cubicBezTo>
                  <a:lnTo>
                    <a:pt x="0" y="1429842"/>
                  </a:lnTo>
                  <a:close/>
                </a:path>
              </a:pathLst>
            </a:custGeom>
            <a:solidFill>
              <a:srgbClr val="2887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p:cNvSpPr txBox="1"/>
            <p:nvPr/>
          </p:nvSpPr>
          <p:spPr>
            <a:xfrm>
              <a:off x="2599184" y="4916777"/>
              <a:ext cx="1828800" cy="492443"/>
            </a:xfrm>
            <a:prstGeom prst="rect">
              <a:avLst/>
            </a:prstGeom>
            <a:noFill/>
          </p:spPr>
          <p:txBody>
            <a:bodyPr wrap="square" rtlCol="0">
              <a:spAutoFit/>
            </a:bodyPr>
            <a:lstStyle/>
            <a:p>
              <a:r>
                <a:rPr lang="en-US" sz="2600" b="1" dirty="0" smtClean="0">
                  <a:solidFill>
                    <a:schemeClr val="bg1"/>
                  </a:solidFill>
                </a:rPr>
                <a:t>Advertising</a:t>
              </a:r>
              <a:endParaRPr lang="en-US" sz="2600" b="1" dirty="0">
                <a:solidFill>
                  <a:schemeClr val="bg1"/>
                </a:solidFill>
              </a:endParaRPr>
            </a:p>
          </p:txBody>
        </p:sp>
      </p:grpSp>
      <p:grpSp>
        <p:nvGrpSpPr>
          <p:cNvPr id="2" name="Group 1"/>
          <p:cNvGrpSpPr/>
          <p:nvPr/>
        </p:nvGrpSpPr>
        <p:grpSpPr>
          <a:xfrm>
            <a:off x="3717160" y="921750"/>
            <a:ext cx="2635745" cy="2144548"/>
            <a:chOff x="2186303" y="548756"/>
            <a:chExt cx="2635745" cy="2144548"/>
          </a:xfrm>
        </p:grpSpPr>
        <p:sp>
          <p:nvSpPr>
            <p:cNvPr id="2049" name="Block Arc 2048"/>
            <p:cNvSpPr/>
            <p:nvPr/>
          </p:nvSpPr>
          <p:spPr>
            <a:xfrm>
              <a:off x="2186303" y="548756"/>
              <a:ext cx="2635745" cy="2144548"/>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745" h="2144548">
                  <a:moveTo>
                    <a:pt x="0" y="1429842"/>
                  </a:moveTo>
                  <a:cubicBezTo>
                    <a:pt x="510967" y="551369"/>
                    <a:pt x="1451751" y="7375"/>
                    <a:pt x="2472772" y="0"/>
                  </a:cubicBezTo>
                  <a:cubicBezTo>
                    <a:pt x="2477879" y="63934"/>
                    <a:pt x="2469673" y="495598"/>
                    <a:pt x="2473803" y="513282"/>
                  </a:cubicBezTo>
                  <a:cubicBezTo>
                    <a:pt x="2671619" y="563507"/>
                    <a:pt x="2704795" y="850226"/>
                    <a:pt x="2480153" y="915713"/>
                  </a:cubicBezTo>
                  <a:cubicBezTo>
                    <a:pt x="2481730" y="1069306"/>
                    <a:pt x="2483405" y="1199079"/>
                    <a:pt x="2483268" y="1434841"/>
                  </a:cubicBezTo>
                  <a:cubicBezTo>
                    <a:pt x="1972264" y="1438486"/>
                    <a:pt x="1501186" y="1708320"/>
                    <a:pt x="1244254" y="2144548"/>
                  </a:cubicBezTo>
                  <a:lnTo>
                    <a:pt x="797403" y="1880119"/>
                  </a:lnTo>
                  <a:cubicBezTo>
                    <a:pt x="854554" y="1695969"/>
                    <a:pt x="635479" y="1518963"/>
                    <a:pt x="447360" y="1684857"/>
                  </a:cubicBezTo>
                  <a:lnTo>
                    <a:pt x="0" y="1429842"/>
                  </a:lnTo>
                  <a:close/>
                </a:path>
              </a:pathLst>
            </a:custGeom>
            <a:solidFill>
              <a:srgbClr val="0942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TextBox 20"/>
            <p:cNvSpPr txBox="1"/>
            <p:nvPr/>
          </p:nvSpPr>
          <p:spPr>
            <a:xfrm>
              <a:off x="2735796" y="1352381"/>
              <a:ext cx="1926624" cy="492443"/>
            </a:xfrm>
            <a:prstGeom prst="rect">
              <a:avLst/>
            </a:prstGeom>
            <a:noFill/>
          </p:spPr>
          <p:txBody>
            <a:bodyPr wrap="square" rtlCol="0">
              <a:spAutoFit/>
            </a:bodyPr>
            <a:lstStyle/>
            <a:p>
              <a:r>
                <a:rPr lang="en-US" sz="2600" b="1" dirty="0" smtClean="0">
                  <a:solidFill>
                    <a:schemeClr val="bg1"/>
                  </a:solidFill>
                </a:rPr>
                <a:t>Partnership</a:t>
              </a:r>
              <a:endParaRPr lang="en-US" sz="2600" b="1" dirty="0">
                <a:solidFill>
                  <a:schemeClr val="bg1"/>
                </a:solidFill>
              </a:endParaRPr>
            </a:p>
          </p:txBody>
        </p:sp>
      </p:grpSp>
      <p:grpSp>
        <p:nvGrpSpPr>
          <p:cNvPr id="3" name="Group 2"/>
          <p:cNvGrpSpPr/>
          <p:nvPr/>
        </p:nvGrpSpPr>
        <p:grpSpPr>
          <a:xfrm>
            <a:off x="5742817" y="551263"/>
            <a:ext cx="3069624" cy="2635745"/>
            <a:chOff x="4211960" y="178269"/>
            <a:chExt cx="3069624" cy="2635745"/>
          </a:xfrm>
        </p:grpSpPr>
        <p:sp>
          <p:nvSpPr>
            <p:cNvPr id="10" name="Block Arc 2048"/>
            <p:cNvSpPr/>
            <p:nvPr/>
          </p:nvSpPr>
          <p:spPr>
            <a:xfrm rot="3555064">
              <a:off x="4309395" y="423868"/>
              <a:ext cx="2635745" cy="2144548"/>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745" h="2144548">
                  <a:moveTo>
                    <a:pt x="0" y="1429842"/>
                  </a:moveTo>
                  <a:cubicBezTo>
                    <a:pt x="510967" y="551369"/>
                    <a:pt x="1451751" y="7375"/>
                    <a:pt x="2472772" y="0"/>
                  </a:cubicBezTo>
                  <a:cubicBezTo>
                    <a:pt x="2477879" y="63934"/>
                    <a:pt x="2469673" y="495598"/>
                    <a:pt x="2473803" y="513282"/>
                  </a:cubicBezTo>
                  <a:cubicBezTo>
                    <a:pt x="2671619" y="563507"/>
                    <a:pt x="2704795" y="850226"/>
                    <a:pt x="2480153" y="915713"/>
                  </a:cubicBezTo>
                  <a:cubicBezTo>
                    <a:pt x="2481730" y="1069306"/>
                    <a:pt x="2483405" y="1199079"/>
                    <a:pt x="2483268" y="1434841"/>
                  </a:cubicBezTo>
                  <a:cubicBezTo>
                    <a:pt x="1972264" y="1438486"/>
                    <a:pt x="1501186" y="1708320"/>
                    <a:pt x="1244254" y="2144548"/>
                  </a:cubicBezTo>
                  <a:lnTo>
                    <a:pt x="797403" y="1880119"/>
                  </a:lnTo>
                  <a:cubicBezTo>
                    <a:pt x="854554" y="1695969"/>
                    <a:pt x="635479" y="1518963"/>
                    <a:pt x="447360" y="1684857"/>
                  </a:cubicBezTo>
                  <a:lnTo>
                    <a:pt x="0" y="1429842"/>
                  </a:lnTo>
                  <a:close/>
                </a:path>
              </a:pathLst>
            </a:custGeom>
            <a:solidFill>
              <a:srgbClr val="0A4C9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TextBox 21"/>
            <p:cNvSpPr txBox="1"/>
            <p:nvPr/>
          </p:nvSpPr>
          <p:spPr>
            <a:xfrm>
              <a:off x="4211960" y="1132292"/>
              <a:ext cx="3069624" cy="892552"/>
            </a:xfrm>
            <a:prstGeom prst="rect">
              <a:avLst/>
            </a:prstGeom>
            <a:noFill/>
          </p:spPr>
          <p:txBody>
            <a:bodyPr wrap="square" rtlCol="0">
              <a:spAutoFit/>
            </a:bodyPr>
            <a:lstStyle/>
            <a:p>
              <a:pPr algn="ctr"/>
              <a:r>
                <a:rPr lang="en-US" sz="2600" b="1" dirty="0" smtClean="0">
                  <a:solidFill>
                    <a:schemeClr val="bg1"/>
                  </a:solidFill>
                </a:rPr>
                <a:t>Social</a:t>
              </a:r>
            </a:p>
            <a:p>
              <a:pPr algn="ctr"/>
              <a:r>
                <a:rPr lang="en-US" sz="2600" b="1" dirty="0" smtClean="0">
                  <a:solidFill>
                    <a:schemeClr val="bg1"/>
                  </a:solidFill>
                </a:rPr>
                <a:t>Media</a:t>
              </a:r>
              <a:endParaRPr lang="en-US" sz="2600" b="1" dirty="0">
                <a:solidFill>
                  <a:schemeClr val="bg1"/>
                </a:solidFill>
              </a:endParaRPr>
            </a:p>
          </p:txBody>
        </p:sp>
      </p:grpSp>
      <p:grpSp>
        <p:nvGrpSpPr>
          <p:cNvPr id="4" name="Group 3"/>
          <p:cNvGrpSpPr/>
          <p:nvPr/>
        </p:nvGrpSpPr>
        <p:grpSpPr>
          <a:xfrm>
            <a:off x="7203805" y="2302834"/>
            <a:ext cx="2168795" cy="2723897"/>
            <a:chOff x="5672948" y="1929840"/>
            <a:chExt cx="2168795" cy="2723897"/>
          </a:xfrm>
        </p:grpSpPr>
        <p:sp>
          <p:nvSpPr>
            <p:cNvPr id="11" name="Block Arc 2048"/>
            <p:cNvSpPr/>
            <p:nvPr/>
          </p:nvSpPr>
          <p:spPr>
            <a:xfrm rot="7103625">
              <a:off x="5426467" y="2238462"/>
              <a:ext cx="2723897" cy="2106654"/>
            </a:xfrm>
            <a:custGeom>
              <a:avLst/>
              <a:gdLst>
                <a:gd name="connsiteX0" fmla="*/ 386611 w 5760640"/>
                <a:gd name="connsiteY0" fmla="*/ 1429918 h 5724636"/>
                <a:gd name="connsiteX1" fmla="*/ 2859383 w 5760640"/>
                <a:gd name="connsiteY1" fmla="*/ 76 h 5724636"/>
                <a:gd name="connsiteX2" fmla="*/ 2869879 w 5760640"/>
                <a:gd name="connsiteY2" fmla="*/ 1434917 h 5724636"/>
                <a:gd name="connsiteX3" fmla="*/ 1630865 w 5760640"/>
                <a:gd name="connsiteY3" fmla="*/ 2144624 h 5724636"/>
                <a:gd name="connsiteX4" fmla="*/ 386611 w 5760640"/>
                <a:gd name="connsiteY4" fmla="*/ 1429918 h 5724636"/>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447360 w 2483268"/>
                <a:gd name="connsiteY4" fmla="*/ 1684857 h 2144548"/>
                <a:gd name="connsiteX5" fmla="*/ 0 w 2483268"/>
                <a:gd name="connsiteY5"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483268"/>
                <a:gd name="connsiteY0" fmla="*/ 1429842 h 2144548"/>
                <a:gd name="connsiteX1" fmla="*/ 2472772 w 2483268"/>
                <a:gd name="connsiteY1" fmla="*/ 0 h 2144548"/>
                <a:gd name="connsiteX2" fmla="*/ 2483268 w 2483268"/>
                <a:gd name="connsiteY2" fmla="*/ 1434841 h 2144548"/>
                <a:gd name="connsiteX3" fmla="*/ 1244254 w 2483268"/>
                <a:gd name="connsiteY3" fmla="*/ 2144548 h 2144548"/>
                <a:gd name="connsiteX4" fmla="*/ 797403 w 2483268"/>
                <a:gd name="connsiteY4" fmla="*/ 1880119 h 2144548"/>
                <a:gd name="connsiteX5" fmla="*/ 447360 w 2483268"/>
                <a:gd name="connsiteY5" fmla="*/ 1684857 h 2144548"/>
                <a:gd name="connsiteX6" fmla="*/ 0 w 2483268"/>
                <a:gd name="connsiteY6" fmla="*/ 1429842 h 2144548"/>
                <a:gd name="connsiteX0" fmla="*/ 0 w 2655895"/>
                <a:gd name="connsiteY0" fmla="*/ 1462071 h 2176777"/>
                <a:gd name="connsiteX1" fmla="*/ 2472772 w 2655895"/>
                <a:gd name="connsiteY1" fmla="*/ 32229 h 2176777"/>
                <a:gd name="connsiteX2" fmla="*/ 2473803 w 2655895"/>
                <a:gd name="connsiteY2" fmla="*/ 545511 h 2176777"/>
                <a:gd name="connsiteX3" fmla="*/ 2483268 w 2655895"/>
                <a:gd name="connsiteY3" fmla="*/ 1467070 h 2176777"/>
                <a:gd name="connsiteX4" fmla="*/ 1244254 w 2655895"/>
                <a:gd name="connsiteY4" fmla="*/ 2176777 h 2176777"/>
                <a:gd name="connsiteX5" fmla="*/ 797403 w 2655895"/>
                <a:gd name="connsiteY5" fmla="*/ 1912348 h 2176777"/>
                <a:gd name="connsiteX6" fmla="*/ 447360 w 2655895"/>
                <a:gd name="connsiteY6" fmla="*/ 1717086 h 2176777"/>
                <a:gd name="connsiteX7" fmla="*/ 0 w 2655895"/>
                <a:gd name="connsiteY7" fmla="*/ 1462071 h 2176777"/>
                <a:gd name="connsiteX0" fmla="*/ 0 w 2658568"/>
                <a:gd name="connsiteY0" fmla="*/ 1461063 h 2175769"/>
                <a:gd name="connsiteX1" fmla="*/ 2472772 w 2658568"/>
                <a:gd name="connsiteY1" fmla="*/ 31221 h 2175769"/>
                <a:gd name="connsiteX2" fmla="*/ 2473803 w 2658568"/>
                <a:gd name="connsiteY2" fmla="*/ 544503 h 2175769"/>
                <a:gd name="connsiteX3" fmla="*/ 2483268 w 2658568"/>
                <a:gd name="connsiteY3" fmla="*/ 1466062 h 2175769"/>
                <a:gd name="connsiteX4" fmla="*/ 1244254 w 2658568"/>
                <a:gd name="connsiteY4" fmla="*/ 2175769 h 2175769"/>
                <a:gd name="connsiteX5" fmla="*/ 797403 w 2658568"/>
                <a:gd name="connsiteY5" fmla="*/ 1911340 h 2175769"/>
                <a:gd name="connsiteX6" fmla="*/ 447360 w 2658568"/>
                <a:gd name="connsiteY6" fmla="*/ 1716078 h 2175769"/>
                <a:gd name="connsiteX7" fmla="*/ 0 w 2658568"/>
                <a:gd name="connsiteY7" fmla="*/ 1461063 h 2175769"/>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572327"/>
                <a:gd name="connsiteY0" fmla="*/ 1429842 h 2144548"/>
                <a:gd name="connsiteX1" fmla="*/ 2472772 w 2572327"/>
                <a:gd name="connsiteY1" fmla="*/ 0 h 2144548"/>
                <a:gd name="connsiteX2" fmla="*/ 2473803 w 2572327"/>
                <a:gd name="connsiteY2" fmla="*/ 513282 h 2144548"/>
                <a:gd name="connsiteX3" fmla="*/ 2483268 w 2572327"/>
                <a:gd name="connsiteY3" fmla="*/ 1434841 h 2144548"/>
                <a:gd name="connsiteX4" fmla="*/ 1244254 w 2572327"/>
                <a:gd name="connsiteY4" fmla="*/ 2144548 h 2144548"/>
                <a:gd name="connsiteX5" fmla="*/ 797403 w 2572327"/>
                <a:gd name="connsiteY5" fmla="*/ 1880119 h 2144548"/>
                <a:gd name="connsiteX6" fmla="*/ 447360 w 2572327"/>
                <a:gd name="connsiteY6" fmla="*/ 1684857 h 2144548"/>
                <a:gd name="connsiteX7" fmla="*/ 0 w 2572327"/>
                <a:gd name="connsiteY7" fmla="*/ 1429842 h 2144548"/>
                <a:gd name="connsiteX0" fmla="*/ 0 w 2484391"/>
                <a:gd name="connsiteY0" fmla="*/ 1429842 h 2144548"/>
                <a:gd name="connsiteX1" fmla="*/ 2472772 w 2484391"/>
                <a:gd name="connsiteY1" fmla="*/ 0 h 2144548"/>
                <a:gd name="connsiteX2" fmla="*/ 2473803 w 2484391"/>
                <a:gd name="connsiteY2" fmla="*/ 513282 h 2144548"/>
                <a:gd name="connsiteX3" fmla="*/ 2483268 w 2484391"/>
                <a:gd name="connsiteY3" fmla="*/ 1434841 h 2144548"/>
                <a:gd name="connsiteX4" fmla="*/ 1244254 w 2484391"/>
                <a:gd name="connsiteY4" fmla="*/ 2144548 h 2144548"/>
                <a:gd name="connsiteX5" fmla="*/ 797403 w 2484391"/>
                <a:gd name="connsiteY5" fmla="*/ 1880119 h 2144548"/>
                <a:gd name="connsiteX6" fmla="*/ 447360 w 2484391"/>
                <a:gd name="connsiteY6" fmla="*/ 1684857 h 2144548"/>
                <a:gd name="connsiteX7" fmla="*/ 0 w 2484391"/>
                <a:gd name="connsiteY7" fmla="*/ 1429842 h 2144548"/>
                <a:gd name="connsiteX0" fmla="*/ 0 w 2483268"/>
                <a:gd name="connsiteY0" fmla="*/ 1429842 h 2144548"/>
                <a:gd name="connsiteX1" fmla="*/ 2472772 w 2483268"/>
                <a:gd name="connsiteY1" fmla="*/ 0 h 2144548"/>
                <a:gd name="connsiteX2" fmla="*/ 2473803 w 2483268"/>
                <a:gd name="connsiteY2" fmla="*/ 513282 h 2144548"/>
                <a:gd name="connsiteX3" fmla="*/ 2483268 w 2483268"/>
                <a:gd name="connsiteY3" fmla="*/ 1434841 h 2144548"/>
                <a:gd name="connsiteX4" fmla="*/ 1244254 w 2483268"/>
                <a:gd name="connsiteY4" fmla="*/ 2144548 h 2144548"/>
                <a:gd name="connsiteX5" fmla="*/ 797403 w 2483268"/>
                <a:gd name="connsiteY5" fmla="*/ 1880119 h 2144548"/>
                <a:gd name="connsiteX6" fmla="*/ 447360 w 2483268"/>
                <a:gd name="connsiteY6" fmla="*/ 1684857 h 2144548"/>
                <a:gd name="connsiteX7" fmla="*/ 0 w 2483268"/>
                <a:gd name="connsiteY7" fmla="*/ 1429842 h 2144548"/>
                <a:gd name="connsiteX0" fmla="*/ 0 w 2572290"/>
                <a:gd name="connsiteY0" fmla="*/ 1429842 h 2144548"/>
                <a:gd name="connsiteX1" fmla="*/ 2472772 w 2572290"/>
                <a:gd name="connsiteY1" fmla="*/ 0 h 2144548"/>
                <a:gd name="connsiteX2" fmla="*/ 2473803 w 2572290"/>
                <a:gd name="connsiteY2" fmla="*/ 513282 h 2144548"/>
                <a:gd name="connsiteX3" fmla="*/ 2473803 w 2572290"/>
                <a:gd name="connsiteY3" fmla="*/ 915713 h 2144548"/>
                <a:gd name="connsiteX4" fmla="*/ 2483268 w 2572290"/>
                <a:gd name="connsiteY4" fmla="*/ 1434841 h 2144548"/>
                <a:gd name="connsiteX5" fmla="*/ 1244254 w 2572290"/>
                <a:gd name="connsiteY5" fmla="*/ 2144548 h 2144548"/>
                <a:gd name="connsiteX6" fmla="*/ 797403 w 2572290"/>
                <a:gd name="connsiteY6" fmla="*/ 1880119 h 2144548"/>
                <a:gd name="connsiteX7" fmla="*/ 447360 w 2572290"/>
                <a:gd name="connsiteY7" fmla="*/ 1684857 h 2144548"/>
                <a:gd name="connsiteX8" fmla="*/ 0 w 2572290"/>
                <a:gd name="connsiteY8" fmla="*/ 1429842 h 2144548"/>
                <a:gd name="connsiteX0" fmla="*/ 0 w 2483269"/>
                <a:gd name="connsiteY0" fmla="*/ 1429842 h 2144548"/>
                <a:gd name="connsiteX1" fmla="*/ 2472772 w 2483269"/>
                <a:gd name="connsiteY1" fmla="*/ 0 h 2144548"/>
                <a:gd name="connsiteX2" fmla="*/ 2473803 w 2483269"/>
                <a:gd name="connsiteY2" fmla="*/ 513282 h 2144548"/>
                <a:gd name="connsiteX3" fmla="*/ 2473803 w 2483269"/>
                <a:gd name="connsiteY3" fmla="*/ 915713 h 2144548"/>
                <a:gd name="connsiteX4" fmla="*/ 2483268 w 2483269"/>
                <a:gd name="connsiteY4" fmla="*/ 1434841 h 2144548"/>
                <a:gd name="connsiteX5" fmla="*/ 1244254 w 2483269"/>
                <a:gd name="connsiteY5" fmla="*/ 2144548 h 2144548"/>
                <a:gd name="connsiteX6" fmla="*/ 797403 w 2483269"/>
                <a:gd name="connsiteY6" fmla="*/ 1880119 h 2144548"/>
                <a:gd name="connsiteX7" fmla="*/ 447360 w 2483269"/>
                <a:gd name="connsiteY7" fmla="*/ 1684857 h 2144548"/>
                <a:gd name="connsiteX8" fmla="*/ 0 w 2483269"/>
                <a:gd name="connsiteY8" fmla="*/ 1429842 h 2144548"/>
                <a:gd name="connsiteX0" fmla="*/ 0 w 2565215"/>
                <a:gd name="connsiteY0" fmla="*/ 1429842 h 2144548"/>
                <a:gd name="connsiteX1" fmla="*/ 2472772 w 2565215"/>
                <a:gd name="connsiteY1" fmla="*/ 0 h 2144548"/>
                <a:gd name="connsiteX2" fmla="*/ 2473803 w 2565215"/>
                <a:gd name="connsiteY2" fmla="*/ 513282 h 2144548"/>
                <a:gd name="connsiteX3" fmla="*/ 2473803 w 2565215"/>
                <a:gd name="connsiteY3" fmla="*/ 915713 h 2144548"/>
                <a:gd name="connsiteX4" fmla="*/ 2483268 w 2565215"/>
                <a:gd name="connsiteY4" fmla="*/ 1434841 h 2144548"/>
                <a:gd name="connsiteX5" fmla="*/ 1244254 w 2565215"/>
                <a:gd name="connsiteY5" fmla="*/ 2144548 h 2144548"/>
                <a:gd name="connsiteX6" fmla="*/ 797403 w 2565215"/>
                <a:gd name="connsiteY6" fmla="*/ 1880119 h 2144548"/>
                <a:gd name="connsiteX7" fmla="*/ 447360 w 2565215"/>
                <a:gd name="connsiteY7" fmla="*/ 1684857 h 2144548"/>
                <a:gd name="connsiteX8" fmla="*/ 0 w 2565215"/>
                <a:gd name="connsiteY8" fmla="*/ 1429842 h 2144548"/>
                <a:gd name="connsiteX0" fmla="*/ 0 w 2625095"/>
                <a:gd name="connsiteY0" fmla="*/ 1429842 h 2144548"/>
                <a:gd name="connsiteX1" fmla="*/ 2472772 w 2625095"/>
                <a:gd name="connsiteY1" fmla="*/ 0 h 2144548"/>
                <a:gd name="connsiteX2" fmla="*/ 2473803 w 2625095"/>
                <a:gd name="connsiteY2" fmla="*/ 513282 h 2144548"/>
                <a:gd name="connsiteX3" fmla="*/ 2473803 w 2625095"/>
                <a:gd name="connsiteY3" fmla="*/ 915713 h 2144548"/>
                <a:gd name="connsiteX4" fmla="*/ 2483268 w 2625095"/>
                <a:gd name="connsiteY4" fmla="*/ 1434841 h 2144548"/>
                <a:gd name="connsiteX5" fmla="*/ 1244254 w 2625095"/>
                <a:gd name="connsiteY5" fmla="*/ 2144548 h 2144548"/>
                <a:gd name="connsiteX6" fmla="*/ 797403 w 2625095"/>
                <a:gd name="connsiteY6" fmla="*/ 1880119 h 2144548"/>
                <a:gd name="connsiteX7" fmla="*/ 447360 w 2625095"/>
                <a:gd name="connsiteY7" fmla="*/ 1684857 h 2144548"/>
                <a:gd name="connsiteX8" fmla="*/ 0 w 2625095"/>
                <a:gd name="connsiteY8" fmla="*/ 1429842 h 2144548"/>
                <a:gd name="connsiteX0" fmla="*/ 0 w 2629633"/>
                <a:gd name="connsiteY0" fmla="*/ 1429842 h 2144548"/>
                <a:gd name="connsiteX1" fmla="*/ 2472772 w 2629633"/>
                <a:gd name="connsiteY1" fmla="*/ 0 h 2144548"/>
                <a:gd name="connsiteX2" fmla="*/ 2473803 w 2629633"/>
                <a:gd name="connsiteY2" fmla="*/ 513282 h 2144548"/>
                <a:gd name="connsiteX3" fmla="*/ 2473803 w 2629633"/>
                <a:gd name="connsiteY3" fmla="*/ 915713 h 2144548"/>
                <a:gd name="connsiteX4" fmla="*/ 2483268 w 2629633"/>
                <a:gd name="connsiteY4" fmla="*/ 1434841 h 2144548"/>
                <a:gd name="connsiteX5" fmla="*/ 1244254 w 2629633"/>
                <a:gd name="connsiteY5" fmla="*/ 2144548 h 2144548"/>
                <a:gd name="connsiteX6" fmla="*/ 797403 w 2629633"/>
                <a:gd name="connsiteY6" fmla="*/ 1880119 h 2144548"/>
                <a:gd name="connsiteX7" fmla="*/ 447360 w 2629633"/>
                <a:gd name="connsiteY7" fmla="*/ 1684857 h 2144548"/>
                <a:gd name="connsiteX8" fmla="*/ 0 w 2629633"/>
                <a:gd name="connsiteY8" fmla="*/ 1429842 h 2144548"/>
                <a:gd name="connsiteX0" fmla="*/ 0 w 2635154"/>
                <a:gd name="connsiteY0" fmla="*/ 1429842 h 2144548"/>
                <a:gd name="connsiteX1" fmla="*/ 2472772 w 2635154"/>
                <a:gd name="connsiteY1" fmla="*/ 0 h 2144548"/>
                <a:gd name="connsiteX2" fmla="*/ 2473803 w 2635154"/>
                <a:gd name="connsiteY2" fmla="*/ 513282 h 2144548"/>
                <a:gd name="connsiteX3" fmla="*/ 2473803 w 2635154"/>
                <a:gd name="connsiteY3" fmla="*/ 915713 h 2144548"/>
                <a:gd name="connsiteX4" fmla="*/ 2483268 w 2635154"/>
                <a:gd name="connsiteY4" fmla="*/ 1434841 h 2144548"/>
                <a:gd name="connsiteX5" fmla="*/ 1244254 w 2635154"/>
                <a:gd name="connsiteY5" fmla="*/ 2144548 h 2144548"/>
                <a:gd name="connsiteX6" fmla="*/ 797403 w 2635154"/>
                <a:gd name="connsiteY6" fmla="*/ 1880119 h 2144548"/>
                <a:gd name="connsiteX7" fmla="*/ 447360 w 2635154"/>
                <a:gd name="connsiteY7" fmla="*/ 1684857 h 2144548"/>
                <a:gd name="connsiteX8" fmla="*/ 0 w 2635154"/>
                <a:gd name="connsiteY8" fmla="*/ 1429842 h 2144548"/>
                <a:gd name="connsiteX0" fmla="*/ 0 w 2632384"/>
                <a:gd name="connsiteY0" fmla="*/ 1429842 h 2144548"/>
                <a:gd name="connsiteX1" fmla="*/ 2472772 w 2632384"/>
                <a:gd name="connsiteY1" fmla="*/ 0 h 2144548"/>
                <a:gd name="connsiteX2" fmla="*/ 2473803 w 2632384"/>
                <a:gd name="connsiteY2" fmla="*/ 513282 h 2144548"/>
                <a:gd name="connsiteX3" fmla="*/ 2473803 w 2632384"/>
                <a:gd name="connsiteY3" fmla="*/ 915713 h 2144548"/>
                <a:gd name="connsiteX4" fmla="*/ 2483268 w 2632384"/>
                <a:gd name="connsiteY4" fmla="*/ 1434841 h 2144548"/>
                <a:gd name="connsiteX5" fmla="*/ 1244254 w 2632384"/>
                <a:gd name="connsiteY5" fmla="*/ 2144548 h 2144548"/>
                <a:gd name="connsiteX6" fmla="*/ 797403 w 2632384"/>
                <a:gd name="connsiteY6" fmla="*/ 1880119 h 2144548"/>
                <a:gd name="connsiteX7" fmla="*/ 447360 w 2632384"/>
                <a:gd name="connsiteY7" fmla="*/ 1684857 h 2144548"/>
                <a:gd name="connsiteX8" fmla="*/ 0 w 2632384"/>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483268 w 2635745"/>
                <a:gd name="connsiteY4" fmla="*/ 1434841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 name="connsiteX0" fmla="*/ 0 w 2635745"/>
                <a:gd name="connsiteY0" fmla="*/ 1429842 h 2144548"/>
                <a:gd name="connsiteX1" fmla="*/ 2472772 w 2635745"/>
                <a:gd name="connsiteY1" fmla="*/ 0 h 2144548"/>
                <a:gd name="connsiteX2" fmla="*/ 2473803 w 2635745"/>
                <a:gd name="connsiteY2" fmla="*/ 513282 h 2144548"/>
                <a:gd name="connsiteX3" fmla="*/ 2480153 w 2635745"/>
                <a:gd name="connsiteY3" fmla="*/ 915713 h 2144548"/>
                <a:gd name="connsiteX4" fmla="*/ 2541697 w 2635745"/>
                <a:gd name="connsiteY4" fmla="*/ 1462808 h 2144548"/>
                <a:gd name="connsiteX5" fmla="*/ 1244254 w 2635745"/>
                <a:gd name="connsiteY5" fmla="*/ 2144548 h 2144548"/>
                <a:gd name="connsiteX6" fmla="*/ 797403 w 2635745"/>
                <a:gd name="connsiteY6" fmla="*/ 1880119 h 2144548"/>
                <a:gd name="connsiteX7" fmla="*/ 447360 w 2635745"/>
                <a:gd name="connsiteY7" fmla="*/ 1684857 h 2144548"/>
                <a:gd name="connsiteX8" fmla="*/ 0 w 2635745"/>
                <a:gd name="connsiteY8" fmla="*/ 1429842 h 2144548"/>
                <a:gd name="connsiteX0" fmla="*/ 0 w 2635745"/>
                <a:gd name="connsiteY0" fmla="*/ 1391948 h 2106654"/>
                <a:gd name="connsiteX1" fmla="*/ 2576267 w 2635745"/>
                <a:gd name="connsiteY1" fmla="*/ 0 h 2106654"/>
                <a:gd name="connsiteX2" fmla="*/ 2473803 w 2635745"/>
                <a:gd name="connsiteY2" fmla="*/ 475388 h 2106654"/>
                <a:gd name="connsiteX3" fmla="*/ 2480153 w 2635745"/>
                <a:gd name="connsiteY3" fmla="*/ 877819 h 2106654"/>
                <a:gd name="connsiteX4" fmla="*/ 2541697 w 2635745"/>
                <a:gd name="connsiteY4" fmla="*/ 1424914 h 2106654"/>
                <a:gd name="connsiteX5" fmla="*/ 1244254 w 2635745"/>
                <a:gd name="connsiteY5" fmla="*/ 2106654 h 2106654"/>
                <a:gd name="connsiteX6" fmla="*/ 797403 w 2635745"/>
                <a:gd name="connsiteY6" fmla="*/ 1842225 h 2106654"/>
                <a:gd name="connsiteX7" fmla="*/ 447360 w 2635745"/>
                <a:gd name="connsiteY7" fmla="*/ 1646963 h 2106654"/>
                <a:gd name="connsiteX8" fmla="*/ 0 w 2635745"/>
                <a:gd name="connsiteY8" fmla="*/ 1391948 h 2106654"/>
                <a:gd name="connsiteX0" fmla="*/ 0 w 2694236"/>
                <a:gd name="connsiteY0" fmla="*/ 1391948 h 2106654"/>
                <a:gd name="connsiteX1" fmla="*/ 2576267 w 2694236"/>
                <a:gd name="connsiteY1" fmla="*/ 0 h 2106654"/>
                <a:gd name="connsiteX2" fmla="*/ 2578808 w 2694236"/>
                <a:gd name="connsiteY2" fmla="*/ 516075 h 2106654"/>
                <a:gd name="connsiteX3" fmla="*/ 2480153 w 2694236"/>
                <a:gd name="connsiteY3" fmla="*/ 877819 h 2106654"/>
                <a:gd name="connsiteX4" fmla="*/ 2541697 w 2694236"/>
                <a:gd name="connsiteY4" fmla="*/ 1424914 h 2106654"/>
                <a:gd name="connsiteX5" fmla="*/ 1244254 w 2694236"/>
                <a:gd name="connsiteY5" fmla="*/ 2106654 h 2106654"/>
                <a:gd name="connsiteX6" fmla="*/ 797403 w 2694236"/>
                <a:gd name="connsiteY6" fmla="*/ 1842225 h 2106654"/>
                <a:gd name="connsiteX7" fmla="*/ 447360 w 2694236"/>
                <a:gd name="connsiteY7" fmla="*/ 1646963 h 2106654"/>
                <a:gd name="connsiteX8" fmla="*/ 0 w 2694236"/>
                <a:gd name="connsiteY8" fmla="*/ 1391948 h 2106654"/>
                <a:gd name="connsiteX0" fmla="*/ 0 w 2729125"/>
                <a:gd name="connsiteY0" fmla="*/ 1391948 h 2106654"/>
                <a:gd name="connsiteX1" fmla="*/ 2576267 w 2729125"/>
                <a:gd name="connsiteY1" fmla="*/ 0 h 2106654"/>
                <a:gd name="connsiteX2" fmla="*/ 2578808 w 2729125"/>
                <a:gd name="connsiteY2" fmla="*/ 516075 h 2106654"/>
                <a:gd name="connsiteX3" fmla="*/ 2562586 w 2729125"/>
                <a:gd name="connsiteY3" fmla="*/ 923488 h 2106654"/>
                <a:gd name="connsiteX4" fmla="*/ 2541697 w 2729125"/>
                <a:gd name="connsiteY4" fmla="*/ 1424914 h 2106654"/>
                <a:gd name="connsiteX5" fmla="*/ 1244254 w 2729125"/>
                <a:gd name="connsiteY5" fmla="*/ 2106654 h 2106654"/>
                <a:gd name="connsiteX6" fmla="*/ 797403 w 2729125"/>
                <a:gd name="connsiteY6" fmla="*/ 1842225 h 2106654"/>
                <a:gd name="connsiteX7" fmla="*/ 447360 w 2729125"/>
                <a:gd name="connsiteY7" fmla="*/ 1646963 h 2106654"/>
                <a:gd name="connsiteX8" fmla="*/ 0 w 2729125"/>
                <a:gd name="connsiteY8" fmla="*/ 1391948 h 2106654"/>
                <a:gd name="connsiteX0" fmla="*/ 0 w 2723897"/>
                <a:gd name="connsiteY0" fmla="*/ 1391948 h 2106654"/>
                <a:gd name="connsiteX1" fmla="*/ 2576267 w 2723897"/>
                <a:gd name="connsiteY1" fmla="*/ 0 h 2106654"/>
                <a:gd name="connsiteX2" fmla="*/ 2578808 w 2723897"/>
                <a:gd name="connsiteY2" fmla="*/ 516075 h 2106654"/>
                <a:gd name="connsiteX3" fmla="*/ 2562586 w 2723897"/>
                <a:gd name="connsiteY3" fmla="*/ 923488 h 2106654"/>
                <a:gd name="connsiteX4" fmla="*/ 2541697 w 2723897"/>
                <a:gd name="connsiteY4" fmla="*/ 1424914 h 2106654"/>
                <a:gd name="connsiteX5" fmla="*/ 1244254 w 2723897"/>
                <a:gd name="connsiteY5" fmla="*/ 2106654 h 2106654"/>
                <a:gd name="connsiteX6" fmla="*/ 797403 w 2723897"/>
                <a:gd name="connsiteY6" fmla="*/ 1842225 h 2106654"/>
                <a:gd name="connsiteX7" fmla="*/ 447360 w 2723897"/>
                <a:gd name="connsiteY7" fmla="*/ 1646963 h 2106654"/>
                <a:gd name="connsiteX8" fmla="*/ 0 w 2723897"/>
                <a:gd name="connsiteY8" fmla="*/ 1391948 h 210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3897" h="2106654">
                  <a:moveTo>
                    <a:pt x="0" y="1391948"/>
                  </a:moveTo>
                  <a:cubicBezTo>
                    <a:pt x="510967" y="513475"/>
                    <a:pt x="1555246" y="7375"/>
                    <a:pt x="2576267" y="0"/>
                  </a:cubicBezTo>
                  <a:cubicBezTo>
                    <a:pt x="2581374" y="63934"/>
                    <a:pt x="2574678" y="498391"/>
                    <a:pt x="2578808" y="516075"/>
                  </a:cubicBezTo>
                  <a:cubicBezTo>
                    <a:pt x="2762659" y="573849"/>
                    <a:pt x="2787228" y="858001"/>
                    <a:pt x="2562586" y="923488"/>
                  </a:cubicBezTo>
                  <a:cubicBezTo>
                    <a:pt x="2564163" y="1077081"/>
                    <a:pt x="2541834" y="1189152"/>
                    <a:pt x="2541697" y="1424914"/>
                  </a:cubicBezTo>
                  <a:cubicBezTo>
                    <a:pt x="2030693" y="1428559"/>
                    <a:pt x="1501186" y="1670426"/>
                    <a:pt x="1244254" y="2106654"/>
                  </a:cubicBezTo>
                  <a:lnTo>
                    <a:pt x="797403" y="1842225"/>
                  </a:lnTo>
                  <a:cubicBezTo>
                    <a:pt x="854554" y="1658075"/>
                    <a:pt x="635479" y="1481069"/>
                    <a:pt x="447360" y="1646963"/>
                  </a:cubicBezTo>
                  <a:lnTo>
                    <a:pt x="0" y="1391948"/>
                  </a:lnTo>
                  <a:close/>
                </a:path>
              </a:pathLst>
            </a:custGeom>
            <a:solidFill>
              <a:srgbClr val="0D5EB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TextBox 22"/>
            <p:cNvSpPr txBox="1"/>
            <p:nvPr/>
          </p:nvSpPr>
          <p:spPr>
            <a:xfrm rot="169372">
              <a:off x="5672948" y="2971116"/>
              <a:ext cx="1897039" cy="892552"/>
            </a:xfrm>
            <a:prstGeom prst="rect">
              <a:avLst/>
            </a:prstGeom>
            <a:noFill/>
          </p:spPr>
          <p:txBody>
            <a:bodyPr wrap="square" rtlCol="0">
              <a:spAutoFit/>
            </a:bodyPr>
            <a:lstStyle/>
            <a:p>
              <a:pPr algn="ctr"/>
              <a:r>
                <a:rPr lang="en-US" sz="2600" b="1" dirty="0" smtClean="0">
                  <a:solidFill>
                    <a:schemeClr val="bg1"/>
                  </a:solidFill>
                </a:rPr>
                <a:t>Public </a:t>
              </a:r>
            </a:p>
            <a:p>
              <a:pPr algn="ctr"/>
              <a:r>
                <a:rPr lang="en-US" sz="2600" b="1" dirty="0" smtClean="0">
                  <a:solidFill>
                    <a:schemeClr val="bg1"/>
                  </a:solidFill>
                </a:rPr>
                <a:t>     Relations</a:t>
              </a:r>
              <a:endParaRPr lang="en-US" sz="2600" b="1" dirty="0">
                <a:solidFill>
                  <a:schemeClr val="bg1"/>
                </a:solidFill>
              </a:endParaRPr>
            </a:p>
          </p:txBody>
        </p:sp>
      </p:grpSp>
      <p:sp>
        <p:nvSpPr>
          <p:cNvPr id="26" name="Title 2"/>
          <p:cNvSpPr txBox="1">
            <a:spLocks/>
          </p:cNvSpPr>
          <p:nvPr/>
        </p:nvSpPr>
        <p:spPr>
          <a:xfrm>
            <a:off x="0" y="4696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Components of the IPC Program</a:t>
            </a:r>
            <a:endParaRPr lang="en-US" sz="2400" b="0" dirty="0">
              <a:solidFill>
                <a:schemeClr val="accent1"/>
              </a:solidFill>
              <a:latin typeface="+mn-lt"/>
            </a:endParaRPr>
          </a:p>
        </p:txBody>
      </p:sp>
      <p:sp>
        <p:nvSpPr>
          <p:cNvPr id="7" name="Rectangle 6"/>
          <p:cNvSpPr/>
          <p:nvPr/>
        </p:nvSpPr>
        <p:spPr>
          <a:xfrm>
            <a:off x="371060" y="1371600"/>
            <a:ext cx="2438400" cy="4337323"/>
          </a:xfrm>
          <a:prstGeom prst="rect">
            <a:avLst/>
          </a:prstGeom>
          <a:solidFill>
            <a:srgbClr val="FFFFCC"/>
          </a:solidFill>
          <a:ln>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438944" y="1447800"/>
            <a:ext cx="2304256" cy="2031325"/>
          </a:xfrm>
          <a:prstGeom prst="rect">
            <a:avLst/>
          </a:prstGeom>
          <a:noFill/>
        </p:spPr>
        <p:txBody>
          <a:bodyPr wrap="square" rtlCol="0">
            <a:spAutoFit/>
          </a:bodyPr>
          <a:lstStyle/>
          <a:p>
            <a:r>
              <a:rPr lang="en-US" sz="1400" b="1" u="sng" dirty="0" smtClean="0"/>
              <a:t>Partnership</a:t>
            </a:r>
          </a:p>
          <a:p>
            <a:r>
              <a:rPr lang="en-US" sz="1400" i="1" dirty="0" smtClean="0"/>
              <a:t>Establishing relationships that matter …</a:t>
            </a:r>
            <a:endParaRPr lang="en-US" sz="1400" dirty="0"/>
          </a:p>
          <a:p>
            <a:endParaRPr lang="en-US" sz="1400" dirty="0" smtClean="0"/>
          </a:p>
          <a:p>
            <a:r>
              <a:rPr lang="en-US" sz="1400" dirty="0" smtClean="0"/>
              <a:t>Connecting with trusted organizations to carry the decennial message through a vast network across the country.</a:t>
            </a:r>
            <a:endParaRPr lang="en-US" sz="1400" dirty="0"/>
          </a:p>
        </p:txBody>
      </p:sp>
      <p:sp>
        <p:nvSpPr>
          <p:cNvPr id="15" name="TextBox 14"/>
          <p:cNvSpPr txBox="1"/>
          <p:nvPr/>
        </p:nvSpPr>
        <p:spPr>
          <a:xfrm>
            <a:off x="438944" y="1447800"/>
            <a:ext cx="2304256" cy="1815882"/>
          </a:xfrm>
          <a:prstGeom prst="rect">
            <a:avLst/>
          </a:prstGeom>
          <a:noFill/>
        </p:spPr>
        <p:txBody>
          <a:bodyPr wrap="square" rtlCol="0">
            <a:spAutoFit/>
          </a:bodyPr>
          <a:lstStyle/>
          <a:p>
            <a:r>
              <a:rPr lang="en-US" sz="1400" b="1" u="sng" dirty="0" smtClean="0"/>
              <a:t>Social Media</a:t>
            </a:r>
            <a:endParaRPr lang="en-US" sz="1400" b="1" u="sng" dirty="0"/>
          </a:p>
          <a:p>
            <a:r>
              <a:rPr lang="en-US" sz="1400" i="1" dirty="0" smtClean="0"/>
              <a:t>Leveraging interactive communications to build conversations…</a:t>
            </a:r>
          </a:p>
          <a:p>
            <a:endParaRPr lang="en-US" sz="1400" dirty="0"/>
          </a:p>
          <a:p>
            <a:r>
              <a:rPr lang="en-US" sz="1400" dirty="0" smtClean="0"/>
              <a:t>Creating a 24/7 movement through real-time access, education and inspiration.</a:t>
            </a:r>
            <a:endParaRPr lang="en-US" sz="1400" dirty="0"/>
          </a:p>
        </p:txBody>
      </p:sp>
      <p:sp>
        <p:nvSpPr>
          <p:cNvPr id="30" name="TextBox 29"/>
          <p:cNvSpPr txBox="1"/>
          <p:nvPr/>
        </p:nvSpPr>
        <p:spPr>
          <a:xfrm>
            <a:off x="438944" y="1447800"/>
            <a:ext cx="2304256" cy="2462213"/>
          </a:xfrm>
          <a:prstGeom prst="rect">
            <a:avLst/>
          </a:prstGeom>
          <a:noFill/>
        </p:spPr>
        <p:txBody>
          <a:bodyPr wrap="square" rtlCol="0">
            <a:spAutoFit/>
          </a:bodyPr>
          <a:lstStyle/>
          <a:p>
            <a:r>
              <a:rPr lang="en-US" sz="1400" b="1" u="sng" dirty="0" smtClean="0"/>
              <a:t>Public Relations</a:t>
            </a:r>
            <a:endParaRPr lang="en-US" sz="1400" b="1" u="sng" dirty="0"/>
          </a:p>
          <a:p>
            <a:r>
              <a:rPr lang="en-US" sz="1400" i="1" dirty="0" smtClean="0"/>
              <a:t>Creating a chorus of Census conversations…</a:t>
            </a:r>
          </a:p>
          <a:p>
            <a:endParaRPr lang="en-US" sz="1400" dirty="0"/>
          </a:p>
          <a:p>
            <a:r>
              <a:rPr lang="en-US" sz="1400" dirty="0" smtClean="0"/>
              <a:t>Surround every household in the country with credible, memorable messages through trusted conversations that motivate people to complete the decennial census.</a:t>
            </a:r>
            <a:endParaRPr lang="en-US" sz="1400" dirty="0"/>
          </a:p>
        </p:txBody>
      </p:sp>
      <p:sp>
        <p:nvSpPr>
          <p:cNvPr id="31" name="TextBox 30"/>
          <p:cNvSpPr txBox="1"/>
          <p:nvPr/>
        </p:nvSpPr>
        <p:spPr>
          <a:xfrm>
            <a:off x="457200" y="1447800"/>
            <a:ext cx="2304256" cy="3754874"/>
          </a:xfrm>
          <a:prstGeom prst="rect">
            <a:avLst/>
          </a:prstGeom>
          <a:noFill/>
        </p:spPr>
        <p:txBody>
          <a:bodyPr wrap="square" rtlCol="0">
            <a:spAutoFit/>
          </a:bodyPr>
          <a:lstStyle/>
          <a:p>
            <a:r>
              <a:rPr lang="en-US" sz="1400" b="1" u="sng" dirty="0" smtClean="0"/>
              <a:t>Statistics in Schools</a:t>
            </a:r>
            <a:endParaRPr lang="en-US" sz="1400" b="1" u="sng" dirty="0"/>
          </a:p>
          <a:p>
            <a:r>
              <a:rPr lang="en-US" sz="1400" i="1" dirty="0"/>
              <a:t>Providing ongoing statistical literacy education and outreach to students in Kindergarten, middle school, and high school, including tribal schools, home schools, and Head Start.</a:t>
            </a:r>
          </a:p>
          <a:p>
            <a:endParaRPr lang="en-US" sz="1400" i="1" dirty="0" smtClean="0"/>
          </a:p>
          <a:p>
            <a:r>
              <a:rPr lang="en-US" sz="1400" dirty="0" smtClean="0"/>
              <a:t>Supports statistics education by providing grade-appropriate classroom activities and resources in math and history that are aligned to national standards and complement existing lesson plans.</a:t>
            </a:r>
            <a:endParaRPr lang="en-US" sz="1400" dirty="0"/>
          </a:p>
        </p:txBody>
      </p:sp>
      <p:sp>
        <p:nvSpPr>
          <p:cNvPr id="32" name="TextBox 31"/>
          <p:cNvSpPr txBox="1"/>
          <p:nvPr/>
        </p:nvSpPr>
        <p:spPr>
          <a:xfrm>
            <a:off x="438944" y="1447800"/>
            <a:ext cx="2304256" cy="2031325"/>
          </a:xfrm>
          <a:prstGeom prst="rect">
            <a:avLst/>
          </a:prstGeom>
          <a:noFill/>
        </p:spPr>
        <p:txBody>
          <a:bodyPr wrap="square" rtlCol="0">
            <a:spAutoFit/>
          </a:bodyPr>
          <a:lstStyle/>
          <a:p>
            <a:r>
              <a:rPr lang="en-US" sz="1400" b="1" u="sng" dirty="0" smtClean="0"/>
              <a:t>Advertising</a:t>
            </a:r>
            <a:endParaRPr lang="en-US" sz="1400" b="1" u="sng" dirty="0"/>
          </a:p>
          <a:p>
            <a:r>
              <a:rPr lang="en-US" sz="1400" i="1" dirty="0"/>
              <a:t>Leveraging all relevant communication channels to create mass </a:t>
            </a:r>
            <a:r>
              <a:rPr lang="en-US" sz="1400" i="1" dirty="0" smtClean="0"/>
              <a:t>participation…</a:t>
            </a:r>
            <a:endParaRPr lang="en-US" sz="1400" i="1" dirty="0"/>
          </a:p>
          <a:p>
            <a:endParaRPr lang="en-US" sz="1400" dirty="0"/>
          </a:p>
          <a:p>
            <a:r>
              <a:rPr lang="en-US" sz="1400" dirty="0" smtClean="0"/>
              <a:t>Reaching audiences through mediums they are familiar with to inform, educate and inspire to respond.</a:t>
            </a:r>
            <a:endParaRPr lang="en-US" sz="1400" dirty="0"/>
          </a:p>
        </p:txBody>
      </p:sp>
      <p:sp>
        <p:nvSpPr>
          <p:cNvPr id="33" name="TextBox 32"/>
          <p:cNvSpPr txBox="1"/>
          <p:nvPr/>
        </p:nvSpPr>
        <p:spPr>
          <a:xfrm>
            <a:off x="457200" y="1447800"/>
            <a:ext cx="2304256" cy="2031325"/>
          </a:xfrm>
          <a:prstGeom prst="rect">
            <a:avLst/>
          </a:prstGeom>
          <a:noFill/>
        </p:spPr>
        <p:txBody>
          <a:bodyPr wrap="square" rtlCol="0">
            <a:spAutoFit/>
          </a:bodyPr>
          <a:lstStyle/>
          <a:p>
            <a:r>
              <a:rPr lang="en-US" sz="1400" b="1" u="sng" dirty="0" smtClean="0"/>
              <a:t>Earned Media</a:t>
            </a:r>
            <a:endParaRPr lang="en-US" sz="1400" b="1" u="sng" dirty="0"/>
          </a:p>
          <a:p>
            <a:r>
              <a:rPr lang="en-US" sz="1400" i="1" dirty="0" smtClean="0"/>
              <a:t>Creating widespread awareness and education to drive mass participation…</a:t>
            </a:r>
          </a:p>
          <a:p>
            <a:endParaRPr lang="en-US" sz="1400" dirty="0"/>
          </a:p>
          <a:p>
            <a:r>
              <a:rPr lang="en-US" sz="1400" dirty="0"/>
              <a:t>Using the vast media network to reach </a:t>
            </a:r>
            <a:r>
              <a:rPr lang="en-US" sz="1400" dirty="0" smtClean="0"/>
              <a:t>people through an identifiable source.</a:t>
            </a:r>
            <a:endParaRPr lang="en-US" sz="1400" dirty="0"/>
          </a:p>
        </p:txBody>
      </p:sp>
      <p:sp>
        <p:nvSpPr>
          <p:cNvPr id="28"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15</a:t>
            </a:fld>
            <a:endParaRPr lang="en-US" dirty="0"/>
          </a:p>
        </p:txBody>
      </p:sp>
    </p:spTree>
    <p:extLst>
      <p:ext uri="{BB962C8B-B14F-4D97-AF65-F5344CB8AC3E}">
        <p14:creationId xmlns:p14="http://schemas.microsoft.com/office/powerpoint/2010/main" val="309034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0"/>
                                        <p:tgtEl>
                                          <p:spTgt spid="7"/>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8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childTnLst>
                          </p:cTn>
                        </p:par>
                        <p:par>
                          <p:cTn id="21" fill="hold">
                            <p:stCondLst>
                              <p:cond delay="500"/>
                            </p:stCondLst>
                            <p:childTnLst>
                              <p:par>
                                <p:cTn id="22" presetID="47"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par>
                                <p:cTn id="27" presetID="10" presetClass="entr" presetSubtype="0" fill="hold" grpId="0" nodeType="withEffect">
                                  <p:stCondLst>
                                    <p:cond delay="50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20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5"/>
                                        </p:tgtEl>
                                      </p:cBhvr>
                                    </p:animEffect>
                                    <p:set>
                                      <p:cBhvr>
                                        <p:cTn id="34" dur="1" fill="hold">
                                          <p:stCondLst>
                                            <p:cond delay="499"/>
                                          </p:stCondLst>
                                        </p:cTn>
                                        <p:tgtEl>
                                          <p:spTgt spid="15"/>
                                        </p:tgtEl>
                                        <p:attrNameLst>
                                          <p:attrName>style.visibility</p:attrName>
                                        </p:attrNameLst>
                                      </p:cBhvr>
                                      <p:to>
                                        <p:strVal val="hidden"/>
                                      </p:to>
                                    </p:set>
                                  </p:childTnLst>
                                </p:cTn>
                              </p:par>
                            </p:childTnLst>
                          </p:cTn>
                        </p:par>
                        <p:par>
                          <p:cTn id="35" fill="hold">
                            <p:stCondLst>
                              <p:cond delay="500"/>
                            </p:stCondLst>
                            <p:childTnLst>
                              <p:par>
                                <p:cTn id="36" presetID="42" presetClass="entr" presetSubtype="0"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20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30"/>
                                        </p:tgtEl>
                                      </p:cBhvr>
                                    </p:animEffect>
                                    <p:set>
                                      <p:cBhvr>
                                        <p:cTn id="48" dur="1" fill="hold">
                                          <p:stCondLst>
                                            <p:cond delay="499"/>
                                          </p:stCondLst>
                                        </p:cTn>
                                        <p:tgtEl>
                                          <p:spTgt spid="30"/>
                                        </p:tgtEl>
                                        <p:attrNameLst>
                                          <p:attrName>style.visibility</p:attrName>
                                        </p:attrNameLst>
                                      </p:cBhvr>
                                      <p:to>
                                        <p:strVal val="hidden"/>
                                      </p:to>
                                    </p:set>
                                  </p:childTnLst>
                                </p:cTn>
                              </p:par>
                            </p:childTnLst>
                          </p:cTn>
                        </p:par>
                        <p:par>
                          <p:cTn id="49" fill="hold">
                            <p:stCondLst>
                              <p:cond delay="500"/>
                            </p:stCondLst>
                            <p:childTnLst>
                              <p:par>
                                <p:cTn id="50" presetID="42" presetClass="entr" presetSubtype="0"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1000"/>
                                        <p:tgtEl>
                                          <p:spTgt spid="5"/>
                                        </p:tgtEl>
                                      </p:cBhvr>
                                    </p:animEffect>
                                    <p:anim calcmode="lin" valueType="num">
                                      <p:cBhvr>
                                        <p:cTn id="53" dur="1000" fill="hold"/>
                                        <p:tgtEl>
                                          <p:spTgt spid="5"/>
                                        </p:tgtEl>
                                        <p:attrNameLst>
                                          <p:attrName>ppt_x</p:attrName>
                                        </p:attrNameLst>
                                      </p:cBhvr>
                                      <p:tavLst>
                                        <p:tav tm="0">
                                          <p:val>
                                            <p:strVal val="#ppt_x"/>
                                          </p:val>
                                        </p:tav>
                                        <p:tav tm="100000">
                                          <p:val>
                                            <p:strVal val="#ppt_x"/>
                                          </p:val>
                                        </p:tav>
                                      </p:tavLst>
                                    </p:anim>
                                    <p:anim calcmode="lin" valueType="num">
                                      <p:cBhvr>
                                        <p:cTn id="54" dur="1000" fill="hold"/>
                                        <p:tgtEl>
                                          <p:spTgt spid="5"/>
                                        </p:tgtEl>
                                        <p:attrNameLst>
                                          <p:attrName>ppt_y</p:attrName>
                                        </p:attrNameLst>
                                      </p:cBhvr>
                                      <p:tavLst>
                                        <p:tav tm="0">
                                          <p:val>
                                            <p:strVal val="#ppt_y+.1"/>
                                          </p:val>
                                        </p:tav>
                                        <p:tav tm="100000">
                                          <p:val>
                                            <p:strVal val="#ppt_y"/>
                                          </p:val>
                                        </p:tav>
                                      </p:tavLst>
                                    </p:anim>
                                  </p:childTnLst>
                                </p:cTn>
                              </p:par>
                              <p:par>
                                <p:cTn id="55" presetID="10"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2000"/>
                                        <p:tgtEl>
                                          <p:spTgt spid="3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31"/>
                                        </p:tgtEl>
                                      </p:cBhvr>
                                    </p:animEffect>
                                    <p:set>
                                      <p:cBhvr>
                                        <p:cTn id="62" dur="1" fill="hold">
                                          <p:stCondLst>
                                            <p:cond delay="499"/>
                                          </p:stCondLst>
                                        </p:cTn>
                                        <p:tgtEl>
                                          <p:spTgt spid="31"/>
                                        </p:tgtEl>
                                        <p:attrNameLst>
                                          <p:attrName>style.visibility</p:attrName>
                                        </p:attrNameLst>
                                      </p:cBhvr>
                                      <p:to>
                                        <p:strVal val="hidden"/>
                                      </p:to>
                                    </p:set>
                                  </p:childTnLst>
                                </p:cTn>
                              </p:par>
                            </p:childTnLst>
                          </p:cTn>
                        </p:par>
                        <p:par>
                          <p:cTn id="63" fill="hold">
                            <p:stCondLst>
                              <p:cond delay="500"/>
                            </p:stCondLst>
                            <p:childTnLst>
                              <p:par>
                                <p:cTn id="64" presetID="42" presetClass="entr" presetSubtype="0" fill="hold" nodeType="after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1000"/>
                                        <p:tgtEl>
                                          <p:spTgt spid="6"/>
                                        </p:tgtEl>
                                      </p:cBhvr>
                                    </p:animEffect>
                                    <p:anim calcmode="lin" valueType="num">
                                      <p:cBhvr>
                                        <p:cTn id="67" dur="1000" fill="hold"/>
                                        <p:tgtEl>
                                          <p:spTgt spid="6"/>
                                        </p:tgtEl>
                                        <p:attrNameLst>
                                          <p:attrName>ppt_x</p:attrName>
                                        </p:attrNameLst>
                                      </p:cBhvr>
                                      <p:tavLst>
                                        <p:tav tm="0">
                                          <p:val>
                                            <p:strVal val="#ppt_x"/>
                                          </p:val>
                                        </p:tav>
                                        <p:tav tm="100000">
                                          <p:val>
                                            <p:strVal val="#ppt_x"/>
                                          </p:val>
                                        </p:tav>
                                      </p:tavLst>
                                    </p:anim>
                                    <p:anim calcmode="lin" valueType="num">
                                      <p:cBhvr>
                                        <p:cTn id="68" dur="1000" fill="hold"/>
                                        <p:tgtEl>
                                          <p:spTgt spid="6"/>
                                        </p:tgtEl>
                                        <p:attrNameLst>
                                          <p:attrName>ppt_y</p:attrName>
                                        </p:attrNameLst>
                                      </p:cBhvr>
                                      <p:tavLst>
                                        <p:tav tm="0">
                                          <p:val>
                                            <p:strVal val="#ppt_y+.1"/>
                                          </p:val>
                                        </p:tav>
                                        <p:tav tm="100000">
                                          <p:val>
                                            <p:strVal val="#ppt_y"/>
                                          </p:val>
                                        </p:tav>
                                      </p:tavLst>
                                    </p:anim>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20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1" nodeType="clickEffect">
                                  <p:stCondLst>
                                    <p:cond delay="0"/>
                                  </p:stCondLst>
                                  <p:childTnLst>
                                    <p:animEffect transition="out" filter="fade">
                                      <p:cBhvr>
                                        <p:cTn id="75" dur="500"/>
                                        <p:tgtEl>
                                          <p:spTgt spid="32"/>
                                        </p:tgtEl>
                                      </p:cBhvr>
                                    </p:animEffect>
                                    <p:set>
                                      <p:cBhvr>
                                        <p:cTn id="76" dur="1" fill="hold">
                                          <p:stCondLst>
                                            <p:cond delay="499"/>
                                          </p:stCondLst>
                                        </p:cTn>
                                        <p:tgtEl>
                                          <p:spTgt spid="32"/>
                                        </p:tgtEl>
                                        <p:attrNameLst>
                                          <p:attrName>style.visibility</p:attrName>
                                        </p:attrNameLst>
                                      </p:cBhvr>
                                      <p:to>
                                        <p:strVal val="hidden"/>
                                      </p:to>
                                    </p:set>
                                  </p:childTnLst>
                                </p:cTn>
                              </p:par>
                            </p:childTnLst>
                          </p:cTn>
                        </p:par>
                        <p:par>
                          <p:cTn id="77" fill="hold">
                            <p:stCondLst>
                              <p:cond delay="500"/>
                            </p:stCondLst>
                            <p:childTnLst>
                              <p:par>
                                <p:cTn id="78" presetID="42" presetClass="entr" presetSubtype="0" fill="hold" nodeType="after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fade">
                                      <p:cBhvr>
                                        <p:cTn id="80" dur="1000"/>
                                        <p:tgtEl>
                                          <p:spTgt spid="8"/>
                                        </p:tgtEl>
                                      </p:cBhvr>
                                    </p:animEffect>
                                    <p:anim calcmode="lin" valueType="num">
                                      <p:cBhvr>
                                        <p:cTn id="81" dur="1000" fill="hold"/>
                                        <p:tgtEl>
                                          <p:spTgt spid="8"/>
                                        </p:tgtEl>
                                        <p:attrNameLst>
                                          <p:attrName>ppt_x</p:attrName>
                                        </p:attrNameLst>
                                      </p:cBhvr>
                                      <p:tavLst>
                                        <p:tav tm="0">
                                          <p:val>
                                            <p:strVal val="#ppt_x"/>
                                          </p:val>
                                        </p:tav>
                                        <p:tav tm="100000">
                                          <p:val>
                                            <p:strVal val="#ppt_x"/>
                                          </p:val>
                                        </p:tav>
                                      </p:tavLst>
                                    </p:anim>
                                    <p:anim calcmode="lin" valueType="num">
                                      <p:cBhvr>
                                        <p:cTn id="82" dur="1000" fill="hold"/>
                                        <p:tgtEl>
                                          <p:spTgt spid="8"/>
                                        </p:tgtEl>
                                        <p:attrNameLst>
                                          <p:attrName>ppt_y</p:attrName>
                                        </p:attrNameLst>
                                      </p:cBhvr>
                                      <p:tavLst>
                                        <p:tav tm="0">
                                          <p:val>
                                            <p:strVal val="#ppt_y+.1"/>
                                          </p:val>
                                        </p:tav>
                                        <p:tav tm="100000">
                                          <p:val>
                                            <p:strVal val="#ppt_y"/>
                                          </p:val>
                                        </p:tav>
                                      </p:tavLst>
                                    </p:anim>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9" grpId="1"/>
      <p:bldP spid="15" grpId="0"/>
      <p:bldP spid="15" grpId="1"/>
      <p:bldP spid="30" grpId="0"/>
      <p:bldP spid="30" grpId="1"/>
      <p:bldP spid="31" grpId="0"/>
      <p:bldP spid="31" grpId="1"/>
      <p:bldP spid="32" grpId="0"/>
      <p:bldP spid="32" grpId="1"/>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Audience Segmentation</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16</a:t>
            </a:fld>
            <a:endParaRPr lang="en-US" dirty="0"/>
          </a:p>
        </p:txBody>
      </p:sp>
      <p:graphicFrame>
        <p:nvGraphicFramePr>
          <p:cNvPr id="5" name="Object 4"/>
          <p:cNvGraphicFramePr>
            <a:graphicFrameLocks noGrp="1" noChangeAspect="1"/>
          </p:cNvGraphicFramePr>
          <p:nvPr>
            <p:extLst>
              <p:ext uri="{D42A27DB-BD31-4B8C-83A1-F6EECF244321}">
                <p14:modId xmlns:p14="http://schemas.microsoft.com/office/powerpoint/2010/main" val="1678452395"/>
              </p:ext>
            </p:extLst>
          </p:nvPr>
        </p:nvGraphicFramePr>
        <p:xfrm>
          <a:off x="2056375" y="1295400"/>
          <a:ext cx="5262818" cy="3611563"/>
        </p:xfrm>
        <a:graphic>
          <a:graphicData uri="http://schemas.openxmlformats.org/presentationml/2006/ole">
            <mc:AlternateContent xmlns:mc="http://schemas.openxmlformats.org/markup-compatibility/2006">
              <mc:Choice xmlns:v="urn:schemas-microsoft-com:vml" Requires="v">
                <p:oleObj spid="_x0000_s4136" name="Bitmap Image" r:id="rId4" imgW="0" imgH="0" progId="Paint.Picture">
                  <p:embed/>
                </p:oleObj>
              </mc:Choice>
              <mc:Fallback>
                <p:oleObj name="Bitmap Image" r:id="rId4" imgW="0" imgH="0" progId="Paint.Picture">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6375" y="1295400"/>
                        <a:ext cx="5262818" cy="3611563"/>
                      </a:xfrm>
                      <a:prstGeom prst="rect">
                        <a:avLst/>
                      </a:prstGeom>
                      <a:noFill/>
                      <a:ln>
                        <a:noFill/>
                      </a:ln>
                      <a:effectLst/>
                      <a:extLst/>
                    </p:spPr>
                  </p:pic>
                </p:oleObj>
              </mc:Fallback>
            </mc:AlternateContent>
          </a:graphicData>
        </a:graphic>
      </p:graphicFrame>
      <p:sp>
        <p:nvSpPr>
          <p:cNvPr id="4" name="Rectangle 3"/>
          <p:cNvSpPr/>
          <p:nvPr/>
        </p:nvSpPr>
        <p:spPr>
          <a:xfrm>
            <a:off x="231568" y="4953000"/>
            <a:ext cx="8455232" cy="461665"/>
          </a:xfrm>
          <a:prstGeom prst="rect">
            <a:avLst/>
          </a:prstGeom>
        </p:spPr>
        <p:txBody>
          <a:bodyPr wrap="square">
            <a:spAutoFit/>
          </a:bodyPr>
          <a:lstStyle/>
          <a:p>
            <a:pPr lvl="0"/>
            <a:r>
              <a:rPr lang="en-US" sz="1200" u="sng" dirty="0"/>
              <a:t>2010 Census Program for Evaluations and Experiments (CPEX)</a:t>
            </a:r>
            <a:r>
              <a:rPr lang="en-US" sz="1200" dirty="0"/>
              <a:t> – This page contains the evaluations, experiments, and assessments from the 2010 </a:t>
            </a:r>
            <a:r>
              <a:rPr lang="en-US" sz="1200" dirty="0" smtClean="0"/>
              <a:t>Census. </a:t>
            </a:r>
            <a:r>
              <a:rPr lang="en-US" sz="1200" u="sng" dirty="0" smtClean="0">
                <a:hlinkClick r:id="rId6"/>
              </a:rPr>
              <a:t>http</a:t>
            </a:r>
            <a:r>
              <a:rPr lang="en-US" sz="1200" u="sng" dirty="0">
                <a:hlinkClick r:id="rId6"/>
              </a:rPr>
              <a:t>://www.census.gov/2010census/about/cpex.php</a:t>
            </a:r>
            <a:endParaRPr lang="en-US" sz="1200" dirty="0"/>
          </a:p>
        </p:txBody>
      </p:sp>
      <p:sp>
        <p:nvSpPr>
          <p:cNvPr id="7" name="Rectangle 6"/>
          <p:cNvSpPr/>
          <p:nvPr/>
        </p:nvSpPr>
        <p:spPr>
          <a:xfrm>
            <a:off x="231568" y="5486400"/>
            <a:ext cx="8912432" cy="646331"/>
          </a:xfrm>
          <a:prstGeom prst="rect">
            <a:avLst/>
          </a:prstGeom>
        </p:spPr>
        <p:txBody>
          <a:bodyPr wrap="square">
            <a:spAutoFit/>
          </a:bodyPr>
          <a:lstStyle/>
          <a:p>
            <a:pPr lvl="0"/>
            <a:r>
              <a:rPr lang="en-US" sz="1200" u="sng" dirty="0"/>
              <a:t>2015 Planning Database</a:t>
            </a:r>
            <a:r>
              <a:rPr lang="en-US" sz="1200" dirty="0"/>
              <a:t> – This page contains the 2015 Planning Database.  The planning database assembles a range of housing, demographic, socio-economic, and census operational data that can be used for survey and census </a:t>
            </a:r>
            <a:r>
              <a:rPr lang="en-US" sz="1200" dirty="0" smtClean="0"/>
              <a:t>planning. </a:t>
            </a:r>
            <a:r>
              <a:rPr lang="en-US" sz="1200" u="sng" dirty="0" smtClean="0">
                <a:hlinkClick r:id="rId7"/>
              </a:rPr>
              <a:t>http</a:t>
            </a:r>
            <a:r>
              <a:rPr lang="en-US" sz="1200" u="sng" dirty="0">
                <a:hlinkClick r:id="rId7"/>
              </a:rPr>
              <a:t>://www.census.gov/research/data/planning_database/2015/</a:t>
            </a:r>
            <a:endParaRPr lang="en-US" sz="1200" dirty="0"/>
          </a:p>
        </p:txBody>
      </p:sp>
    </p:spTree>
    <p:extLst>
      <p:ext uri="{BB962C8B-B14F-4D97-AF65-F5344CB8AC3E}">
        <p14:creationId xmlns:p14="http://schemas.microsoft.com/office/powerpoint/2010/main" val="15624776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sz="half" idx="1"/>
          </p:nvPr>
        </p:nvSpPr>
        <p:spPr bwMode="auto">
          <a:xfrm>
            <a:off x="609600" y="2133600"/>
            <a:ext cx="38100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indent="0" eaLnBrk="1" hangingPunct="1">
              <a:lnSpc>
                <a:spcPct val="90000"/>
              </a:lnSpc>
              <a:buNone/>
            </a:pPr>
            <a:r>
              <a:rPr lang="en-US" altLang="en-US" sz="1600" u="sng" dirty="0" smtClean="0"/>
              <a:t>Original Funding</a:t>
            </a:r>
          </a:p>
          <a:p>
            <a:pPr marL="0" indent="0" eaLnBrk="1" hangingPunct="1">
              <a:lnSpc>
                <a:spcPct val="90000"/>
              </a:lnSpc>
            </a:pPr>
            <a:r>
              <a:rPr lang="en-US" altLang="en-US" sz="1600" dirty="0" smtClean="0"/>
              <a:t>English</a:t>
            </a:r>
          </a:p>
          <a:p>
            <a:pPr marL="0" indent="0" eaLnBrk="1" hangingPunct="1">
              <a:lnSpc>
                <a:spcPct val="90000"/>
              </a:lnSpc>
            </a:pPr>
            <a:r>
              <a:rPr lang="en-US" altLang="en-US" sz="1600" dirty="0" smtClean="0"/>
              <a:t>Spanish</a:t>
            </a:r>
          </a:p>
          <a:p>
            <a:pPr marL="0" indent="0" eaLnBrk="1" hangingPunct="1">
              <a:lnSpc>
                <a:spcPct val="90000"/>
              </a:lnSpc>
            </a:pPr>
            <a:r>
              <a:rPr lang="en-US" altLang="en-US" sz="1600" dirty="0" smtClean="0"/>
              <a:t>Mandarin</a:t>
            </a:r>
          </a:p>
          <a:p>
            <a:pPr marL="0" indent="0" eaLnBrk="1" hangingPunct="1">
              <a:lnSpc>
                <a:spcPct val="90000"/>
              </a:lnSpc>
            </a:pPr>
            <a:r>
              <a:rPr lang="en-US" altLang="en-US" sz="1600" dirty="0" smtClean="0"/>
              <a:t>Cantonese</a:t>
            </a:r>
          </a:p>
          <a:p>
            <a:pPr marL="0" indent="0" eaLnBrk="1" hangingPunct="1">
              <a:lnSpc>
                <a:spcPct val="90000"/>
              </a:lnSpc>
            </a:pPr>
            <a:r>
              <a:rPr lang="en-US" altLang="en-US" sz="1600" dirty="0" smtClean="0"/>
              <a:t>Vietnamese</a:t>
            </a:r>
          </a:p>
          <a:p>
            <a:pPr marL="0" indent="0" eaLnBrk="1" hangingPunct="1">
              <a:lnSpc>
                <a:spcPct val="90000"/>
              </a:lnSpc>
            </a:pPr>
            <a:r>
              <a:rPr lang="en-US" altLang="en-US" sz="1600" dirty="0" smtClean="0"/>
              <a:t>Korean</a:t>
            </a:r>
          </a:p>
          <a:p>
            <a:pPr marL="0" indent="0" eaLnBrk="1" hangingPunct="1">
              <a:lnSpc>
                <a:spcPct val="90000"/>
              </a:lnSpc>
            </a:pPr>
            <a:r>
              <a:rPr lang="en-US" altLang="en-US" sz="1600" dirty="0" smtClean="0"/>
              <a:t>Tagalog/Taglish</a:t>
            </a:r>
          </a:p>
          <a:p>
            <a:pPr marL="0" indent="0" eaLnBrk="1" hangingPunct="1">
              <a:lnSpc>
                <a:spcPct val="90000"/>
              </a:lnSpc>
            </a:pPr>
            <a:r>
              <a:rPr lang="en-US" altLang="en-US" sz="1600" dirty="0" smtClean="0"/>
              <a:t>Russian</a:t>
            </a:r>
          </a:p>
          <a:p>
            <a:pPr marL="0" indent="0" eaLnBrk="1" hangingPunct="1">
              <a:lnSpc>
                <a:spcPct val="90000"/>
              </a:lnSpc>
            </a:pPr>
            <a:r>
              <a:rPr lang="en-US" altLang="en-US" sz="1600" dirty="0" smtClean="0"/>
              <a:t>Polish</a:t>
            </a:r>
          </a:p>
          <a:p>
            <a:pPr marL="0" indent="0" eaLnBrk="1" hangingPunct="1">
              <a:lnSpc>
                <a:spcPct val="90000"/>
              </a:lnSpc>
            </a:pPr>
            <a:r>
              <a:rPr lang="en-US" altLang="en-US" sz="1600" dirty="0" smtClean="0"/>
              <a:t>Arabic</a:t>
            </a:r>
          </a:p>
          <a:p>
            <a:pPr marL="0" indent="0" eaLnBrk="1" hangingPunct="1">
              <a:lnSpc>
                <a:spcPct val="90000"/>
              </a:lnSpc>
            </a:pPr>
            <a:r>
              <a:rPr lang="en-US" altLang="en-US" sz="1600" dirty="0" smtClean="0"/>
              <a:t>French Creole</a:t>
            </a:r>
          </a:p>
          <a:p>
            <a:pPr marL="0" indent="0" eaLnBrk="1" hangingPunct="1">
              <a:lnSpc>
                <a:spcPct val="90000"/>
              </a:lnSpc>
            </a:pPr>
            <a:r>
              <a:rPr lang="en-US" altLang="en-US" sz="1600" dirty="0" smtClean="0"/>
              <a:t>Japanese</a:t>
            </a:r>
          </a:p>
          <a:p>
            <a:pPr marL="0" indent="0" eaLnBrk="1" hangingPunct="1">
              <a:lnSpc>
                <a:spcPct val="90000"/>
              </a:lnSpc>
            </a:pPr>
            <a:r>
              <a:rPr lang="en-US" altLang="en-US" sz="1600" dirty="0" smtClean="0"/>
              <a:t>Hindi/Hinglish</a:t>
            </a:r>
          </a:p>
          <a:p>
            <a:pPr marL="0" indent="0" eaLnBrk="1" hangingPunct="1">
              <a:lnSpc>
                <a:spcPct val="90000"/>
              </a:lnSpc>
            </a:pPr>
            <a:r>
              <a:rPr lang="en-US" altLang="en-US" sz="1600" dirty="0" smtClean="0"/>
              <a:t>Khmer (Cambodia)</a:t>
            </a:r>
          </a:p>
        </p:txBody>
      </p:sp>
      <p:sp>
        <p:nvSpPr>
          <p:cNvPr id="25604" name="Rectangle 4"/>
          <p:cNvSpPr>
            <a:spLocks noGrp="1" noChangeArrowheads="1"/>
          </p:cNvSpPr>
          <p:nvPr>
            <p:ph type="body" sz="half" idx="2"/>
          </p:nvPr>
        </p:nvSpPr>
        <p:spPr bwMode="auto">
          <a:xfrm>
            <a:off x="4495800" y="2133600"/>
            <a:ext cx="40386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indent="0" eaLnBrk="1" hangingPunct="1">
              <a:lnSpc>
                <a:spcPct val="90000"/>
              </a:lnSpc>
              <a:buNone/>
            </a:pPr>
            <a:r>
              <a:rPr lang="en-US" altLang="en-US" sz="1600" u="sng" dirty="0" smtClean="0"/>
              <a:t>American Recovery Reinvestment Act (ARRA)</a:t>
            </a:r>
          </a:p>
          <a:p>
            <a:pPr marL="0" indent="0" eaLnBrk="1" hangingPunct="1">
              <a:lnSpc>
                <a:spcPct val="90000"/>
              </a:lnSpc>
            </a:pPr>
            <a:r>
              <a:rPr lang="en-US" altLang="en-US" sz="1600" dirty="0" smtClean="0"/>
              <a:t>Portuguese</a:t>
            </a:r>
          </a:p>
          <a:p>
            <a:pPr marL="0" indent="0" eaLnBrk="1" hangingPunct="1">
              <a:lnSpc>
                <a:spcPct val="90000"/>
              </a:lnSpc>
            </a:pPr>
            <a:r>
              <a:rPr lang="en-US" altLang="en-US" sz="1600" dirty="0" smtClean="0"/>
              <a:t>French</a:t>
            </a:r>
          </a:p>
          <a:p>
            <a:pPr marL="0" indent="0" eaLnBrk="1" hangingPunct="1">
              <a:lnSpc>
                <a:spcPct val="90000"/>
              </a:lnSpc>
            </a:pPr>
            <a:r>
              <a:rPr lang="en-US" altLang="en-US" sz="1600" dirty="0" smtClean="0"/>
              <a:t>Italian</a:t>
            </a:r>
          </a:p>
          <a:p>
            <a:pPr marL="0" indent="0" eaLnBrk="1" hangingPunct="1">
              <a:lnSpc>
                <a:spcPct val="90000"/>
              </a:lnSpc>
            </a:pPr>
            <a:r>
              <a:rPr lang="en-US" altLang="en-US" sz="1600" dirty="0" smtClean="0"/>
              <a:t>German</a:t>
            </a:r>
          </a:p>
          <a:p>
            <a:pPr marL="0" indent="0" eaLnBrk="1" hangingPunct="1">
              <a:lnSpc>
                <a:spcPct val="90000"/>
              </a:lnSpc>
            </a:pPr>
            <a:r>
              <a:rPr lang="en-US" altLang="en-US" sz="1600" dirty="0" smtClean="0"/>
              <a:t>Yiddish</a:t>
            </a:r>
          </a:p>
          <a:p>
            <a:pPr marL="0" indent="0" eaLnBrk="1" hangingPunct="1">
              <a:lnSpc>
                <a:spcPct val="90000"/>
              </a:lnSpc>
            </a:pPr>
            <a:r>
              <a:rPr lang="en-US" altLang="en-US" sz="1600" dirty="0" smtClean="0"/>
              <a:t>Farsi</a:t>
            </a:r>
          </a:p>
          <a:p>
            <a:pPr marL="0" indent="0" eaLnBrk="1" hangingPunct="1">
              <a:lnSpc>
                <a:spcPct val="90000"/>
              </a:lnSpc>
            </a:pPr>
            <a:r>
              <a:rPr lang="en-US" altLang="en-US" sz="1600" dirty="0" smtClean="0"/>
              <a:t>Armenian</a:t>
            </a:r>
          </a:p>
          <a:p>
            <a:pPr marL="0" indent="0" eaLnBrk="1" hangingPunct="1">
              <a:lnSpc>
                <a:spcPct val="90000"/>
              </a:lnSpc>
            </a:pPr>
            <a:r>
              <a:rPr lang="en-US" altLang="en-US" sz="1600" dirty="0" smtClean="0"/>
              <a:t>Ukranian</a:t>
            </a:r>
          </a:p>
          <a:p>
            <a:pPr marL="0" indent="0" eaLnBrk="1" hangingPunct="1">
              <a:lnSpc>
                <a:spcPct val="90000"/>
              </a:lnSpc>
            </a:pPr>
            <a:r>
              <a:rPr lang="en-US" altLang="en-US" sz="1600" dirty="0" smtClean="0"/>
              <a:t>Greek</a:t>
            </a:r>
          </a:p>
          <a:p>
            <a:pPr marL="0" indent="0" eaLnBrk="1" hangingPunct="1">
              <a:lnSpc>
                <a:spcPct val="90000"/>
              </a:lnSpc>
            </a:pPr>
            <a:r>
              <a:rPr lang="en-US" altLang="en-US" sz="1600" dirty="0" smtClean="0"/>
              <a:t>Hmong</a:t>
            </a:r>
          </a:p>
          <a:p>
            <a:pPr marL="0" indent="0" eaLnBrk="1" hangingPunct="1">
              <a:lnSpc>
                <a:spcPct val="90000"/>
              </a:lnSpc>
            </a:pPr>
            <a:r>
              <a:rPr lang="en-US" altLang="en-US" sz="1600" dirty="0" smtClean="0"/>
              <a:t>Laotian</a:t>
            </a:r>
          </a:p>
          <a:p>
            <a:pPr marL="0" indent="0" eaLnBrk="1" hangingPunct="1">
              <a:lnSpc>
                <a:spcPct val="90000"/>
              </a:lnSpc>
            </a:pPr>
            <a:r>
              <a:rPr lang="en-US" altLang="en-US" sz="1600" dirty="0" smtClean="0"/>
              <a:t>Thai</a:t>
            </a:r>
          </a:p>
          <a:p>
            <a:pPr marL="0" indent="0" eaLnBrk="1" hangingPunct="1">
              <a:lnSpc>
                <a:spcPct val="90000"/>
              </a:lnSpc>
            </a:pPr>
            <a:r>
              <a:rPr lang="en-US" altLang="en-US" sz="1600" dirty="0" smtClean="0"/>
              <a:t>Urdu (Pakistan)</a:t>
            </a:r>
          </a:p>
          <a:p>
            <a:pPr marL="0" indent="0" eaLnBrk="1" hangingPunct="1">
              <a:lnSpc>
                <a:spcPct val="90000"/>
              </a:lnSpc>
            </a:pPr>
            <a:r>
              <a:rPr lang="en-US" altLang="en-US" sz="1600" dirty="0" smtClean="0"/>
              <a:t>Bengali</a:t>
            </a:r>
          </a:p>
        </p:txBody>
      </p:sp>
      <p:sp>
        <p:nvSpPr>
          <p:cNvPr id="25605" name="Rectangle 5"/>
          <p:cNvSpPr>
            <a:spLocks noChangeArrowheads="1"/>
          </p:cNvSpPr>
          <p:nvPr/>
        </p:nvSpPr>
        <p:spPr bwMode="auto">
          <a:xfrm>
            <a:off x="533400" y="1447800"/>
            <a:ext cx="815340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u="sng">
                <a:solidFill>
                  <a:srgbClr val="3399FF"/>
                </a:solidFill>
                <a:latin typeface="Arial" charset="0"/>
              </a:defRPr>
            </a:lvl1pPr>
            <a:lvl2pPr marL="742950" indent="-285750" eaLnBrk="0" hangingPunct="0">
              <a:defRPr sz="2400" b="1" u="sng">
                <a:solidFill>
                  <a:srgbClr val="3399FF"/>
                </a:solidFill>
                <a:latin typeface="Arial" charset="0"/>
              </a:defRPr>
            </a:lvl2pPr>
            <a:lvl3pPr marL="1143000" indent="-228600" eaLnBrk="0" hangingPunct="0">
              <a:defRPr sz="2400" b="1" u="sng">
                <a:solidFill>
                  <a:srgbClr val="3399FF"/>
                </a:solidFill>
                <a:latin typeface="Arial" charset="0"/>
              </a:defRPr>
            </a:lvl3pPr>
            <a:lvl4pPr marL="1600200" indent="-228600" eaLnBrk="0" hangingPunct="0">
              <a:defRPr sz="2400" b="1" u="sng">
                <a:solidFill>
                  <a:srgbClr val="3399FF"/>
                </a:solidFill>
                <a:latin typeface="Arial" charset="0"/>
              </a:defRPr>
            </a:lvl4pPr>
            <a:lvl5pPr marL="2057400" indent="-228600" eaLnBrk="0" hangingPunct="0">
              <a:defRPr sz="2400" b="1" u="sng">
                <a:solidFill>
                  <a:srgbClr val="3399FF"/>
                </a:solidFill>
                <a:latin typeface="Arial" charset="0"/>
              </a:defRPr>
            </a:lvl5pPr>
            <a:lvl6pPr marL="2514600" indent="-228600" eaLnBrk="0" fontAlgn="base" hangingPunct="0">
              <a:lnSpc>
                <a:spcPct val="80000"/>
              </a:lnSpc>
              <a:spcBef>
                <a:spcPct val="20000"/>
              </a:spcBef>
              <a:spcAft>
                <a:spcPct val="0"/>
              </a:spcAft>
              <a:defRPr sz="2400" b="1" u="sng">
                <a:solidFill>
                  <a:srgbClr val="3399FF"/>
                </a:solidFill>
                <a:latin typeface="Arial" charset="0"/>
              </a:defRPr>
            </a:lvl6pPr>
            <a:lvl7pPr marL="2971800" indent="-228600" eaLnBrk="0" fontAlgn="base" hangingPunct="0">
              <a:lnSpc>
                <a:spcPct val="80000"/>
              </a:lnSpc>
              <a:spcBef>
                <a:spcPct val="20000"/>
              </a:spcBef>
              <a:spcAft>
                <a:spcPct val="0"/>
              </a:spcAft>
              <a:defRPr sz="2400" b="1" u="sng">
                <a:solidFill>
                  <a:srgbClr val="3399FF"/>
                </a:solidFill>
                <a:latin typeface="Arial" charset="0"/>
              </a:defRPr>
            </a:lvl7pPr>
            <a:lvl8pPr marL="3429000" indent="-228600" eaLnBrk="0" fontAlgn="base" hangingPunct="0">
              <a:lnSpc>
                <a:spcPct val="80000"/>
              </a:lnSpc>
              <a:spcBef>
                <a:spcPct val="20000"/>
              </a:spcBef>
              <a:spcAft>
                <a:spcPct val="0"/>
              </a:spcAft>
              <a:defRPr sz="2400" b="1" u="sng">
                <a:solidFill>
                  <a:srgbClr val="3399FF"/>
                </a:solidFill>
                <a:latin typeface="Arial" charset="0"/>
              </a:defRPr>
            </a:lvl8pPr>
            <a:lvl9pPr marL="3886200" indent="-228600" eaLnBrk="0" fontAlgn="base" hangingPunct="0">
              <a:lnSpc>
                <a:spcPct val="80000"/>
              </a:lnSpc>
              <a:spcBef>
                <a:spcPct val="20000"/>
              </a:spcBef>
              <a:spcAft>
                <a:spcPct val="0"/>
              </a:spcAft>
              <a:defRPr sz="2400" b="1" u="sng">
                <a:solidFill>
                  <a:srgbClr val="3399FF"/>
                </a:solidFill>
                <a:latin typeface="Arial" charset="0"/>
              </a:defRPr>
            </a:lvl9pPr>
          </a:lstStyle>
          <a:p>
            <a:pPr eaLnBrk="1" hangingPunct="1">
              <a:lnSpc>
                <a:spcPct val="90000"/>
              </a:lnSpc>
              <a:spcBef>
                <a:spcPct val="50000"/>
              </a:spcBef>
              <a:buClr>
                <a:srgbClr val="5C9E1C"/>
              </a:buClr>
            </a:pPr>
            <a:r>
              <a:rPr lang="en-US" altLang="en-US" sz="1600" b="0" u="none" dirty="0">
                <a:solidFill>
                  <a:schemeClr val="tx1"/>
                </a:solidFill>
                <a:latin typeface="+mn-lt"/>
              </a:rPr>
              <a:t>Approved audience/language list for the paid media effort increased by 14 languages to a total of 28</a:t>
            </a:r>
          </a:p>
        </p:txBody>
      </p:sp>
      <p:sp>
        <p:nvSpPr>
          <p:cNvPr id="7"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Language Program</a:t>
            </a:r>
            <a:endParaRPr lang="en-US" sz="2400" b="0" dirty="0">
              <a:solidFill>
                <a:schemeClr val="accent1"/>
              </a:solidFill>
              <a:latin typeface="+mn-lt"/>
            </a:endParaRPr>
          </a:p>
        </p:txBody>
      </p:sp>
      <p:sp>
        <p:nvSpPr>
          <p:cNvPr id="6" name="Slide Number Placeholder 1"/>
          <p:cNvSpPr>
            <a:spLocks noGrp="1"/>
          </p:cNvSpPr>
          <p:nvPr>
            <p:ph type="sldNum" sz="quarter" idx="12"/>
          </p:nvPr>
        </p:nvSpPr>
        <p:spPr>
          <a:xfrm>
            <a:off x="6553200" y="6356350"/>
            <a:ext cx="2133600" cy="365125"/>
          </a:xfrm>
        </p:spPr>
        <p:txBody>
          <a:bodyPr/>
          <a:lstStyle/>
          <a:p>
            <a:fld id="{7268A5C4-149D-4D66-BABE-E6DD2BE69C90}" type="slidenum">
              <a:rPr lang="en-US" smtClean="0"/>
              <a:t>17</a:t>
            </a:fld>
            <a:endParaRPr lang="en-US" dirty="0"/>
          </a:p>
        </p:txBody>
      </p:sp>
    </p:spTree>
    <p:extLst>
      <p:ext uri="{BB962C8B-B14F-4D97-AF65-F5344CB8AC3E}">
        <p14:creationId xmlns:p14="http://schemas.microsoft.com/office/powerpoint/2010/main" val="16919587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Advertising Campaign</a:t>
            </a:r>
            <a:endParaRPr lang="en-US" sz="2400" b="0" dirty="0">
              <a:solidFill>
                <a:schemeClr val="accent1"/>
              </a:solidFill>
              <a:latin typeface="+mn-lt"/>
            </a:endParaRPr>
          </a:p>
        </p:txBody>
      </p:sp>
      <p:sp>
        <p:nvSpPr>
          <p:cNvPr id="6" name="Slide Number Placeholder 3"/>
          <p:cNvSpPr txBox="1">
            <a:spLocks/>
          </p:cNvSpPr>
          <p:nvPr/>
        </p:nvSpPr>
        <p:spPr>
          <a:xfrm>
            <a:off x="3505200" y="6356350"/>
            <a:ext cx="2133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6B5B77-4519-43AE-B0BC-D3C0E1CB2607}" type="slidenum">
              <a:rPr lang="en-US" smtClean="0">
                <a:solidFill>
                  <a:schemeClr val="bg1"/>
                </a:solidFill>
              </a:rPr>
              <a:pPr/>
              <a:t>18</a:t>
            </a:fld>
            <a:endParaRPr lang="en-US" dirty="0">
              <a:solidFill>
                <a:schemeClr val="bg1"/>
              </a:solidFill>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18</a:t>
            </a:fld>
            <a:endParaRPr lang="en-US" dirty="0"/>
          </a:p>
        </p:txBody>
      </p:sp>
      <p:sp>
        <p:nvSpPr>
          <p:cNvPr id="15" name="TextBox 14"/>
          <p:cNvSpPr txBox="1"/>
          <p:nvPr/>
        </p:nvSpPr>
        <p:spPr>
          <a:xfrm>
            <a:off x="609600" y="5181600"/>
            <a:ext cx="8077200" cy="646331"/>
          </a:xfrm>
          <a:prstGeom prst="rect">
            <a:avLst/>
          </a:prstGeom>
          <a:noFill/>
        </p:spPr>
        <p:txBody>
          <a:bodyPr wrap="square" rtlCol="0">
            <a:spAutoFit/>
          </a:bodyPr>
          <a:lstStyle/>
          <a:p>
            <a:pPr algn="ctr"/>
            <a:r>
              <a:rPr lang="en-US" i="1" dirty="0" smtClean="0"/>
              <a:t>National Buys includes media purchased as part of any audience plan, including Diverse Mass, Black, Hispanic, etc.</a:t>
            </a:r>
            <a:endParaRPr lang="en-US" i="1" dirty="0"/>
          </a:p>
        </p:txBody>
      </p:sp>
      <p:sp>
        <p:nvSpPr>
          <p:cNvPr id="18" name="TextBox 17"/>
          <p:cNvSpPr txBox="1"/>
          <p:nvPr/>
        </p:nvSpPr>
        <p:spPr>
          <a:xfrm>
            <a:off x="1447800" y="1828800"/>
            <a:ext cx="1905000" cy="400110"/>
          </a:xfrm>
          <a:prstGeom prst="rect">
            <a:avLst/>
          </a:prstGeom>
          <a:noFill/>
        </p:spPr>
        <p:txBody>
          <a:bodyPr wrap="square" rtlCol="0">
            <a:spAutoFit/>
          </a:bodyPr>
          <a:lstStyle/>
          <a:p>
            <a:pPr algn="ctr"/>
            <a:r>
              <a:rPr lang="en-US" sz="2000" b="1" dirty="0" smtClean="0"/>
              <a:t>Census 2000</a:t>
            </a:r>
            <a:endParaRPr lang="en-US" sz="2000" b="1" dirty="0"/>
          </a:p>
        </p:txBody>
      </p:sp>
      <p:graphicFrame>
        <p:nvGraphicFramePr>
          <p:cNvPr id="21" name="Chart 20"/>
          <p:cNvGraphicFramePr>
            <a:graphicFrameLocks/>
          </p:cNvGraphicFramePr>
          <p:nvPr>
            <p:extLst>
              <p:ext uri="{D42A27DB-BD31-4B8C-83A1-F6EECF244321}">
                <p14:modId xmlns:p14="http://schemas.microsoft.com/office/powerpoint/2010/main" val="1247154036"/>
              </p:ext>
            </p:extLst>
          </p:nvPr>
        </p:nvGraphicFramePr>
        <p:xfrm>
          <a:off x="0" y="2028855"/>
          <a:ext cx="4838700" cy="31032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p:cNvGraphicFramePr>
            <a:graphicFrameLocks/>
          </p:cNvGraphicFramePr>
          <p:nvPr>
            <p:extLst>
              <p:ext uri="{D42A27DB-BD31-4B8C-83A1-F6EECF244321}">
                <p14:modId xmlns:p14="http://schemas.microsoft.com/office/powerpoint/2010/main" val="2413080992"/>
              </p:ext>
            </p:extLst>
          </p:nvPr>
        </p:nvGraphicFramePr>
        <p:xfrm>
          <a:off x="4114800" y="2048647"/>
          <a:ext cx="51816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Box 22"/>
          <p:cNvSpPr txBox="1"/>
          <p:nvPr/>
        </p:nvSpPr>
        <p:spPr>
          <a:xfrm>
            <a:off x="5867400" y="1828800"/>
            <a:ext cx="1905000" cy="400110"/>
          </a:xfrm>
          <a:prstGeom prst="rect">
            <a:avLst/>
          </a:prstGeom>
          <a:noFill/>
        </p:spPr>
        <p:txBody>
          <a:bodyPr wrap="square" rtlCol="0">
            <a:spAutoFit/>
          </a:bodyPr>
          <a:lstStyle/>
          <a:p>
            <a:pPr algn="ctr"/>
            <a:r>
              <a:rPr lang="en-US" sz="2000" b="1" dirty="0" smtClean="0"/>
              <a:t>2010 Census</a:t>
            </a:r>
            <a:endParaRPr lang="en-US" sz="2000" b="1" dirty="0"/>
          </a:p>
        </p:txBody>
      </p:sp>
    </p:spTree>
    <p:extLst>
      <p:ext uri="{BB962C8B-B14F-4D97-AF65-F5344CB8AC3E}">
        <p14:creationId xmlns:p14="http://schemas.microsoft.com/office/powerpoint/2010/main" val="42034385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Campaign Phases</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19</a:t>
            </a:fld>
            <a:endParaRPr lang="en-US" dirty="0"/>
          </a:p>
        </p:txBody>
      </p:sp>
      <p:sp>
        <p:nvSpPr>
          <p:cNvPr id="6" name="Text Box 15"/>
          <p:cNvSpPr txBox="1">
            <a:spLocks noChangeArrowheads="1"/>
          </p:cNvSpPr>
          <p:nvPr/>
        </p:nvSpPr>
        <p:spPr bwMode="auto">
          <a:xfrm>
            <a:off x="301625" y="2484438"/>
            <a:ext cx="1833563" cy="314325"/>
          </a:xfrm>
          <a:prstGeom prst="rect">
            <a:avLst/>
          </a:prstGeom>
          <a:solidFill>
            <a:schemeClr val="accent1">
              <a:lumMod val="40000"/>
              <a:lumOff val="60000"/>
            </a:schemeClr>
          </a:solidFill>
          <a:ln w="9525">
            <a:solidFill>
              <a:schemeClr val="bg1"/>
            </a:solidFill>
            <a:miter lim="800000"/>
            <a:headEnd/>
            <a:tailEnd/>
          </a:ln>
        </p:spPr>
        <p:txBody>
          <a:bodyPr>
            <a:spAutoFit/>
          </a:bodyPr>
          <a:lstStyle/>
          <a:p>
            <a:pPr algn="ctr" eaLnBrk="0" hangingPunct="0">
              <a:lnSpc>
                <a:spcPct val="100000"/>
              </a:lnSpc>
              <a:spcBef>
                <a:spcPct val="50000"/>
              </a:spcBef>
            </a:pPr>
            <a:r>
              <a:rPr lang="en-US" sz="1400" b="1" u="none" dirty="0">
                <a:solidFill>
                  <a:schemeClr val="tx1"/>
                </a:solidFill>
              </a:rPr>
              <a:t>JANUARY</a:t>
            </a:r>
          </a:p>
        </p:txBody>
      </p:sp>
      <p:sp>
        <p:nvSpPr>
          <p:cNvPr id="7" name="Text Box 16"/>
          <p:cNvSpPr txBox="1">
            <a:spLocks noChangeArrowheads="1"/>
          </p:cNvSpPr>
          <p:nvPr/>
        </p:nvSpPr>
        <p:spPr bwMode="auto">
          <a:xfrm>
            <a:off x="2201863" y="2493963"/>
            <a:ext cx="1933575" cy="304800"/>
          </a:xfrm>
          <a:prstGeom prst="rect">
            <a:avLst/>
          </a:prstGeom>
          <a:solidFill>
            <a:schemeClr val="accent1">
              <a:lumMod val="40000"/>
              <a:lumOff val="60000"/>
            </a:schemeClr>
          </a:solidFill>
          <a:ln w="9525">
            <a:noFill/>
            <a:miter lim="800000"/>
            <a:headEnd/>
            <a:tailEnd/>
          </a:ln>
        </p:spPr>
        <p:txBody>
          <a:bodyPr>
            <a:spAutoFit/>
          </a:bodyPr>
          <a:lstStyle/>
          <a:p>
            <a:pPr algn="ctr" eaLnBrk="0" hangingPunct="0">
              <a:lnSpc>
                <a:spcPct val="100000"/>
              </a:lnSpc>
              <a:spcBef>
                <a:spcPct val="50000"/>
              </a:spcBef>
            </a:pPr>
            <a:r>
              <a:rPr lang="en-US" sz="1400" b="1" u="none" dirty="0">
                <a:solidFill>
                  <a:schemeClr val="tx1"/>
                </a:solidFill>
              </a:rPr>
              <a:t>FEBRUARY</a:t>
            </a:r>
          </a:p>
        </p:txBody>
      </p:sp>
      <p:sp>
        <p:nvSpPr>
          <p:cNvPr id="8" name="Text Box 17"/>
          <p:cNvSpPr txBox="1">
            <a:spLocks noChangeArrowheads="1"/>
          </p:cNvSpPr>
          <p:nvPr/>
        </p:nvSpPr>
        <p:spPr bwMode="auto">
          <a:xfrm>
            <a:off x="4224338" y="2484438"/>
            <a:ext cx="2492375" cy="314325"/>
          </a:xfrm>
          <a:prstGeom prst="rect">
            <a:avLst/>
          </a:prstGeom>
          <a:solidFill>
            <a:schemeClr val="accent1">
              <a:lumMod val="40000"/>
              <a:lumOff val="60000"/>
            </a:schemeClr>
          </a:solidFill>
          <a:ln w="9525">
            <a:solidFill>
              <a:schemeClr val="bg1"/>
            </a:solidFill>
            <a:miter lim="800000"/>
            <a:headEnd/>
            <a:tailEnd/>
          </a:ln>
        </p:spPr>
        <p:txBody>
          <a:bodyPr>
            <a:spAutoFit/>
          </a:bodyPr>
          <a:lstStyle/>
          <a:p>
            <a:pPr algn="ctr" eaLnBrk="0" hangingPunct="0">
              <a:lnSpc>
                <a:spcPct val="100000"/>
              </a:lnSpc>
              <a:spcBef>
                <a:spcPct val="50000"/>
              </a:spcBef>
            </a:pPr>
            <a:r>
              <a:rPr lang="en-US" sz="1400" b="1" u="none" dirty="0">
                <a:solidFill>
                  <a:schemeClr val="tx1"/>
                </a:solidFill>
              </a:rPr>
              <a:t>MARCH/APRIL</a:t>
            </a:r>
          </a:p>
        </p:txBody>
      </p:sp>
      <p:sp>
        <p:nvSpPr>
          <p:cNvPr id="9" name="Text Box 12"/>
          <p:cNvSpPr txBox="1">
            <a:spLocks noChangeArrowheads="1"/>
          </p:cNvSpPr>
          <p:nvPr/>
        </p:nvSpPr>
        <p:spPr bwMode="auto">
          <a:xfrm>
            <a:off x="449263" y="2895600"/>
            <a:ext cx="1323975" cy="374650"/>
          </a:xfrm>
          <a:prstGeom prst="rect">
            <a:avLst/>
          </a:prstGeom>
          <a:solidFill>
            <a:schemeClr val="accent1">
              <a:lumMod val="75000"/>
            </a:schemeClr>
          </a:solidFill>
          <a:ln w="9525" cap="rnd">
            <a:solidFill>
              <a:schemeClr val="tx1"/>
            </a:solidFill>
            <a:prstDash val="sysDot"/>
            <a:miter lim="800000"/>
            <a:headEnd/>
            <a:tailEnd/>
          </a:ln>
        </p:spPr>
        <p:txBody>
          <a:bodyPr wrap="none">
            <a:spAutoFit/>
          </a:bodyPr>
          <a:lstStyle/>
          <a:p>
            <a:pPr eaLnBrk="0" hangingPunct="0">
              <a:lnSpc>
                <a:spcPct val="100000"/>
              </a:lnSpc>
              <a:spcBef>
                <a:spcPct val="0"/>
              </a:spcBef>
            </a:pPr>
            <a:r>
              <a:rPr lang="en-US" sz="1800" b="0" u="none" dirty="0">
                <a:solidFill>
                  <a:schemeClr val="bg1"/>
                </a:solidFill>
              </a:rPr>
              <a:t>Awareness</a:t>
            </a:r>
          </a:p>
        </p:txBody>
      </p:sp>
      <p:sp>
        <p:nvSpPr>
          <p:cNvPr id="10" name="Line 13"/>
          <p:cNvSpPr>
            <a:spLocks noChangeShapeType="1"/>
          </p:cNvSpPr>
          <p:nvPr/>
        </p:nvSpPr>
        <p:spPr bwMode="auto">
          <a:xfrm>
            <a:off x="1820863" y="3113088"/>
            <a:ext cx="4651375" cy="0"/>
          </a:xfrm>
          <a:prstGeom prst="line">
            <a:avLst/>
          </a:prstGeom>
          <a:noFill/>
          <a:ln w="9525">
            <a:solidFill>
              <a:schemeClr val="tx1"/>
            </a:solidFill>
            <a:round/>
            <a:headEnd/>
            <a:tailEnd type="triangle" w="med" len="med"/>
          </a:ln>
        </p:spPr>
        <p:txBody>
          <a:bodyPr/>
          <a:lstStyle/>
          <a:p>
            <a:endParaRPr lang="en-US" dirty="0"/>
          </a:p>
        </p:txBody>
      </p:sp>
      <p:sp>
        <p:nvSpPr>
          <p:cNvPr id="11" name="Line 15"/>
          <p:cNvSpPr>
            <a:spLocks noChangeShapeType="1"/>
          </p:cNvSpPr>
          <p:nvPr/>
        </p:nvSpPr>
        <p:spPr bwMode="auto">
          <a:xfrm>
            <a:off x="146050" y="3465513"/>
            <a:ext cx="6311900" cy="0"/>
          </a:xfrm>
          <a:prstGeom prst="line">
            <a:avLst/>
          </a:prstGeom>
          <a:noFill/>
          <a:ln w="9525">
            <a:solidFill>
              <a:schemeClr val="tx1"/>
            </a:solidFill>
            <a:round/>
            <a:headEnd/>
            <a:tailEnd type="triangle" w="med" len="med"/>
          </a:ln>
        </p:spPr>
        <p:txBody>
          <a:bodyPr/>
          <a:lstStyle/>
          <a:p>
            <a:endParaRPr lang="en-US" dirty="0"/>
          </a:p>
        </p:txBody>
      </p:sp>
      <p:sp>
        <p:nvSpPr>
          <p:cNvPr id="12" name="Text Box 9"/>
          <p:cNvSpPr txBox="1">
            <a:spLocks noChangeArrowheads="1"/>
          </p:cNvSpPr>
          <p:nvPr/>
        </p:nvSpPr>
        <p:spPr bwMode="auto">
          <a:xfrm>
            <a:off x="4830763" y="2946400"/>
            <a:ext cx="1235075" cy="681038"/>
          </a:xfrm>
          <a:prstGeom prst="rect">
            <a:avLst/>
          </a:prstGeom>
          <a:solidFill>
            <a:schemeClr val="accent1">
              <a:lumMod val="75000"/>
            </a:schemeClr>
          </a:solidFill>
          <a:ln w="9525" cap="rnd">
            <a:solidFill>
              <a:schemeClr val="tx1"/>
            </a:solidFill>
            <a:prstDash val="sysDot"/>
            <a:miter lim="800000"/>
            <a:headEnd/>
            <a:tailEnd/>
          </a:ln>
        </p:spPr>
        <p:txBody>
          <a:bodyPr anchor="ctr"/>
          <a:lstStyle/>
          <a:p>
            <a:pPr eaLnBrk="0" hangingPunct="0">
              <a:lnSpc>
                <a:spcPct val="100000"/>
              </a:lnSpc>
              <a:spcBef>
                <a:spcPct val="0"/>
              </a:spcBef>
            </a:pPr>
            <a:r>
              <a:rPr lang="en-US" sz="1800" b="0" u="none" dirty="0">
                <a:solidFill>
                  <a:schemeClr val="bg1"/>
                </a:solidFill>
              </a:rPr>
              <a:t>Motivation</a:t>
            </a:r>
          </a:p>
        </p:txBody>
      </p:sp>
      <p:sp>
        <p:nvSpPr>
          <p:cNvPr id="13" name="Text Box 15"/>
          <p:cNvSpPr txBox="1">
            <a:spLocks noChangeArrowheads="1"/>
          </p:cNvSpPr>
          <p:nvPr/>
        </p:nvSpPr>
        <p:spPr bwMode="auto">
          <a:xfrm>
            <a:off x="6805613" y="2484438"/>
            <a:ext cx="1749425" cy="314325"/>
          </a:xfrm>
          <a:prstGeom prst="rect">
            <a:avLst/>
          </a:prstGeom>
          <a:solidFill>
            <a:schemeClr val="accent1">
              <a:lumMod val="40000"/>
              <a:lumOff val="60000"/>
            </a:schemeClr>
          </a:solidFill>
          <a:ln w="9525">
            <a:solidFill>
              <a:schemeClr val="bg1"/>
            </a:solidFill>
            <a:miter lim="800000"/>
            <a:headEnd/>
            <a:tailEnd/>
          </a:ln>
        </p:spPr>
        <p:txBody>
          <a:bodyPr>
            <a:spAutoFit/>
          </a:bodyPr>
          <a:lstStyle/>
          <a:p>
            <a:pPr algn="ctr" eaLnBrk="0" hangingPunct="0">
              <a:lnSpc>
                <a:spcPct val="100000"/>
              </a:lnSpc>
              <a:spcBef>
                <a:spcPct val="50000"/>
              </a:spcBef>
            </a:pPr>
            <a:r>
              <a:rPr lang="en-US" sz="1400" b="1" u="none" dirty="0">
                <a:solidFill>
                  <a:schemeClr val="tx1"/>
                </a:solidFill>
              </a:rPr>
              <a:t>MAY/JUNE</a:t>
            </a:r>
          </a:p>
        </p:txBody>
      </p:sp>
      <p:sp>
        <p:nvSpPr>
          <p:cNvPr id="14" name="Text Box 14"/>
          <p:cNvSpPr txBox="1">
            <a:spLocks noChangeArrowheads="1"/>
          </p:cNvSpPr>
          <p:nvPr/>
        </p:nvSpPr>
        <p:spPr bwMode="auto">
          <a:xfrm>
            <a:off x="1827213" y="3281363"/>
            <a:ext cx="1209675" cy="376237"/>
          </a:xfrm>
          <a:prstGeom prst="rect">
            <a:avLst/>
          </a:prstGeom>
          <a:solidFill>
            <a:schemeClr val="accent1">
              <a:lumMod val="75000"/>
            </a:schemeClr>
          </a:solidFill>
          <a:ln w="9525" cap="rnd">
            <a:solidFill>
              <a:schemeClr val="tx1"/>
            </a:solidFill>
            <a:prstDash val="sysDot"/>
            <a:miter lim="800000"/>
            <a:headEnd/>
            <a:tailEnd/>
          </a:ln>
        </p:spPr>
        <p:txBody>
          <a:bodyPr wrap="none">
            <a:spAutoFit/>
          </a:bodyPr>
          <a:lstStyle/>
          <a:p>
            <a:pPr eaLnBrk="0" hangingPunct="0">
              <a:lnSpc>
                <a:spcPct val="100000"/>
              </a:lnSpc>
              <a:spcBef>
                <a:spcPct val="0"/>
              </a:spcBef>
            </a:pPr>
            <a:r>
              <a:rPr lang="en-US" sz="1800" b="0" u="none" dirty="0">
                <a:solidFill>
                  <a:schemeClr val="bg1"/>
                </a:solidFill>
              </a:rPr>
              <a:t>Education</a:t>
            </a:r>
          </a:p>
        </p:txBody>
      </p:sp>
      <p:sp>
        <p:nvSpPr>
          <p:cNvPr id="15" name="Text Box 24"/>
          <p:cNvSpPr txBox="1">
            <a:spLocks noChangeArrowheads="1"/>
          </p:cNvSpPr>
          <p:nvPr/>
        </p:nvSpPr>
        <p:spPr bwMode="auto">
          <a:xfrm>
            <a:off x="6924675" y="2936875"/>
            <a:ext cx="1484313" cy="681038"/>
          </a:xfrm>
          <a:prstGeom prst="rect">
            <a:avLst/>
          </a:prstGeom>
          <a:solidFill>
            <a:schemeClr val="accent1">
              <a:lumMod val="75000"/>
            </a:schemeClr>
          </a:solidFill>
          <a:ln w="9525" cap="rnd">
            <a:solidFill>
              <a:schemeClr val="tx1"/>
            </a:solidFill>
            <a:prstDash val="sysDot"/>
            <a:miter lim="800000"/>
            <a:headEnd/>
            <a:tailEnd/>
          </a:ln>
        </p:spPr>
        <p:txBody>
          <a:bodyPr anchor="ctr"/>
          <a:lstStyle/>
          <a:p>
            <a:pPr algn="ctr" eaLnBrk="0" hangingPunct="0">
              <a:lnSpc>
                <a:spcPct val="100000"/>
              </a:lnSpc>
              <a:spcBef>
                <a:spcPct val="0"/>
              </a:spcBef>
            </a:pPr>
            <a:r>
              <a:rPr lang="en-US" sz="1800" b="0" u="none" dirty="0">
                <a:solidFill>
                  <a:schemeClr val="bg1"/>
                </a:solidFill>
              </a:rPr>
              <a:t>Support</a:t>
            </a:r>
          </a:p>
        </p:txBody>
      </p:sp>
    </p:spTree>
    <p:extLst>
      <p:ext uri="{BB962C8B-B14F-4D97-AF65-F5344CB8AC3E}">
        <p14:creationId xmlns:p14="http://schemas.microsoft.com/office/powerpoint/2010/main" val="30757587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Top Lessons Learned</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20</a:t>
            </a:fld>
            <a:endParaRPr lang="en-US" dirty="0"/>
          </a:p>
        </p:txBody>
      </p:sp>
      <p:sp>
        <p:nvSpPr>
          <p:cNvPr id="5" name="Content Placeholder 2"/>
          <p:cNvSpPr txBox="1">
            <a:spLocks/>
          </p:cNvSpPr>
          <p:nvPr/>
        </p:nvSpPr>
        <p:spPr>
          <a:xfrm>
            <a:off x="457200" y="1646237"/>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smtClean="0"/>
              <a:t>Integrate Census Bureau subject matter experts into all phases of the 2020 Census Integrated Partnership and Communications Program </a:t>
            </a:r>
          </a:p>
          <a:p>
            <a:pPr>
              <a:buFont typeface="Arial" panose="020B0604020202020204" pitchFamily="34" charset="0"/>
              <a:buChar char="•"/>
            </a:pPr>
            <a:endParaRPr lang="en-US" sz="1800" dirty="0" smtClean="0"/>
          </a:p>
          <a:p>
            <a:pPr>
              <a:buFont typeface="Arial" panose="020B0604020202020204" pitchFamily="34" charset="0"/>
              <a:buChar char="•"/>
            </a:pPr>
            <a:r>
              <a:rPr lang="en-US" sz="1800" dirty="0" smtClean="0"/>
              <a:t>Align timing, funding, and design decisions between the development of the Integrated Partnership and Communications Program Plan and the Census Bureau’s operational milestones to effectively support all phases of the 2020 Census</a:t>
            </a:r>
          </a:p>
          <a:p>
            <a:pPr>
              <a:buFont typeface="Arial" panose="020B0604020202020204" pitchFamily="34" charset="0"/>
              <a:buChar char="•"/>
            </a:pPr>
            <a:endParaRPr lang="en-US" sz="1800" dirty="0" smtClean="0"/>
          </a:p>
          <a:p>
            <a:pPr>
              <a:buFont typeface="Arial" panose="020B0604020202020204" pitchFamily="34" charset="0"/>
              <a:buChar char="•"/>
            </a:pPr>
            <a:r>
              <a:rPr lang="en-US" sz="1800" dirty="0" smtClean="0"/>
              <a:t>Establish more specific program metrics for the Integrated Partnership and Communications Program to assist in evaluation and assessment</a:t>
            </a:r>
            <a:endParaRPr lang="en-US" sz="1800" dirty="0"/>
          </a:p>
          <a:p>
            <a:pPr>
              <a:buFont typeface="Arial" panose="020B0604020202020204" pitchFamily="34" charset="0"/>
              <a:buChar char="•"/>
            </a:pPr>
            <a:endParaRPr lang="en-US" sz="1800" dirty="0" smtClean="0"/>
          </a:p>
          <a:p>
            <a:pPr>
              <a:buFont typeface="Arial" panose="020B0604020202020204" pitchFamily="34" charset="0"/>
              <a:buChar char="•"/>
            </a:pPr>
            <a:r>
              <a:rPr lang="en-US" sz="1800" dirty="0" smtClean="0"/>
              <a:t>Incorporate </a:t>
            </a:r>
            <a:r>
              <a:rPr lang="en-US" sz="1800" dirty="0"/>
              <a:t>ever-advancing technology into the ICC planning process to ensure optimal communication and that Census response systems are used. </a:t>
            </a:r>
          </a:p>
          <a:p>
            <a:pPr>
              <a:buFont typeface="Arial" panose="020B0604020202020204" pitchFamily="34" charset="0"/>
              <a:buChar char="•"/>
            </a:pPr>
            <a:endParaRPr lang="en-US" sz="1800" dirty="0"/>
          </a:p>
          <a:p>
            <a:pPr>
              <a:buFont typeface="Arial" panose="020B0604020202020204" pitchFamily="34" charset="0"/>
              <a:buChar char="•"/>
            </a:pPr>
            <a:endParaRPr lang="en-US" sz="1800" dirty="0" smtClean="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4028023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Top Lessons Learned </a:t>
            </a:r>
            <a:r>
              <a:rPr lang="en-US" sz="2400" b="0" dirty="0">
                <a:solidFill>
                  <a:schemeClr val="accent1"/>
                </a:solidFill>
                <a:latin typeface="+mn-lt"/>
              </a:rPr>
              <a:t>(</a:t>
            </a:r>
            <a:r>
              <a:rPr lang="en-US" sz="2400" b="0" dirty="0" smtClean="0">
                <a:solidFill>
                  <a:schemeClr val="accent1"/>
                </a:solidFill>
                <a:latin typeface="+mn-lt"/>
              </a:rPr>
              <a:t>Continued)</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21</a:t>
            </a:fld>
            <a:endParaRPr lang="en-US" dirty="0"/>
          </a:p>
        </p:txBody>
      </p:sp>
      <p:sp>
        <p:nvSpPr>
          <p:cNvPr id="5" name="Content Placeholder 2"/>
          <p:cNvSpPr txBox="1">
            <a:spLocks/>
          </p:cNvSpPr>
          <p:nvPr/>
        </p:nvSpPr>
        <p:spPr>
          <a:xfrm>
            <a:off x="457200" y="1646237"/>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a:t>The success of the ICC was in part due to getting real-time market data for the first time and being able to analyze it, then making in-market adjustments. </a:t>
            </a:r>
            <a:endParaRPr lang="en-US" sz="1800" dirty="0" smtClean="0"/>
          </a:p>
          <a:p>
            <a:pPr marL="0" indent="0">
              <a:buNone/>
            </a:pPr>
            <a:endParaRPr lang="en-US" sz="1800" dirty="0"/>
          </a:p>
          <a:p>
            <a:pPr>
              <a:buFont typeface="Arial" panose="020B0604020202020204" pitchFamily="34" charset="0"/>
              <a:buChar char="•"/>
            </a:pPr>
            <a:r>
              <a:rPr lang="en-US" sz="1800" dirty="0"/>
              <a:t>Engage stakeholders early and often.</a:t>
            </a:r>
          </a:p>
          <a:p>
            <a:pPr>
              <a:buFont typeface="Arial" panose="020B0604020202020204" pitchFamily="34" charset="0"/>
              <a:buChar char="•"/>
            </a:pPr>
            <a:endParaRPr lang="en-US" sz="1800" dirty="0" smtClean="0"/>
          </a:p>
          <a:p>
            <a:pPr>
              <a:buFont typeface="Arial" panose="020B0604020202020204" pitchFamily="34" charset="0"/>
              <a:buChar char="•"/>
            </a:pPr>
            <a:r>
              <a:rPr lang="en-US" sz="1800" dirty="0" smtClean="0"/>
              <a:t>Improve </a:t>
            </a:r>
            <a:r>
              <a:rPr lang="en-US" sz="1800" dirty="0"/>
              <a:t>the understanding and transparency of the media buying process among key stakeholders and the Paid Media community.</a:t>
            </a:r>
          </a:p>
          <a:p>
            <a:pPr>
              <a:buFont typeface="Arial" panose="020B0604020202020204" pitchFamily="34" charset="0"/>
              <a:buChar char="•"/>
            </a:pPr>
            <a:endParaRPr lang="en-US" sz="1800" dirty="0" smtClean="0"/>
          </a:p>
          <a:p>
            <a:pPr>
              <a:buFont typeface="Arial" panose="020B0604020202020204" pitchFamily="34" charset="0"/>
              <a:buChar char="•"/>
            </a:pPr>
            <a:r>
              <a:rPr lang="en-US" sz="1800" dirty="0" smtClean="0"/>
              <a:t>An </a:t>
            </a:r>
            <a:r>
              <a:rPr lang="en-US" sz="1800" dirty="0"/>
              <a:t>earlier start allows for the development and validation of a brand identity that can be used across all programs and channels to ensure a cohesive look and feel.</a:t>
            </a:r>
          </a:p>
          <a:p>
            <a:pPr>
              <a:buFont typeface="Arial" panose="020B0604020202020204" pitchFamily="34" charset="0"/>
              <a:buChar char="•"/>
            </a:pPr>
            <a:endParaRPr lang="en-US" sz="1800" dirty="0"/>
          </a:p>
          <a:p>
            <a:pPr>
              <a:buFont typeface="Arial" panose="020B0604020202020204" pitchFamily="34" charset="0"/>
              <a:buChar char="•"/>
            </a:pPr>
            <a:endParaRPr lang="en-US" sz="1800" dirty="0" smtClean="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4051162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2010 Census</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Evaluation of the Campaign</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22</a:t>
            </a:fld>
            <a:endParaRPr lang="en-US" dirty="0"/>
          </a:p>
        </p:txBody>
      </p:sp>
      <p:sp>
        <p:nvSpPr>
          <p:cNvPr id="5" name="Content Placeholder 2"/>
          <p:cNvSpPr txBox="1">
            <a:spLocks/>
          </p:cNvSpPr>
          <p:nvPr/>
        </p:nvSpPr>
        <p:spPr>
          <a:xfrm>
            <a:off x="457200" y="1600200"/>
            <a:ext cx="6400800" cy="4525963"/>
          </a:xfrm>
          <a:prstGeom prst="rect">
            <a:avLst/>
          </a:prstGeom>
        </p:spPr>
        <p:txBody>
          <a:bodyPr>
            <a:normAutofit fontScale="92500" lnSpcReduction="20000"/>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700" b="1" u="sng" dirty="0" smtClean="0"/>
              <a:t>Overview and Purpose</a:t>
            </a:r>
          </a:p>
          <a:p>
            <a:pPr>
              <a:buFont typeface="Arial" panose="020B0604020202020204" pitchFamily="34" charset="0"/>
              <a:buChar char="•"/>
            </a:pPr>
            <a:r>
              <a:rPr lang="en-US" sz="1700" dirty="0" smtClean="0"/>
              <a:t>NORC </a:t>
            </a:r>
            <a:r>
              <a:rPr lang="en-US" sz="1700" dirty="0"/>
              <a:t>at the University of </a:t>
            </a:r>
            <a:r>
              <a:rPr lang="en-US" sz="1700" dirty="0" smtClean="0"/>
              <a:t>Chicago was </a:t>
            </a:r>
            <a:r>
              <a:rPr lang="en-US" sz="1700" dirty="0"/>
              <a:t>selected to conduct </a:t>
            </a:r>
            <a:r>
              <a:rPr lang="en-US" sz="1700" dirty="0" smtClean="0"/>
              <a:t>the evaluation</a:t>
            </a:r>
          </a:p>
          <a:p>
            <a:pPr>
              <a:buFont typeface="Arial" panose="020B0604020202020204" pitchFamily="34" charset="0"/>
              <a:buChar char="•"/>
            </a:pPr>
            <a:r>
              <a:rPr lang="en-US" sz="1700" dirty="0" smtClean="0"/>
              <a:t>Upon completion of the evaluation, their final report was to identify whether </a:t>
            </a:r>
            <a:r>
              <a:rPr lang="en-US" sz="1700" dirty="0"/>
              <a:t>the ICP achieved its goals:</a:t>
            </a:r>
          </a:p>
          <a:p>
            <a:pPr lvl="1"/>
            <a:r>
              <a:rPr lang="en-US" sz="1700" dirty="0"/>
              <a:t>Increase mail response rate</a:t>
            </a:r>
          </a:p>
          <a:p>
            <a:pPr lvl="1"/>
            <a:r>
              <a:rPr lang="en-US" sz="1700" dirty="0"/>
              <a:t>Improve overall accuracy and reduce the differential undercount</a:t>
            </a:r>
          </a:p>
          <a:p>
            <a:pPr lvl="1"/>
            <a:r>
              <a:rPr lang="en-US" sz="1700" dirty="0"/>
              <a:t>Improve cooperation  with </a:t>
            </a:r>
            <a:r>
              <a:rPr lang="en-US" sz="1700" dirty="0" smtClean="0"/>
              <a:t>enumerators</a:t>
            </a:r>
          </a:p>
          <a:p>
            <a:pPr lvl="1"/>
            <a:endParaRPr lang="en-US" sz="1700" dirty="0"/>
          </a:p>
          <a:p>
            <a:pPr marL="0" indent="0">
              <a:buNone/>
            </a:pPr>
            <a:r>
              <a:rPr lang="en-US" sz="1700" b="1" u="sng" dirty="0" smtClean="0"/>
              <a:t>Findings/Challenges</a:t>
            </a:r>
          </a:p>
          <a:p>
            <a:pPr>
              <a:buFont typeface="Arial" panose="020B0604020202020204" pitchFamily="34" charset="0"/>
              <a:buChar char="•"/>
            </a:pPr>
            <a:r>
              <a:rPr lang="en-US" sz="1700" dirty="0" smtClean="0"/>
              <a:t>It </a:t>
            </a:r>
            <a:r>
              <a:rPr lang="en-US" sz="1700" dirty="0"/>
              <a:t>was difficult to evaluate the campaign. </a:t>
            </a:r>
            <a:r>
              <a:rPr lang="en-US" sz="1700" dirty="0" smtClean="0"/>
              <a:t>NORC </a:t>
            </a:r>
            <a:r>
              <a:rPr lang="en-US" sz="1700" dirty="0"/>
              <a:t>did not have all the data they needed to evaluate the components </a:t>
            </a:r>
            <a:r>
              <a:rPr lang="en-US" sz="1700" dirty="0" smtClean="0"/>
              <a:t>effectively, as data </a:t>
            </a:r>
            <a:r>
              <a:rPr lang="en-US" sz="1700" dirty="0"/>
              <a:t>collection </a:t>
            </a:r>
            <a:r>
              <a:rPr lang="en-US" sz="1700" dirty="0" smtClean="0"/>
              <a:t>began after </a:t>
            </a:r>
            <a:r>
              <a:rPr lang="en-US" sz="1700" dirty="0"/>
              <a:t>the </a:t>
            </a:r>
            <a:r>
              <a:rPr lang="en-US" sz="1700" dirty="0" smtClean="0"/>
              <a:t>program </a:t>
            </a:r>
            <a:r>
              <a:rPr lang="en-US" sz="1700" dirty="0"/>
              <a:t>started</a:t>
            </a:r>
            <a:r>
              <a:rPr lang="en-US" sz="1700" dirty="0" smtClean="0"/>
              <a:t>.</a:t>
            </a:r>
          </a:p>
          <a:p>
            <a:pPr>
              <a:buFont typeface="Arial" panose="020B0604020202020204" pitchFamily="34" charset="0"/>
              <a:buChar char="•"/>
            </a:pPr>
            <a:endParaRPr lang="en-US" sz="1700" dirty="0"/>
          </a:p>
          <a:p>
            <a:pPr marL="0" indent="0">
              <a:buNone/>
            </a:pPr>
            <a:r>
              <a:rPr lang="en-US" sz="1700" b="1" u="sng" dirty="0" smtClean="0"/>
              <a:t>2020 Recommendations</a:t>
            </a:r>
            <a:endParaRPr lang="en-US" sz="1700" b="1" u="sng" dirty="0"/>
          </a:p>
          <a:p>
            <a:pPr>
              <a:buFont typeface="Arial" panose="020B0604020202020204" pitchFamily="34" charset="0"/>
              <a:buChar char="•"/>
            </a:pPr>
            <a:r>
              <a:rPr lang="en-US" sz="1700" dirty="0" smtClean="0"/>
              <a:t>Involve independent evaluation contractor earlier in the campaign</a:t>
            </a:r>
          </a:p>
          <a:p>
            <a:pPr>
              <a:buFont typeface="Arial" panose="020B0604020202020204" pitchFamily="34" charset="0"/>
              <a:buChar char="•"/>
            </a:pPr>
            <a:r>
              <a:rPr lang="en-US" sz="1700" dirty="0" smtClean="0"/>
              <a:t>The independent evaluation contractor and the 2020 ICC contractor need to develop metrics together to approximately measure and evaluate the campaign</a:t>
            </a:r>
            <a:endParaRPr lang="en-US" sz="1700" dirty="0"/>
          </a:p>
          <a:p>
            <a:pPr>
              <a:buFont typeface="Arial" panose="020B0604020202020204" pitchFamily="34" charset="0"/>
              <a:buChar char="•"/>
            </a:pPr>
            <a:endParaRPr lang="en-US" sz="16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0400" y="1905000"/>
            <a:ext cx="1679929" cy="2175331"/>
          </a:xfrm>
          <a:prstGeom prst="rect">
            <a:avLst/>
          </a:prstGeom>
          <a:ln>
            <a:solidFill>
              <a:schemeClr val="tx1"/>
            </a:solidFill>
          </a:ln>
        </p:spPr>
      </p:pic>
    </p:spTree>
    <p:extLst>
      <p:ext uri="{BB962C8B-B14F-4D97-AF65-F5344CB8AC3E}">
        <p14:creationId xmlns:p14="http://schemas.microsoft.com/office/powerpoint/2010/main" val="21681416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2015 Census Test: Optimizing Self-Response</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Communications Research</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23</a:t>
            </a:fld>
            <a:endParaRPr lang="en-US" dirty="0"/>
          </a:p>
        </p:txBody>
      </p:sp>
      <p:sp>
        <p:nvSpPr>
          <p:cNvPr id="5" name="Content Placeholder 2"/>
          <p:cNvSpPr txBox="1">
            <a:spLocks/>
          </p:cNvSpPr>
          <p:nvPr/>
        </p:nvSpPr>
        <p:spPr>
          <a:xfrm>
            <a:off x="457200" y="1524000"/>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b="1" dirty="0" smtClean="0"/>
              <a:t>Goals</a:t>
            </a:r>
            <a:r>
              <a:rPr lang="en-US" sz="1800" b="1" dirty="0"/>
              <a:t>: </a:t>
            </a:r>
            <a:r>
              <a:rPr lang="en-US" sz="1800" dirty="0"/>
              <a:t>Test insights will support these 2020 Census goals: Increase opportunities to engage hard-to-count populations. </a:t>
            </a:r>
          </a:p>
          <a:p>
            <a:pPr lvl="1">
              <a:buFont typeface="+mj-lt"/>
              <a:buAutoNum type="arabicPeriod"/>
            </a:pPr>
            <a:r>
              <a:rPr lang="en-US" sz="1800" dirty="0" smtClean="0"/>
              <a:t>Increased </a:t>
            </a:r>
            <a:r>
              <a:rPr lang="en-US" sz="1800" dirty="0"/>
              <a:t>self-response to reduce NRFU and related costs. </a:t>
            </a:r>
          </a:p>
          <a:p>
            <a:pPr lvl="1">
              <a:buFont typeface="+mj-lt"/>
              <a:buAutoNum type="arabicPeriod"/>
            </a:pPr>
            <a:r>
              <a:rPr lang="en-US" sz="1800" dirty="0" smtClean="0"/>
              <a:t>Tested </a:t>
            </a:r>
            <a:r>
              <a:rPr lang="en-US" sz="1800" dirty="0"/>
              <a:t>communication activities to inform the 2020 communication program. </a:t>
            </a:r>
          </a:p>
          <a:p>
            <a:endParaRPr lang="en-US" sz="1800" dirty="0" smtClean="0"/>
          </a:p>
          <a:p>
            <a:endParaRPr lang="en-US" sz="1800" dirty="0"/>
          </a:p>
          <a:p>
            <a:pPr>
              <a:buFont typeface="Arial" panose="020B0604020202020204" pitchFamily="34" charset="0"/>
              <a:buChar char="•"/>
            </a:pPr>
            <a:r>
              <a:rPr lang="en-US" sz="1800" b="1" dirty="0" smtClean="0"/>
              <a:t>Objectives</a:t>
            </a:r>
            <a:r>
              <a:rPr lang="en-US" sz="1800" b="1" dirty="0"/>
              <a:t>: </a:t>
            </a:r>
            <a:r>
              <a:rPr lang="en-US" sz="1800" dirty="0"/>
              <a:t>Implement a comprehensive and integrated communications program in the Savannah media </a:t>
            </a:r>
            <a:r>
              <a:rPr lang="en-US" sz="1800" dirty="0" smtClean="0"/>
              <a:t>market.</a:t>
            </a:r>
            <a:endParaRPr lang="en-US" sz="1800" dirty="0"/>
          </a:p>
          <a:p>
            <a:pPr lvl="1">
              <a:buFont typeface="+mj-lt"/>
              <a:buAutoNum type="arabicPeriod"/>
            </a:pPr>
            <a:r>
              <a:rPr lang="en-US" sz="1800" dirty="0" smtClean="0"/>
              <a:t>Motivated </a:t>
            </a:r>
            <a:r>
              <a:rPr lang="en-US" sz="1800" dirty="0"/>
              <a:t>self-response, especially online. </a:t>
            </a:r>
          </a:p>
          <a:p>
            <a:pPr lvl="1">
              <a:buFont typeface="+mj-lt"/>
              <a:buAutoNum type="arabicPeriod"/>
            </a:pPr>
            <a:r>
              <a:rPr lang="en-US" sz="1800" dirty="0" smtClean="0"/>
              <a:t>Answered </a:t>
            </a:r>
            <a:r>
              <a:rPr lang="en-US" sz="1800" dirty="0"/>
              <a:t>communications research questions regarding the use and impact of micro-targeted digital advertising. </a:t>
            </a:r>
          </a:p>
          <a:p>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smtClean="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6055484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2015 Census Test: Optimizing Self Response</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Communications Research (Continued)</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24</a:t>
            </a:fld>
            <a:endParaRPr lang="en-US" dirty="0"/>
          </a:p>
        </p:txBody>
      </p:sp>
      <p:sp>
        <p:nvSpPr>
          <p:cNvPr id="5" name="Content Placeholder 2"/>
          <p:cNvSpPr txBox="1">
            <a:spLocks/>
          </p:cNvSpPr>
          <p:nvPr/>
        </p:nvSpPr>
        <p:spPr>
          <a:xfrm>
            <a:off x="457200" y="1524000"/>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sz="1800" dirty="0"/>
          </a:p>
          <a:p>
            <a:pPr>
              <a:buFont typeface="Arial" panose="020B0604020202020204" pitchFamily="34" charset="0"/>
              <a:buChar char="•"/>
            </a:pPr>
            <a:r>
              <a:rPr lang="en-US" sz="1800" dirty="0"/>
              <a:t>What </a:t>
            </a:r>
            <a:r>
              <a:rPr lang="en-US" sz="1800" dirty="0" smtClean="0"/>
              <a:t>were the </a:t>
            </a:r>
            <a:r>
              <a:rPr lang="en-US" sz="1800" dirty="0"/>
              <a:t>effects of integrating and combining </a:t>
            </a:r>
            <a:r>
              <a:rPr lang="en-US" sz="1800" b="1" dirty="0"/>
              <a:t>digital advertising </a:t>
            </a:r>
            <a:r>
              <a:rPr lang="en-US" sz="1800" dirty="0"/>
              <a:t>and </a:t>
            </a:r>
            <a:r>
              <a:rPr lang="en-US" sz="1800" b="1" dirty="0"/>
              <a:t>micro-targeted ads </a:t>
            </a:r>
            <a:r>
              <a:rPr lang="en-US" sz="1800" dirty="0"/>
              <a:t>with other traditional communications, such as mail postcards and letters, earned media coverage, computer-automated phone calls, broadcast and radio ads, and outreach through partnerships? </a:t>
            </a:r>
            <a:endParaRPr lang="en-US" sz="1800" dirty="0" smtClean="0"/>
          </a:p>
          <a:p>
            <a:endParaRPr lang="en-US" sz="1800" dirty="0"/>
          </a:p>
          <a:p>
            <a:pPr>
              <a:buFont typeface="Arial" panose="020B0604020202020204" pitchFamily="34" charset="0"/>
              <a:buChar char="•"/>
            </a:pPr>
            <a:r>
              <a:rPr lang="en-US" sz="1800" dirty="0" smtClean="0"/>
              <a:t>Specifically</a:t>
            </a:r>
            <a:r>
              <a:rPr lang="en-US" sz="1800" dirty="0"/>
              <a:t>, we </a:t>
            </a:r>
            <a:r>
              <a:rPr lang="en-US" sz="1800" dirty="0" smtClean="0"/>
              <a:t>explored </a:t>
            </a:r>
            <a:r>
              <a:rPr lang="en-US" sz="1800" dirty="0"/>
              <a:t>the effects on: Internet and overall self-response rates </a:t>
            </a:r>
          </a:p>
          <a:p>
            <a:pPr lvl="1"/>
            <a:r>
              <a:rPr lang="en-US" sz="1800" dirty="0" smtClean="0"/>
              <a:t>Internet </a:t>
            </a:r>
            <a:r>
              <a:rPr lang="en-US" sz="1800" dirty="0"/>
              <a:t>and self-response rates of housing units targeted by specific mail-out strategies </a:t>
            </a:r>
            <a:endParaRPr lang="en-US" sz="1800" dirty="0" smtClean="0"/>
          </a:p>
          <a:p>
            <a:pPr lvl="1"/>
            <a:r>
              <a:rPr lang="en-US" sz="1800" dirty="0" smtClean="0"/>
              <a:t>Socio-demographic characteristics of internet responders</a:t>
            </a:r>
            <a:endParaRPr lang="en-US" sz="1800" dirty="0"/>
          </a:p>
          <a:p>
            <a:endParaRPr lang="en-US" sz="1800" dirty="0"/>
          </a:p>
          <a:p>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smtClean="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8089749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2015 Census Test:  Optimizing Self-Response</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Paid Advertising  </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25</a:t>
            </a:fld>
            <a:endParaRPr lang="en-US" dirty="0"/>
          </a:p>
        </p:txBody>
      </p:sp>
      <p:sp>
        <p:nvSpPr>
          <p:cNvPr id="5" name="Content Placeholder 2"/>
          <p:cNvSpPr txBox="1">
            <a:spLocks/>
          </p:cNvSpPr>
          <p:nvPr/>
        </p:nvSpPr>
        <p:spPr>
          <a:xfrm>
            <a:off x="457200" y="1524000"/>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800" b="1" dirty="0" smtClean="0"/>
              <a:t>Types of Digital Micro-Targeted Advertising</a:t>
            </a:r>
            <a:endParaRPr lang="en-US" sz="1800" b="1" dirty="0"/>
          </a:p>
          <a:p>
            <a:pPr>
              <a:buFont typeface="Arial" panose="020B0604020202020204" pitchFamily="34" charset="0"/>
              <a:buChar char="•"/>
            </a:pPr>
            <a:r>
              <a:rPr lang="en-US" sz="1800" b="1" dirty="0"/>
              <a:t>Demographic</a:t>
            </a:r>
            <a:r>
              <a:rPr lang="en-US" sz="1800" dirty="0"/>
              <a:t>: age, sex, race, device type used </a:t>
            </a:r>
            <a:endParaRPr lang="en-US" sz="1800" dirty="0" smtClean="0"/>
          </a:p>
          <a:p>
            <a:pPr lvl="1"/>
            <a:r>
              <a:rPr lang="en-US" sz="1400" dirty="0" smtClean="0"/>
              <a:t>Example:  Focused on 65+ in Beaufort County, SC</a:t>
            </a:r>
          </a:p>
          <a:p>
            <a:endParaRPr lang="en-US" sz="1800" dirty="0"/>
          </a:p>
          <a:p>
            <a:pPr>
              <a:buFont typeface="Arial" panose="020B0604020202020204" pitchFamily="34" charset="0"/>
              <a:buChar char="•"/>
            </a:pPr>
            <a:r>
              <a:rPr lang="en-US" sz="1800" b="1" dirty="0" smtClean="0"/>
              <a:t>Behavioral</a:t>
            </a:r>
            <a:r>
              <a:rPr lang="en-US" sz="1800" dirty="0"/>
              <a:t>: past online behavior and/or lifestyle data </a:t>
            </a:r>
            <a:endParaRPr lang="en-US" sz="1800" dirty="0" smtClean="0"/>
          </a:p>
          <a:p>
            <a:pPr lvl="1"/>
            <a:r>
              <a:rPr lang="en-US" sz="1400" dirty="0" smtClean="0"/>
              <a:t>Example:  Focused on those in select  ZIP codes in Chatham County, GA, who have visited Spanish language websites in the past</a:t>
            </a:r>
          </a:p>
          <a:p>
            <a:endParaRPr lang="en-US" sz="1800" dirty="0"/>
          </a:p>
          <a:p>
            <a:pPr>
              <a:buFont typeface="Arial" panose="020B0604020202020204" pitchFamily="34" charset="0"/>
              <a:buChar char="•"/>
            </a:pPr>
            <a:r>
              <a:rPr lang="en-US" sz="1800" b="1" dirty="0" smtClean="0"/>
              <a:t>Geographic</a:t>
            </a:r>
            <a:r>
              <a:rPr lang="en-US" sz="1800" dirty="0"/>
              <a:t>: location (ZIP code, block group) </a:t>
            </a:r>
            <a:endParaRPr lang="en-US" sz="1800" dirty="0" smtClean="0"/>
          </a:p>
          <a:p>
            <a:pPr marL="0" indent="0">
              <a:buNone/>
            </a:pPr>
            <a:endParaRPr lang="en-US" sz="1800" dirty="0"/>
          </a:p>
          <a:p>
            <a:pPr>
              <a:buFont typeface="Arial" panose="020B0604020202020204" pitchFamily="34" charset="0"/>
              <a:buChar char="•"/>
            </a:pPr>
            <a:r>
              <a:rPr lang="en-US" sz="1800" b="1" dirty="0" smtClean="0"/>
              <a:t>Contextual</a:t>
            </a:r>
            <a:r>
              <a:rPr lang="en-US" sz="1800" dirty="0"/>
              <a:t>: content with which users are currently engaging </a:t>
            </a:r>
          </a:p>
        </p:txBody>
      </p:sp>
    </p:spTree>
    <p:extLst>
      <p:ext uri="{BB962C8B-B14F-4D97-AF65-F5344CB8AC3E}">
        <p14:creationId xmlns:p14="http://schemas.microsoft.com/office/powerpoint/2010/main" val="906692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8229600" cy="1143000"/>
          </a:xfrm>
          <a:prstGeom prst="rect">
            <a:avLst/>
          </a:prstGeom>
        </p:spPr>
        <p:txBody>
          <a:bodyPr>
            <a:normAutofit/>
          </a:bodyPr>
          <a:lstStyle/>
          <a:p>
            <a:pPr marL="0" indent="0" algn="l"/>
            <a:r>
              <a:rPr lang="en-US" sz="2800" b="0" dirty="0" smtClean="0">
                <a:solidFill>
                  <a:schemeClr val="tx1">
                    <a:lumMod val="75000"/>
                    <a:lumOff val="25000"/>
                  </a:schemeClr>
                </a:solidFill>
                <a:latin typeface="+mn-lt"/>
              </a:rPr>
              <a:t>2015 Census Test: Optimizing Self-Response</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Landscape</a:t>
            </a:r>
            <a:endParaRPr lang="en-US" sz="2400" b="0" dirty="0">
              <a:solidFill>
                <a:schemeClr val="accent1"/>
              </a:solidFill>
              <a:latin typeface="+mn-lt"/>
            </a:endParaRPr>
          </a:p>
        </p:txBody>
      </p:sp>
      <p:sp>
        <p:nvSpPr>
          <p:cNvPr id="2" name="Slide Number Placeholder 1"/>
          <p:cNvSpPr>
            <a:spLocks noGrp="1"/>
          </p:cNvSpPr>
          <p:nvPr>
            <p:ph type="sldNum" sz="quarter" idx="12"/>
          </p:nvPr>
        </p:nvSpPr>
        <p:spPr/>
        <p:txBody>
          <a:bodyPr/>
          <a:lstStyle/>
          <a:p>
            <a:fld id="{7268A5C4-149D-4D66-BABE-E6DD2BE69C90}" type="slidenum">
              <a:rPr lang="en-US" smtClean="0"/>
              <a:t>26</a:t>
            </a:fld>
            <a:endParaRPr lang="en-US" dirty="0"/>
          </a:p>
        </p:txBody>
      </p:sp>
      <p:sp>
        <p:nvSpPr>
          <p:cNvPr id="5" name="Content Placeholder 2"/>
          <p:cNvSpPr txBox="1">
            <a:spLocks/>
          </p:cNvSpPr>
          <p:nvPr/>
        </p:nvSpPr>
        <p:spPr>
          <a:xfrm>
            <a:off x="457200" y="1371600"/>
            <a:ext cx="8229600" cy="4525963"/>
          </a:xfrm>
          <a:prstGeom prst="rect">
            <a:avLst/>
          </a:prstGeom>
        </p:spPr>
        <p:txBody>
          <a:bodyPr>
            <a:noAutofit/>
          </a:bodyPr>
          <a:lstStyle>
            <a:lvl1pPr marL="342900" indent="-342900" algn="l" defTabSz="9144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Char char="•"/>
            </a:pPr>
            <a:r>
              <a:rPr lang="en-US" sz="1800" dirty="0" smtClean="0"/>
              <a:t>Test </a:t>
            </a:r>
            <a:r>
              <a:rPr lang="en-US" sz="1800" dirty="0"/>
              <a:t>focused on Savannah designated market area (DMA</a:t>
            </a:r>
            <a:r>
              <a:rPr lang="en-US" sz="1800" dirty="0" smtClean="0"/>
              <a:t>)</a:t>
            </a:r>
            <a:endParaRPr lang="en-US" sz="1800" dirty="0"/>
          </a:p>
          <a:p>
            <a:pPr lvl="1"/>
            <a:r>
              <a:rPr lang="en-US" sz="1800" dirty="0"/>
              <a:t>20 counties (17 in Georgia and 3 in South Carolina) </a:t>
            </a:r>
          </a:p>
          <a:p>
            <a:pPr lvl="1"/>
            <a:r>
              <a:rPr lang="en-US" sz="1800" dirty="0"/>
              <a:t>106 ZIP codes </a:t>
            </a:r>
          </a:p>
          <a:p>
            <a:endParaRPr lang="en-US" sz="1800" dirty="0"/>
          </a:p>
          <a:p>
            <a:pPr>
              <a:buFont typeface="Arial" panose="020B0604020202020204" pitchFamily="34" charset="0"/>
              <a:buChar char="•"/>
            </a:pPr>
            <a:r>
              <a:rPr lang="en-US" sz="1800" dirty="0" smtClean="0"/>
              <a:t>Attempted </a:t>
            </a:r>
            <a:r>
              <a:rPr lang="en-US" sz="1800" dirty="0"/>
              <a:t>to replicate key census communications elements </a:t>
            </a:r>
            <a:endParaRPr lang="en-US" sz="1800" dirty="0" smtClean="0"/>
          </a:p>
          <a:p>
            <a:pPr lvl="1"/>
            <a:r>
              <a:rPr lang="en-US" sz="1800" dirty="0" smtClean="0"/>
              <a:t>Earned </a:t>
            </a:r>
            <a:r>
              <a:rPr lang="en-US" sz="1800" dirty="0"/>
              <a:t>media </a:t>
            </a:r>
          </a:p>
          <a:p>
            <a:pPr lvl="1"/>
            <a:r>
              <a:rPr lang="en-US" sz="1800" dirty="0"/>
              <a:t>Partnership and outreach </a:t>
            </a:r>
          </a:p>
          <a:p>
            <a:pPr lvl="1"/>
            <a:r>
              <a:rPr lang="en-US" sz="1800" dirty="0"/>
              <a:t>Television and radio advertising </a:t>
            </a:r>
          </a:p>
          <a:p>
            <a:pPr lvl="1"/>
            <a:r>
              <a:rPr lang="en-US" sz="1800" dirty="0"/>
              <a:t>Print and out-of-home advertising </a:t>
            </a:r>
          </a:p>
          <a:p>
            <a:pPr lvl="1"/>
            <a:r>
              <a:rPr lang="en-US" sz="1800" dirty="0"/>
              <a:t>Digital advertising and social media </a:t>
            </a:r>
          </a:p>
          <a:p>
            <a:endParaRPr lang="en-US" sz="1800" dirty="0"/>
          </a:p>
          <a:p>
            <a:pPr>
              <a:buFont typeface="Arial" panose="020B0604020202020204" pitchFamily="34" charset="0"/>
              <a:buChar char="•"/>
            </a:pPr>
            <a:r>
              <a:rPr lang="en-US" sz="1800" dirty="0" smtClean="0"/>
              <a:t>Influencer </a:t>
            </a:r>
            <a:r>
              <a:rPr lang="en-US" sz="1800" dirty="0"/>
              <a:t>phone calls (60,000 calls) </a:t>
            </a:r>
          </a:p>
          <a:p>
            <a:pPr>
              <a:buFont typeface="Arial" panose="020B0604020202020204" pitchFamily="34" charset="0"/>
              <a:buChar char="•"/>
            </a:pPr>
            <a:r>
              <a:rPr lang="en-US" sz="1800" dirty="0" smtClean="0"/>
              <a:t>Mailings </a:t>
            </a:r>
            <a:r>
              <a:rPr lang="en-US" sz="1800" dirty="0"/>
              <a:t>to sample of households </a:t>
            </a:r>
            <a:r>
              <a:rPr lang="en-US" sz="1800" dirty="0" smtClean="0"/>
              <a:t>(120,000 </a:t>
            </a:r>
            <a:r>
              <a:rPr lang="en-US" sz="1800" dirty="0"/>
              <a:t>HHs) </a:t>
            </a:r>
          </a:p>
          <a:p>
            <a:pPr>
              <a:buFont typeface="Arial" panose="020B0604020202020204" pitchFamily="34" charset="0"/>
              <a:buChar char="•"/>
            </a:pPr>
            <a:r>
              <a:rPr lang="en-US" sz="1800" dirty="0" smtClean="0"/>
              <a:t>No Non-Response Follow Up (NRFU) </a:t>
            </a:r>
            <a:endParaRPr lang="en-US" sz="1800" dirty="0"/>
          </a:p>
        </p:txBody>
      </p:sp>
    </p:spTree>
    <p:extLst>
      <p:ext uri="{BB962C8B-B14F-4D97-AF65-F5344CB8AC3E}">
        <p14:creationId xmlns:p14="http://schemas.microsoft.com/office/powerpoint/2010/main" val="41795088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a:bodyPr>
          <a:lstStyle/>
          <a:p>
            <a:pPr algn="l"/>
            <a:r>
              <a:rPr lang="en-US" sz="2800" b="0" dirty="0" smtClean="0">
                <a:solidFill>
                  <a:schemeClr val="tx1">
                    <a:lumMod val="75000"/>
                    <a:lumOff val="25000"/>
                  </a:schemeClr>
                </a:solidFill>
                <a:latin typeface="+mn-lt"/>
              </a:rPr>
              <a:t>The 2020 Census</a:t>
            </a:r>
            <a:br>
              <a:rPr lang="en-US" sz="2800" b="0" dirty="0" smtClean="0">
                <a:solidFill>
                  <a:schemeClr val="tx1">
                    <a:lumMod val="75000"/>
                    <a:lumOff val="25000"/>
                  </a:schemeClr>
                </a:solidFill>
                <a:latin typeface="+mn-lt"/>
              </a:rPr>
            </a:br>
            <a:r>
              <a:rPr lang="en-US" sz="2400" b="0" dirty="0" smtClean="0">
                <a:solidFill>
                  <a:schemeClr val="accent1"/>
                </a:solidFill>
                <a:latin typeface="+mn-lt"/>
              </a:rPr>
              <a:t>The 2020 Census Key Upcoming Activities</a:t>
            </a:r>
            <a:endParaRPr lang="en-US" sz="2400" b="0" dirty="0">
              <a:solidFill>
                <a:schemeClr val="accent1"/>
              </a:solidFill>
              <a:latin typeface="+mn-lt"/>
            </a:endParaRPr>
          </a:p>
        </p:txBody>
      </p:sp>
      <p:sp>
        <p:nvSpPr>
          <p:cNvPr id="3" name="Content Placeholder 2"/>
          <p:cNvSpPr>
            <a:spLocks noGrp="1"/>
          </p:cNvSpPr>
          <p:nvPr>
            <p:ph idx="1"/>
          </p:nvPr>
        </p:nvSpPr>
        <p:spPr>
          <a:xfrm>
            <a:off x="1066800" y="1371600"/>
            <a:ext cx="7848600" cy="5562600"/>
          </a:xfrm>
        </p:spPr>
        <p:txBody>
          <a:bodyPr>
            <a:noAutofit/>
          </a:bodyPr>
          <a:lstStyle/>
          <a:p>
            <a:pPr marL="0" indent="0">
              <a:buNone/>
            </a:pPr>
            <a:r>
              <a:rPr lang="en-US" sz="1200" b="1" dirty="0"/>
              <a:t>2016 Address Canvassing </a:t>
            </a:r>
            <a:r>
              <a:rPr lang="en-US" sz="1200" b="1" dirty="0" smtClean="0"/>
              <a:t>Test</a:t>
            </a:r>
          </a:p>
          <a:p>
            <a:pPr marL="0" indent="0">
              <a:buNone/>
            </a:pPr>
            <a:r>
              <a:rPr lang="en-US" sz="1200" b="1" dirty="0" smtClean="0"/>
              <a:t>2016 Census Test (April 1</a:t>
            </a:r>
            <a:r>
              <a:rPr lang="en-US" sz="1200" b="1" baseline="30000" dirty="0" smtClean="0"/>
              <a:t>st</a:t>
            </a:r>
            <a:r>
              <a:rPr lang="en-US" sz="1200" b="1" dirty="0" smtClean="0"/>
              <a:t> Census Day)</a:t>
            </a:r>
          </a:p>
          <a:p>
            <a:pPr marL="0" indent="0">
              <a:buNone/>
            </a:pPr>
            <a:r>
              <a:rPr lang="en-US" sz="1200" b="1" dirty="0" smtClean="0"/>
              <a:t>Anticipated Award of Contract for the 2020 Census Questionnaire Assistance (CQA)</a:t>
            </a:r>
          </a:p>
          <a:p>
            <a:pPr marL="0" indent="0">
              <a:buNone/>
            </a:pPr>
            <a:r>
              <a:rPr lang="en-US" sz="1200" b="1" dirty="0" smtClean="0"/>
              <a:t>Anticipated Award of  Integrated Communications Contract</a:t>
            </a:r>
            <a:endParaRPr lang="en-US" sz="1200" b="1" dirty="0"/>
          </a:p>
          <a:p>
            <a:pPr>
              <a:buFont typeface="Arial" panose="020B0604020202020204" pitchFamily="34" charset="0"/>
              <a:buChar char="•"/>
            </a:pPr>
            <a:endParaRPr lang="en-US" sz="1000" b="1" dirty="0" smtClean="0"/>
          </a:p>
          <a:p>
            <a:pPr marL="0" indent="0">
              <a:buNone/>
            </a:pPr>
            <a:r>
              <a:rPr lang="en-US" sz="1200" b="1" dirty="0" smtClean="0"/>
              <a:t>2017 Census Test (April 1</a:t>
            </a:r>
            <a:r>
              <a:rPr lang="en-US" sz="1200" b="1" baseline="30000" dirty="0" smtClean="0"/>
              <a:t>st</a:t>
            </a:r>
            <a:r>
              <a:rPr lang="en-US" sz="1200" b="1" dirty="0" smtClean="0"/>
              <a:t> Census Day)</a:t>
            </a:r>
          </a:p>
          <a:p>
            <a:pPr marL="0" indent="0">
              <a:buNone/>
            </a:pPr>
            <a:r>
              <a:rPr lang="en-US" sz="1200" b="1" dirty="0" smtClean="0"/>
              <a:t>Topics </a:t>
            </a:r>
            <a:r>
              <a:rPr lang="en-US" sz="1200" b="1" dirty="0"/>
              <a:t>to Congress</a:t>
            </a:r>
            <a:r>
              <a:rPr lang="en-US" sz="1200" dirty="0"/>
              <a:t> – by March 31, </a:t>
            </a:r>
            <a:r>
              <a:rPr lang="en-US" sz="1200" dirty="0" smtClean="0"/>
              <a:t>2017</a:t>
            </a:r>
            <a:endParaRPr lang="en-US" sz="1200" dirty="0"/>
          </a:p>
          <a:p>
            <a:pPr marL="0" indent="0">
              <a:buNone/>
            </a:pPr>
            <a:r>
              <a:rPr lang="en-US" sz="1200" b="1" dirty="0" smtClean="0"/>
              <a:t>Local Update of Census Addresses </a:t>
            </a:r>
            <a:r>
              <a:rPr lang="en-US" sz="1200" dirty="0"/>
              <a:t>– Invitations </a:t>
            </a:r>
            <a:r>
              <a:rPr lang="en-US" sz="1200" dirty="0" smtClean="0"/>
              <a:t>sent to governmental entities to </a:t>
            </a:r>
            <a:r>
              <a:rPr lang="en-US" sz="1200" dirty="0"/>
              <a:t>participate in review of our </a:t>
            </a:r>
            <a:r>
              <a:rPr lang="en-US" sz="1200" dirty="0" smtClean="0"/>
              <a:t>Master Address File and is complete </a:t>
            </a:r>
            <a:r>
              <a:rPr lang="en-US" sz="1200" dirty="0"/>
              <a:t>in </a:t>
            </a:r>
            <a:r>
              <a:rPr lang="en-US" sz="1200" dirty="0" smtClean="0"/>
              <a:t>2018</a:t>
            </a:r>
            <a:endParaRPr lang="en-US" sz="1200" dirty="0"/>
          </a:p>
          <a:p>
            <a:pPr marL="0" indent="0">
              <a:buNone/>
            </a:pPr>
            <a:endParaRPr lang="en-US" sz="1000" b="1" dirty="0" smtClean="0"/>
          </a:p>
          <a:p>
            <a:pPr marL="0" indent="0">
              <a:buNone/>
            </a:pPr>
            <a:r>
              <a:rPr lang="en-US" sz="1200" b="1" dirty="0" smtClean="0"/>
              <a:t>2018 End-to-End Test (April 1</a:t>
            </a:r>
            <a:r>
              <a:rPr lang="en-US" sz="1200" b="1" baseline="30000" dirty="0" smtClean="0"/>
              <a:t>st</a:t>
            </a:r>
            <a:r>
              <a:rPr lang="en-US" sz="1200" b="1" dirty="0" smtClean="0"/>
              <a:t> Census Day)</a:t>
            </a:r>
          </a:p>
          <a:p>
            <a:pPr marL="0" indent="0">
              <a:buNone/>
            </a:pPr>
            <a:r>
              <a:rPr lang="en-US" sz="1200" b="1" dirty="0" smtClean="0"/>
              <a:t>Question </a:t>
            </a:r>
            <a:r>
              <a:rPr lang="en-US" sz="1200" b="1" dirty="0"/>
              <a:t>Wording to Congress</a:t>
            </a:r>
            <a:r>
              <a:rPr lang="en-US" sz="1200" dirty="0"/>
              <a:t> – by March 31, 2018.</a:t>
            </a:r>
          </a:p>
          <a:p>
            <a:pPr>
              <a:buFont typeface="Arial" panose="020B0604020202020204" pitchFamily="34" charset="0"/>
              <a:buChar char="•"/>
            </a:pPr>
            <a:endParaRPr lang="en-US" sz="1000" b="1" dirty="0" smtClean="0"/>
          </a:p>
          <a:p>
            <a:pPr>
              <a:buFont typeface="Arial" panose="020B0604020202020204" pitchFamily="34" charset="0"/>
              <a:buChar char="•"/>
            </a:pPr>
            <a:endParaRPr lang="en-US" sz="1000" b="1" dirty="0" smtClean="0"/>
          </a:p>
          <a:p>
            <a:pPr marL="0" indent="0">
              <a:buNone/>
            </a:pPr>
            <a:r>
              <a:rPr lang="en-US" sz="1200" b="1" dirty="0" smtClean="0">
                <a:solidFill>
                  <a:schemeClr val="accent1"/>
                </a:solidFill>
              </a:rPr>
              <a:t>Census </a:t>
            </a:r>
            <a:r>
              <a:rPr lang="en-US" sz="1200" b="1" dirty="0">
                <a:solidFill>
                  <a:schemeClr val="accent1"/>
                </a:solidFill>
              </a:rPr>
              <a:t>Day</a:t>
            </a:r>
            <a:r>
              <a:rPr lang="en-US" sz="1200" dirty="0">
                <a:solidFill>
                  <a:schemeClr val="accent1"/>
                </a:solidFill>
              </a:rPr>
              <a:t> – April 1, </a:t>
            </a:r>
            <a:r>
              <a:rPr lang="en-US" sz="1200" dirty="0" smtClean="0">
                <a:solidFill>
                  <a:schemeClr val="accent1"/>
                </a:solidFill>
              </a:rPr>
              <a:t>2020</a:t>
            </a:r>
          </a:p>
          <a:p>
            <a:pPr marL="0" indent="0">
              <a:buNone/>
            </a:pPr>
            <a:r>
              <a:rPr lang="en-US" sz="1200" b="1" dirty="0" smtClean="0"/>
              <a:t>Nonresponse Follow-up</a:t>
            </a:r>
            <a:r>
              <a:rPr lang="en-US" sz="1200" dirty="0" smtClean="0"/>
              <a:t> </a:t>
            </a:r>
            <a:r>
              <a:rPr lang="en-US" sz="1200" dirty="0"/>
              <a:t>– </a:t>
            </a:r>
            <a:r>
              <a:rPr lang="en-US" sz="1200" dirty="0" smtClean="0"/>
              <a:t>Begins in late </a:t>
            </a:r>
            <a:r>
              <a:rPr lang="en-US" sz="1200" dirty="0"/>
              <a:t>April and </a:t>
            </a:r>
            <a:r>
              <a:rPr lang="en-US" sz="1200" dirty="0" smtClean="0"/>
              <a:t>continues until </a:t>
            </a:r>
            <a:r>
              <a:rPr lang="en-US" sz="1200" dirty="0"/>
              <a:t>late June/early </a:t>
            </a:r>
            <a:r>
              <a:rPr lang="en-US" sz="1200" dirty="0" smtClean="0"/>
              <a:t>July</a:t>
            </a:r>
            <a:endParaRPr lang="en-US" sz="1200" dirty="0"/>
          </a:p>
          <a:p>
            <a:pPr marL="0" indent="0">
              <a:buNone/>
            </a:pPr>
            <a:r>
              <a:rPr lang="en-US" sz="1200" b="1" dirty="0"/>
              <a:t>Apportionment Counts to the President</a:t>
            </a:r>
            <a:r>
              <a:rPr lang="en-US" sz="1200" dirty="0"/>
              <a:t> – by December 31, </a:t>
            </a:r>
            <a:r>
              <a:rPr lang="en-US" sz="1200" dirty="0" smtClean="0"/>
              <a:t>2020</a:t>
            </a:r>
            <a:endParaRPr lang="en-US" sz="1200" dirty="0"/>
          </a:p>
          <a:p>
            <a:pPr>
              <a:buFont typeface="Arial" panose="020B0604020202020204" pitchFamily="34" charset="0"/>
              <a:buChar char="•"/>
            </a:pPr>
            <a:endParaRPr lang="en-US" sz="1000" b="1" dirty="0" smtClean="0"/>
          </a:p>
          <a:p>
            <a:pPr marL="0" indent="0">
              <a:buNone/>
            </a:pPr>
            <a:r>
              <a:rPr lang="en-US" sz="1200" b="1" dirty="0" smtClean="0"/>
              <a:t>Redistricting </a:t>
            </a:r>
            <a:r>
              <a:rPr lang="en-US" sz="1200" b="1" dirty="0"/>
              <a:t>Counts to the States</a:t>
            </a:r>
            <a:r>
              <a:rPr lang="en-US" sz="1200" dirty="0"/>
              <a:t> – by March 31, </a:t>
            </a:r>
            <a:r>
              <a:rPr lang="en-US" sz="1200" dirty="0" smtClean="0"/>
              <a:t>2021</a:t>
            </a:r>
            <a:endParaRPr lang="en-US" sz="1200" dirty="0"/>
          </a:p>
        </p:txBody>
      </p:sp>
      <p:sp>
        <p:nvSpPr>
          <p:cNvPr id="4" name="Slide Number Placeholder 3"/>
          <p:cNvSpPr>
            <a:spLocks noGrp="1"/>
          </p:cNvSpPr>
          <p:nvPr>
            <p:ph type="sldNum" sz="quarter" idx="12"/>
          </p:nvPr>
        </p:nvSpPr>
        <p:spPr/>
        <p:txBody>
          <a:bodyPr/>
          <a:lstStyle/>
          <a:p>
            <a:fld id="{7268A5C4-149D-4D66-BABE-E6DD2BE69C90}" type="slidenum">
              <a:rPr lang="en-US" smtClean="0"/>
              <a:t>27</a:t>
            </a:fld>
            <a:endParaRPr lang="en-US"/>
          </a:p>
        </p:txBody>
      </p:sp>
      <p:sp>
        <p:nvSpPr>
          <p:cNvPr id="7" name="TextBox 6"/>
          <p:cNvSpPr txBox="1"/>
          <p:nvPr/>
        </p:nvSpPr>
        <p:spPr>
          <a:xfrm>
            <a:off x="228600" y="1524000"/>
            <a:ext cx="1143000" cy="553998"/>
          </a:xfrm>
          <a:prstGeom prst="rect">
            <a:avLst/>
          </a:prstGeom>
          <a:noFill/>
          <a:ln>
            <a:noFill/>
          </a:ln>
        </p:spPr>
        <p:txBody>
          <a:bodyPr wrap="square" rtlCol="0">
            <a:spAutoFit/>
          </a:bodyPr>
          <a:lstStyle/>
          <a:p>
            <a:r>
              <a:rPr lang="en-US" sz="3000" dirty="0" smtClean="0">
                <a:ln w="12700">
                  <a:solidFill>
                    <a:schemeClr val="accent6">
                      <a:lumMod val="75000"/>
                    </a:schemeClr>
                  </a:solidFill>
                  <a:prstDash val="solid"/>
                </a:ln>
                <a:solidFill>
                  <a:srgbClr val="FFFFFF"/>
                </a:solidFill>
                <a:effectLst>
                  <a:outerShdw blurRad="38100" dist="32000" dir="5400000" algn="tl">
                    <a:srgbClr val="000000">
                      <a:alpha val="30000"/>
                    </a:srgbClr>
                  </a:outerShdw>
                </a:effectLst>
              </a:rPr>
              <a:t>2016</a:t>
            </a:r>
            <a:endParaRPr lang="en-US" sz="3000" dirty="0">
              <a:ln w="12700">
                <a:solidFill>
                  <a:schemeClr val="accent6">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8" name="TextBox 7"/>
          <p:cNvSpPr txBox="1"/>
          <p:nvPr/>
        </p:nvSpPr>
        <p:spPr>
          <a:xfrm>
            <a:off x="228600" y="2798802"/>
            <a:ext cx="1143000" cy="553998"/>
          </a:xfrm>
          <a:prstGeom prst="rect">
            <a:avLst/>
          </a:prstGeom>
          <a:noFill/>
          <a:ln>
            <a:noFill/>
          </a:ln>
        </p:spPr>
        <p:txBody>
          <a:bodyPr wrap="square" rtlCol="0">
            <a:spAutoFit/>
          </a:bodyPr>
          <a:lstStyle/>
          <a:p>
            <a:r>
              <a:rPr lang="en-US" sz="3000" dirty="0" smtClean="0">
                <a:ln w="12700">
                  <a:solidFill>
                    <a:schemeClr val="accent6">
                      <a:lumMod val="75000"/>
                    </a:schemeClr>
                  </a:solidFill>
                  <a:prstDash val="solid"/>
                </a:ln>
                <a:solidFill>
                  <a:srgbClr val="FFFFFF"/>
                </a:solidFill>
                <a:effectLst>
                  <a:outerShdw blurRad="38100" dist="32000" dir="5400000" algn="tl">
                    <a:srgbClr val="000000">
                      <a:alpha val="30000"/>
                    </a:srgbClr>
                  </a:outerShdw>
                </a:effectLst>
              </a:rPr>
              <a:t>2017</a:t>
            </a:r>
            <a:endParaRPr lang="en-US" sz="3000" dirty="0">
              <a:ln w="12700">
                <a:solidFill>
                  <a:schemeClr val="accent6">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9" name="TextBox 8"/>
          <p:cNvSpPr txBox="1"/>
          <p:nvPr/>
        </p:nvSpPr>
        <p:spPr>
          <a:xfrm>
            <a:off x="228600" y="3560802"/>
            <a:ext cx="1143000" cy="553998"/>
          </a:xfrm>
          <a:prstGeom prst="rect">
            <a:avLst/>
          </a:prstGeom>
          <a:noFill/>
          <a:ln>
            <a:noFill/>
          </a:ln>
        </p:spPr>
        <p:txBody>
          <a:bodyPr wrap="square" rtlCol="0">
            <a:spAutoFit/>
          </a:bodyPr>
          <a:lstStyle/>
          <a:p>
            <a:r>
              <a:rPr lang="en-US" sz="3000" dirty="0" smtClean="0">
                <a:ln w="12700">
                  <a:solidFill>
                    <a:schemeClr val="accent6">
                      <a:lumMod val="75000"/>
                    </a:schemeClr>
                  </a:solidFill>
                  <a:prstDash val="solid"/>
                </a:ln>
                <a:solidFill>
                  <a:srgbClr val="FFFFFF"/>
                </a:solidFill>
                <a:effectLst>
                  <a:outerShdw blurRad="38100" dist="32000" dir="5400000" algn="tl">
                    <a:srgbClr val="000000">
                      <a:alpha val="30000"/>
                    </a:srgbClr>
                  </a:outerShdw>
                </a:effectLst>
              </a:rPr>
              <a:t>2018</a:t>
            </a:r>
            <a:endParaRPr lang="en-US" sz="3000" dirty="0">
              <a:ln w="12700">
                <a:solidFill>
                  <a:schemeClr val="accent6">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1" name="TextBox 10"/>
          <p:cNvSpPr txBox="1"/>
          <p:nvPr/>
        </p:nvSpPr>
        <p:spPr>
          <a:xfrm>
            <a:off x="228600" y="4191000"/>
            <a:ext cx="1143000" cy="553998"/>
          </a:xfrm>
          <a:prstGeom prst="rect">
            <a:avLst/>
          </a:prstGeom>
          <a:noFill/>
          <a:ln>
            <a:noFill/>
          </a:ln>
        </p:spPr>
        <p:txBody>
          <a:bodyPr wrap="square" rtlCol="0">
            <a:spAutoFit/>
          </a:bodyPr>
          <a:lstStyle/>
          <a:p>
            <a:r>
              <a:rPr lang="en-US" sz="3000" dirty="0" smtClean="0">
                <a:ln w="12700">
                  <a:solidFill>
                    <a:schemeClr val="accent6">
                      <a:lumMod val="75000"/>
                    </a:schemeClr>
                  </a:solidFill>
                  <a:prstDash val="solid"/>
                </a:ln>
                <a:solidFill>
                  <a:srgbClr val="FFFFFF"/>
                </a:solidFill>
                <a:effectLst>
                  <a:outerShdw blurRad="38100" dist="32000" dir="5400000" algn="tl">
                    <a:srgbClr val="000000">
                      <a:alpha val="30000"/>
                    </a:srgbClr>
                  </a:outerShdw>
                </a:effectLst>
              </a:rPr>
              <a:t>2020</a:t>
            </a:r>
            <a:endParaRPr lang="en-US" sz="3000" dirty="0">
              <a:ln w="12700">
                <a:solidFill>
                  <a:schemeClr val="accent6">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2" name="TextBox 11"/>
          <p:cNvSpPr txBox="1"/>
          <p:nvPr/>
        </p:nvSpPr>
        <p:spPr>
          <a:xfrm>
            <a:off x="228600" y="4953000"/>
            <a:ext cx="1143000" cy="553998"/>
          </a:xfrm>
          <a:prstGeom prst="rect">
            <a:avLst/>
          </a:prstGeom>
          <a:noFill/>
          <a:ln>
            <a:noFill/>
          </a:ln>
        </p:spPr>
        <p:txBody>
          <a:bodyPr wrap="square" rtlCol="0">
            <a:spAutoFit/>
          </a:bodyPr>
          <a:lstStyle/>
          <a:p>
            <a:r>
              <a:rPr lang="en-US" sz="3000" dirty="0" smtClean="0">
                <a:ln w="12700">
                  <a:solidFill>
                    <a:schemeClr val="accent6">
                      <a:lumMod val="75000"/>
                    </a:schemeClr>
                  </a:solidFill>
                  <a:prstDash val="solid"/>
                </a:ln>
                <a:solidFill>
                  <a:srgbClr val="FFFFFF"/>
                </a:solidFill>
                <a:effectLst>
                  <a:outerShdw blurRad="38100" dist="32000" dir="5400000" algn="tl">
                    <a:srgbClr val="000000">
                      <a:alpha val="30000"/>
                    </a:srgbClr>
                  </a:outerShdw>
                </a:effectLst>
              </a:rPr>
              <a:t>2021</a:t>
            </a:r>
            <a:endParaRPr lang="en-US" sz="3000" dirty="0">
              <a:ln w="12700">
                <a:solidFill>
                  <a:schemeClr val="accent6">
                    <a:lumMod val="75000"/>
                  </a:schemeClr>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17799106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143000"/>
            <a:ext cx="8458200" cy="1924051"/>
          </a:xfrm>
        </p:spPr>
        <p:txBody>
          <a:bodyPr>
            <a:normAutofit fontScale="90000"/>
          </a:bodyPr>
          <a:lstStyle/>
          <a:p>
            <a:r>
              <a:rPr lang="en-US" sz="5300" dirty="0" smtClean="0">
                <a:latin typeface="Calibri" panose="020F0502020204030204" pitchFamily="34" charset="0"/>
                <a:cs typeface="Times New Roman" panose="02020603050405020304" pitchFamily="18" charset="0"/>
              </a:rPr>
              <a:t>REQUEST FOR PROPOSAL (RFP) DISCUSSION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4038600"/>
            <a:ext cx="6400800" cy="1752600"/>
          </a:xfrm>
        </p:spPr>
        <p:txBody>
          <a:bodyPr>
            <a:normAutofit/>
          </a:bodyPr>
          <a:lstStyle/>
          <a:p>
            <a:r>
              <a:rPr lang="en-US" altLang="en-US" sz="2800" dirty="0" smtClean="0">
                <a:solidFill>
                  <a:schemeClr val="tx1"/>
                </a:solidFill>
                <a:latin typeface="Calibri" panose="020F0502020204030204" pitchFamily="34" charset="0"/>
                <a:cs typeface="Times New Roman" panose="02020603050405020304" pitchFamily="18" charset="0"/>
              </a:rPr>
              <a:t>Cory Harris, Acquisition Division</a:t>
            </a:r>
          </a:p>
          <a:p>
            <a:r>
              <a:rPr lang="en-US" altLang="en-US" sz="2800" dirty="0" smtClean="0">
                <a:solidFill>
                  <a:schemeClr val="tx1"/>
                </a:solidFill>
                <a:latin typeface="Calibri" panose="020F0502020204030204" pitchFamily="34" charset="0"/>
                <a:cs typeface="Times New Roman" panose="02020603050405020304" pitchFamily="18" charset="0"/>
              </a:rPr>
              <a:t>Benjamin Banyasz, Acquisition Division</a:t>
            </a:r>
          </a:p>
        </p:txBody>
      </p:sp>
    </p:spTree>
    <p:extLst>
      <p:ext uri="{BB962C8B-B14F-4D97-AF65-F5344CB8AC3E}">
        <p14:creationId xmlns:p14="http://schemas.microsoft.com/office/powerpoint/2010/main" val="3046068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1200"/>
            <a:ext cx="8229600" cy="3154363"/>
          </a:xfrm>
        </p:spPr>
        <p:txBody>
          <a:bodyPr>
            <a:normAutofit/>
          </a:bodyPr>
          <a:lstStyle/>
          <a:p>
            <a:pPr marL="0" indent="0">
              <a:buNone/>
            </a:pPr>
            <a:r>
              <a:rPr lang="en-US" altLang="en-US" sz="2800" dirty="0" smtClean="0">
                <a:latin typeface="Calibri" panose="020F0502020204030204" pitchFamily="34" charset="0"/>
                <a:cs typeface="Times New Roman" panose="02020603050405020304" pitchFamily="18" charset="0"/>
              </a:rPr>
              <a:t>The Census Bureau is looking </a:t>
            </a:r>
            <a:r>
              <a:rPr lang="en-US" altLang="en-US" sz="2800" dirty="0">
                <a:latin typeface="Calibri" panose="020F0502020204030204" pitchFamily="34" charset="0"/>
                <a:cs typeface="Times New Roman" panose="02020603050405020304" pitchFamily="18" charset="0"/>
              </a:rPr>
              <a:t>to award a contract to </a:t>
            </a:r>
            <a:r>
              <a:rPr lang="en-US" altLang="en-US" sz="2800" dirty="0" smtClean="0">
                <a:latin typeface="Calibri" panose="020F0502020204030204" pitchFamily="34" charset="0"/>
                <a:cs typeface="Times New Roman" panose="02020603050405020304" pitchFamily="18" charset="0"/>
              </a:rPr>
              <a:t>plan, design, integrate, produce, implement, and assess an integrated communications program in support of the U.S. Census Bureau’s 2020 Decennial Census. </a:t>
            </a:r>
            <a:r>
              <a:rPr lang="en-US" sz="2800" dirty="0"/>
              <a:t> </a:t>
            </a:r>
          </a:p>
          <a:p>
            <a:pPr marL="0" indent="0">
              <a:buNone/>
            </a:pPr>
            <a:endParaRPr lang="en-US" sz="2800"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29</a:t>
            </a:fld>
            <a:endParaRPr lang="en-US" dirty="0"/>
          </a:p>
        </p:txBody>
      </p:sp>
      <p:sp>
        <p:nvSpPr>
          <p:cNvPr id="5"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What Are We Looking For?</a:t>
            </a:r>
            <a:endParaRPr lang="en-US" sz="2400" b="0" dirty="0">
              <a:solidFill>
                <a:schemeClr val="accent1"/>
              </a:solidFill>
              <a:latin typeface="+mn-lt"/>
            </a:endParaRPr>
          </a:p>
        </p:txBody>
      </p:sp>
    </p:spTree>
    <p:extLst>
      <p:ext uri="{BB962C8B-B14F-4D97-AF65-F5344CB8AC3E}">
        <p14:creationId xmlns:p14="http://schemas.microsoft.com/office/powerpoint/2010/main" val="3130611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8229600" cy="4525963"/>
          </a:xfrm>
        </p:spPr>
        <p:txBody>
          <a:bodyPr>
            <a:normAutofit/>
          </a:bodyPr>
          <a:lstStyle/>
          <a:p>
            <a:pPr>
              <a:buFontTx/>
              <a:buChar char="•"/>
            </a:pPr>
            <a:r>
              <a:rPr lang="en-US" altLang="en-US" sz="2400" dirty="0">
                <a:latin typeface="Calibri" panose="020F0502020204030204" pitchFamily="34" charset="0"/>
                <a:cs typeface="Times New Roman" panose="02020603050405020304" pitchFamily="18" charset="0"/>
              </a:rPr>
              <a:t>Full and open competition</a:t>
            </a:r>
          </a:p>
          <a:p>
            <a:pPr>
              <a:buFontTx/>
              <a:buChar char="•"/>
            </a:pPr>
            <a:r>
              <a:rPr lang="en-US" altLang="en-US" sz="2400" dirty="0">
                <a:latin typeface="Calibri" panose="020F0502020204030204" pitchFamily="34" charset="0"/>
                <a:cs typeface="Times New Roman" panose="02020603050405020304" pitchFamily="18" charset="0"/>
              </a:rPr>
              <a:t>One single award Indefinite </a:t>
            </a:r>
            <a:r>
              <a:rPr lang="en-US" altLang="en-US" sz="2400" dirty="0" smtClean="0">
                <a:latin typeface="Calibri" panose="020F0502020204030204" pitchFamily="34" charset="0"/>
                <a:cs typeface="Times New Roman" panose="02020603050405020304" pitchFamily="18" charset="0"/>
              </a:rPr>
              <a:t>Delivery </a:t>
            </a:r>
            <a:r>
              <a:rPr lang="en-US" altLang="en-US" sz="2400" dirty="0">
                <a:latin typeface="Calibri" panose="020F0502020204030204" pitchFamily="34" charset="0"/>
                <a:cs typeface="Times New Roman" panose="02020603050405020304" pitchFamily="18" charset="0"/>
              </a:rPr>
              <a:t>Indefinite Quantity </a:t>
            </a:r>
            <a:r>
              <a:rPr lang="en-US" altLang="en-US" sz="2400" dirty="0" smtClean="0">
                <a:latin typeface="Calibri" panose="020F0502020204030204" pitchFamily="34" charset="0"/>
                <a:cs typeface="Times New Roman" panose="02020603050405020304" pitchFamily="18" charset="0"/>
              </a:rPr>
              <a:t>(IDIQ) contract</a:t>
            </a:r>
          </a:p>
          <a:p>
            <a:pPr>
              <a:buFontTx/>
              <a:buChar char="•"/>
            </a:pPr>
            <a:r>
              <a:rPr lang="en-US" altLang="en-US" sz="2400" dirty="0" smtClean="0">
                <a:latin typeface="Calibri" panose="020F0502020204030204" pitchFamily="34" charset="0"/>
                <a:cs typeface="Times New Roman" panose="02020603050405020304" pitchFamily="18" charset="0"/>
              </a:rPr>
              <a:t>Task Order Types</a:t>
            </a:r>
            <a:r>
              <a:rPr lang="en-US" altLang="en-US" sz="2400" dirty="0">
                <a:latin typeface="Calibri" panose="020F0502020204030204" pitchFamily="34" charset="0"/>
                <a:cs typeface="Times New Roman" panose="02020603050405020304" pitchFamily="18" charset="0"/>
              </a:rPr>
              <a:t>: </a:t>
            </a:r>
            <a:r>
              <a:rPr lang="en-US" altLang="en-US" sz="2400" dirty="0" smtClean="0">
                <a:latin typeface="Calibri" panose="020F0502020204030204" pitchFamily="34" charset="0"/>
                <a:cs typeface="Times New Roman" panose="02020603050405020304" pitchFamily="18" charset="0"/>
              </a:rPr>
              <a:t>Firm Fixed Price (FFP), </a:t>
            </a:r>
            <a:r>
              <a:rPr lang="en-US" altLang="en-US" sz="2400" dirty="0">
                <a:latin typeface="Calibri" panose="020F0502020204030204" pitchFamily="34" charset="0"/>
                <a:cs typeface="Times New Roman" panose="02020603050405020304" pitchFamily="18" charset="0"/>
              </a:rPr>
              <a:t>Time and </a:t>
            </a:r>
            <a:r>
              <a:rPr lang="en-US" altLang="en-US" sz="2400" dirty="0" smtClean="0">
                <a:latin typeface="Calibri" panose="020F0502020204030204" pitchFamily="34" charset="0"/>
                <a:cs typeface="Times New Roman" panose="02020603050405020304" pitchFamily="18" charset="0"/>
              </a:rPr>
              <a:t>Material (T&amp;M), or a hybrid of both FFP and T&amp;M</a:t>
            </a:r>
            <a:endParaRPr lang="en-US" altLang="en-US" sz="2400" dirty="0">
              <a:latin typeface="Calibri" panose="020F0502020204030204" pitchFamily="34" charset="0"/>
              <a:cs typeface="Times New Roman" panose="02020603050405020304" pitchFamily="18" charset="0"/>
            </a:endParaRPr>
          </a:p>
          <a:p>
            <a:pPr>
              <a:buFontTx/>
              <a:buChar char="•"/>
            </a:pPr>
            <a:r>
              <a:rPr lang="en-US" altLang="en-US" sz="2400" dirty="0">
                <a:latin typeface="Calibri" panose="020F0502020204030204" pitchFamily="34" charset="0"/>
                <a:cs typeface="Times New Roman" panose="02020603050405020304" pitchFamily="18" charset="0"/>
              </a:rPr>
              <a:t>Period of </a:t>
            </a:r>
            <a:r>
              <a:rPr lang="en-US" altLang="en-US" sz="2400" dirty="0" smtClean="0">
                <a:latin typeface="Calibri" panose="020F0502020204030204" pitchFamily="34" charset="0"/>
                <a:cs typeface="Times New Roman" panose="02020603050405020304" pitchFamily="18" charset="0"/>
              </a:rPr>
              <a:t>Performance: One (1) </a:t>
            </a:r>
            <a:r>
              <a:rPr lang="en-US" altLang="en-US" sz="2400" dirty="0">
                <a:latin typeface="Calibri" panose="020F0502020204030204" pitchFamily="34" charset="0"/>
                <a:cs typeface="Times New Roman" panose="02020603050405020304" pitchFamily="18" charset="0"/>
              </a:rPr>
              <a:t>base year and </a:t>
            </a:r>
            <a:r>
              <a:rPr lang="en-US" altLang="en-US" sz="2400" dirty="0" smtClean="0">
                <a:latin typeface="Calibri" panose="020F0502020204030204" pitchFamily="34" charset="0"/>
                <a:cs typeface="Times New Roman" panose="02020603050405020304" pitchFamily="18" charset="0"/>
              </a:rPr>
              <a:t>five (5) option </a:t>
            </a:r>
            <a:r>
              <a:rPr lang="en-US" altLang="en-US" sz="2400" dirty="0">
                <a:latin typeface="Calibri" panose="020F0502020204030204" pitchFamily="34" charset="0"/>
                <a:cs typeface="Times New Roman" panose="02020603050405020304" pitchFamily="18" charset="0"/>
              </a:rPr>
              <a:t>years</a:t>
            </a:r>
          </a:p>
          <a:p>
            <a:pPr>
              <a:buFontTx/>
              <a:buChar char="•"/>
            </a:pPr>
            <a:r>
              <a:rPr lang="en-US" altLang="en-US" sz="2400" dirty="0">
                <a:latin typeface="Calibri" panose="020F0502020204030204" pitchFamily="34" charset="0"/>
                <a:cs typeface="Times New Roman" panose="02020603050405020304" pitchFamily="18" charset="0"/>
              </a:rPr>
              <a:t>Aggressive subcontracting goals with plenty of opportunity for small businesses</a:t>
            </a:r>
          </a:p>
          <a:p>
            <a:pPr>
              <a:buFontTx/>
              <a:buChar char="•"/>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30</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Contract Overview</a:t>
            </a:r>
            <a:endParaRPr lang="en-US" sz="2400" b="0" dirty="0">
              <a:solidFill>
                <a:schemeClr val="accent1"/>
              </a:solidFill>
              <a:latin typeface="+mn-lt"/>
            </a:endParaRPr>
          </a:p>
        </p:txBody>
      </p:sp>
    </p:spTree>
    <p:extLst>
      <p:ext uri="{BB962C8B-B14F-4D97-AF65-F5344CB8AC3E}">
        <p14:creationId xmlns:p14="http://schemas.microsoft.com/office/powerpoint/2010/main" val="972916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8229600" cy="4525963"/>
          </a:xfrm>
        </p:spPr>
        <p:txBody>
          <a:bodyPr>
            <a:normAutofit fontScale="92500" lnSpcReduction="20000"/>
          </a:bodyPr>
          <a:lstStyle/>
          <a:p>
            <a:pPr marL="0" indent="0">
              <a:lnSpc>
                <a:spcPct val="90000"/>
              </a:lnSpc>
              <a:buNone/>
              <a:tabLst>
                <a:tab pos="965200" algn="l"/>
                <a:tab pos="1200150" algn="l"/>
              </a:tabLst>
            </a:pPr>
            <a:r>
              <a:rPr lang="en-US" altLang="en-US" sz="2600" dirty="0" smtClean="0">
                <a:latin typeface="Calibri" panose="020F0502020204030204" pitchFamily="34" charset="0"/>
                <a:cs typeface="Times New Roman" panose="02020603050405020304" pitchFamily="18" charset="0"/>
              </a:rPr>
              <a:t>RFP format is divided </a:t>
            </a:r>
            <a:r>
              <a:rPr lang="en-US" altLang="en-US" sz="2600" dirty="0">
                <a:latin typeface="Calibri" panose="020F0502020204030204" pitchFamily="34" charset="0"/>
                <a:cs typeface="Times New Roman" panose="02020603050405020304" pitchFamily="18" charset="0"/>
              </a:rPr>
              <a:t>by sections</a:t>
            </a:r>
            <a:r>
              <a:rPr lang="en-US" altLang="en-US" sz="2600" dirty="0" smtClean="0">
                <a:latin typeface="Calibri" panose="020F0502020204030204" pitchFamily="34" charset="0"/>
                <a:cs typeface="Times New Roman" panose="02020603050405020304" pitchFamily="18" charset="0"/>
              </a:rPr>
              <a:t>:</a:t>
            </a:r>
          </a:p>
          <a:p>
            <a:pPr marL="0" indent="0">
              <a:lnSpc>
                <a:spcPct val="90000"/>
              </a:lnSpc>
              <a:buNone/>
              <a:tabLst>
                <a:tab pos="965200" algn="l"/>
                <a:tab pos="1200150" algn="l"/>
              </a:tabLst>
            </a:pPr>
            <a:endParaRPr lang="en-US" altLang="en-US" sz="1800" dirty="0">
              <a:latin typeface="Calibri" panose="020F0502020204030204" pitchFamily="34" charset="0"/>
              <a:cs typeface="Times New Roman" panose="02020603050405020304" pitchFamily="18" charset="0"/>
            </a:endParaRP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A	–	Solicitation, Offer </a:t>
            </a:r>
            <a:r>
              <a:rPr lang="en-US" altLang="en-US" sz="2200" dirty="0" smtClean="0">
                <a:latin typeface="Calibri" panose="020F0502020204030204" pitchFamily="34" charset="0"/>
                <a:cs typeface="Times New Roman" panose="02020603050405020304" pitchFamily="18" charset="0"/>
              </a:rPr>
              <a:t>and </a:t>
            </a:r>
            <a:r>
              <a:rPr lang="en-US" altLang="en-US" sz="2200" dirty="0">
                <a:latin typeface="Calibri" panose="020F0502020204030204" pitchFamily="34" charset="0"/>
                <a:cs typeface="Times New Roman" panose="02020603050405020304" pitchFamily="18" charset="0"/>
              </a:rPr>
              <a:t>Award (SF 33)</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B	–	</a:t>
            </a:r>
            <a:r>
              <a:rPr lang="en-US" altLang="en-US" sz="2200" dirty="0" smtClean="0">
                <a:latin typeface="Calibri" panose="020F0502020204030204" pitchFamily="34" charset="0"/>
                <a:cs typeface="Times New Roman" panose="02020603050405020304" pitchFamily="18" charset="0"/>
              </a:rPr>
              <a:t>Supplies or Services </a:t>
            </a:r>
            <a:r>
              <a:rPr lang="en-US" altLang="en-US" sz="2200" dirty="0">
                <a:latin typeface="Calibri" panose="020F0502020204030204" pitchFamily="34" charset="0"/>
                <a:cs typeface="Times New Roman" panose="02020603050405020304" pitchFamily="18" charset="0"/>
              </a:rPr>
              <a:t>and Prices/Cost</a:t>
            </a:r>
          </a:p>
          <a:p>
            <a:pPr lvl="1">
              <a:lnSpc>
                <a:spcPct val="90000"/>
              </a:lnSpc>
              <a:buFont typeface="Arial" panose="020B0604020202020204" pitchFamily="34" charset="0"/>
              <a:buChar char="•"/>
              <a:tabLst>
                <a:tab pos="965200" algn="l"/>
                <a:tab pos="1200150" algn="l"/>
              </a:tabLst>
            </a:pPr>
            <a:r>
              <a:rPr lang="en-US" altLang="en-US" sz="2200" b="1" dirty="0">
                <a:latin typeface="Calibri" panose="020F0502020204030204" pitchFamily="34" charset="0"/>
                <a:cs typeface="Times New Roman" panose="02020603050405020304" pitchFamily="18" charset="0"/>
              </a:rPr>
              <a:t>C	–	</a:t>
            </a:r>
            <a:r>
              <a:rPr lang="en-US" altLang="en-US" sz="2200" b="1" dirty="0" smtClean="0">
                <a:latin typeface="Calibri" panose="020F0502020204030204" pitchFamily="34" charset="0"/>
                <a:cs typeface="Times New Roman" panose="02020603050405020304" pitchFamily="18" charset="0"/>
              </a:rPr>
              <a:t>Description/Specifications/Statement of Work</a:t>
            </a:r>
            <a:endParaRPr lang="en-US" altLang="en-US" sz="2200" b="1" dirty="0">
              <a:latin typeface="Calibri" panose="020F0502020204030204" pitchFamily="34" charset="0"/>
              <a:cs typeface="Times New Roman" panose="02020603050405020304" pitchFamily="18" charset="0"/>
            </a:endParaRP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D	–	Packaging and Marking</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E	–	Inspection and Acceptance</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F	–	Deliveries or Performance</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G	–	Contract Administration Data</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H	–	Special Contract Requirements</a:t>
            </a:r>
          </a:p>
          <a:p>
            <a:pPr lvl="1">
              <a:lnSpc>
                <a:spcPct val="90000"/>
              </a:lnSpc>
              <a:buFont typeface="Arial" panose="020B0604020202020204" pitchFamily="34" charset="0"/>
              <a:buChar char="•"/>
              <a:tabLst>
                <a:tab pos="965200" algn="l"/>
                <a:tab pos="1200150" algn="l"/>
              </a:tabLst>
            </a:pPr>
            <a:r>
              <a:rPr lang="en-US" altLang="en-US" sz="2200" dirty="0" smtClean="0">
                <a:latin typeface="Calibri" panose="020F0502020204030204" pitchFamily="34" charset="0"/>
                <a:cs typeface="Times New Roman" panose="02020603050405020304" pitchFamily="18" charset="0"/>
              </a:rPr>
              <a:t>I</a:t>
            </a:r>
            <a:r>
              <a:rPr lang="en-US" altLang="en-US" sz="2200" dirty="0">
                <a:latin typeface="Calibri" panose="020F0502020204030204" pitchFamily="34" charset="0"/>
                <a:cs typeface="Times New Roman" panose="02020603050405020304" pitchFamily="18" charset="0"/>
              </a:rPr>
              <a:t>	–	Contract Clauses</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J	–	Attachments</a:t>
            </a:r>
          </a:p>
          <a:p>
            <a:pPr lvl="1">
              <a:lnSpc>
                <a:spcPct val="90000"/>
              </a:lnSpc>
              <a:buFont typeface="Arial" panose="020B0604020202020204" pitchFamily="34" charset="0"/>
              <a:buChar char="•"/>
              <a:tabLst>
                <a:tab pos="965200" algn="l"/>
                <a:tab pos="1200150" algn="l"/>
              </a:tabLst>
            </a:pPr>
            <a:r>
              <a:rPr lang="en-US" altLang="en-US" sz="2200" dirty="0">
                <a:latin typeface="Calibri" panose="020F0502020204030204" pitchFamily="34" charset="0"/>
                <a:cs typeface="Times New Roman" panose="02020603050405020304" pitchFamily="18" charset="0"/>
              </a:rPr>
              <a:t>K	–	Representations, Certifications </a:t>
            </a:r>
            <a:r>
              <a:rPr lang="en-US" altLang="en-US" sz="2200" dirty="0" smtClean="0">
                <a:latin typeface="Calibri" panose="020F0502020204030204" pitchFamily="34" charset="0"/>
                <a:cs typeface="Times New Roman" panose="02020603050405020304" pitchFamily="18" charset="0"/>
              </a:rPr>
              <a:t>and </a:t>
            </a:r>
            <a:r>
              <a:rPr lang="en-US" altLang="en-US" sz="2200" dirty="0">
                <a:latin typeface="Calibri" panose="020F0502020204030204" pitchFamily="34" charset="0"/>
                <a:cs typeface="Times New Roman" panose="02020603050405020304" pitchFamily="18" charset="0"/>
              </a:rPr>
              <a:t>Other Statements of Offerors</a:t>
            </a:r>
          </a:p>
          <a:p>
            <a:pPr lvl="1">
              <a:lnSpc>
                <a:spcPct val="90000"/>
              </a:lnSpc>
              <a:buFont typeface="Arial" panose="020B0604020202020204" pitchFamily="34" charset="0"/>
              <a:buChar char="•"/>
              <a:tabLst>
                <a:tab pos="965200" algn="l"/>
                <a:tab pos="1200150" algn="l"/>
              </a:tabLst>
            </a:pPr>
            <a:r>
              <a:rPr lang="en-US" altLang="en-US" sz="2200" b="1" dirty="0">
                <a:latin typeface="Calibri" panose="020F0502020204030204" pitchFamily="34" charset="0"/>
                <a:cs typeface="Times New Roman" panose="02020603050405020304" pitchFamily="18" charset="0"/>
              </a:rPr>
              <a:t>L	–	Instructions, Conditions and Notices to Offerors</a:t>
            </a:r>
          </a:p>
          <a:p>
            <a:pPr lvl="1">
              <a:lnSpc>
                <a:spcPct val="90000"/>
              </a:lnSpc>
              <a:buFont typeface="Arial" panose="020B0604020202020204" pitchFamily="34" charset="0"/>
              <a:buChar char="•"/>
              <a:tabLst>
                <a:tab pos="965200" algn="l"/>
                <a:tab pos="1200150" algn="l"/>
              </a:tabLst>
            </a:pPr>
            <a:r>
              <a:rPr lang="en-US" altLang="en-US" sz="2200" b="1" dirty="0" smtClean="0">
                <a:latin typeface="Calibri" panose="020F0502020204030204" pitchFamily="34" charset="0"/>
                <a:cs typeface="Times New Roman" panose="02020603050405020304" pitchFamily="18" charset="0"/>
              </a:rPr>
              <a:t>M –</a:t>
            </a:r>
            <a:r>
              <a:rPr lang="en-US" altLang="en-US" sz="2200" b="1" dirty="0">
                <a:latin typeface="Calibri" panose="020F0502020204030204" pitchFamily="34" charset="0"/>
                <a:cs typeface="Times New Roman" panose="02020603050405020304" pitchFamily="18" charset="0"/>
              </a:rPr>
              <a:t>	Evaluation Factors for Award</a:t>
            </a:r>
            <a:endParaRPr lang="en-US" altLang="en-US" sz="2200" dirty="0">
              <a:latin typeface="Calibri" panose="020F0502020204030204" pitchFamily="34"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31</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RFP Format</a:t>
            </a:r>
            <a:endParaRPr lang="en-US" sz="2400" b="0" dirty="0">
              <a:solidFill>
                <a:schemeClr val="accent1"/>
              </a:solidFill>
              <a:latin typeface="+mn-lt"/>
            </a:endParaRPr>
          </a:p>
        </p:txBody>
      </p:sp>
    </p:spTree>
    <p:extLst>
      <p:ext uri="{BB962C8B-B14F-4D97-AF65-F5344CB8AC3E}">
        <p14:creationId xmlns:p14="http://schemas.microsoft.com/office/powerpoint/2010/main" val="4005359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4525963"/>
          </a:xfrm>
        </p:spPr>
        <p:txBody>
          <a:bodyPr>
            <a:normAutofit/>
          </a:bodyPr>
          <a:lstStyle/>
          <a:p>
            <a:pPr>
              <a:lnSpc>
                <a:spcPct val="90000"/>
              </a:lnSpc>
              <a:buFontTx/>
              <a:buChar char="•"/>
            </a:pPr>
            <a:r>
              <a:rPr lang="en-US" altLang="en-US" sz="2400" dirty="0">
                <a:latin typeface="Calibri" panose="020F0502020204030204" pitchFamily="34" charset="0"/>
                <a:cs typeface="Times New Roman" panose="02020603050405020304" pitchFamily="18" charset="0"/>
              </a:rPr>
              <a:t>Background information about </a:t>
            </a:r>
            <a:r>
              <a:rPr lang="en-US" altLang="en-US" sz="2400" dirty="0" smtClean="0">
                <a:latin typeface="Calibri" panose="020F0502020204030204" pitchFamily="34" charset="0"/>
                <a:cs typeface="Times New Roman" panose="02020603050405020304" pitchFamily="18" charset="0"/>
              </a:rPr>
              <a:t>the decennial census; experience from previous censuses; operational planning for the 2020 Census; and goals for the 2020 Census</a:t>
            </a:r>
          </a:p>
          <a:p>
            <a:pPr marL="0" indent="0">
              <a:lnSpc>
                <a:spcPct val="90000"/>
              </a:lnSpc>
              <a:buNone/>
            </a:pPr>
            <a:endParaRPr lang="en-US" altLang="en-US" sz="2400" dirty="0">
              <a:latin typeface="Calibri" panose="020F0502020204030204" pitchFamily="34" charset="0"/>
              <a:cs typeface="Times New Roman" panose="02020603050405020304" pitchFamily="18" charset="0"/>
            </a:endParaRPr>
          </a:p>
          <a:p>
            <a:pPr>
              <a:lnSpc>
                <a:spcPct val="90000"/>
              </a:lnSpc>
              <a:buFontTx/>
              <a:buChar char="•"/>
            </a:pPr>
            <a:r>
              <a:rPr lang="en-US" altLang="en-US" sz="2400" dirty="0">
                <a:latin typeface="Calibri" panose="020F0502020204030204" pitchFamily="34" charset="0"/>
                <a:cs typeface="Times New Roman" panose="02020603050405020304" pitchFamily="18" charset="0"/>
              </a:rPr>
              <a:t>Information regarding measuring contractor’s </a:t>
            </a:r>
            <a:r>
              <a:rPr lang="en-US" altLang="en-US" sz="2400" dirty="0" smtClean="0">
                <a:latin typeface="Calibri" panose="020F0502020204030204" pitchFamily="34" charset="0"/>
                <a:cs typeface="Times New Roman" panose="02020603050405020304" pitchFamily="18" charset="0"/>
              </a:rPr>
              <a:t>performance, small </a:t>
            </a:r>
            <a:r>
              <a:rPr lang="en-US" altLang="en-US" sz="2400" dirty="0">
                <a:latin typeface="Calibri" panose="020F0502020204030204" pitchFamily="34" charset="0"/>
                <a:cs typeface="Times New Roman" panose="02020603050405020304" pitchFamily="18" charset="0"/>
              </a:rPr>
              <a:t>business </a:t>
            </a:r>
            <a:r>
              <a:rPr lang="en-US" altLang="en-US" sz="2400" dirty="0" smtClean="0">
                <a:latin typeface="Calibri" panose="020F0502020204030204" pitchFamily="34" charset="0"/>
                <a:cs typeface="Times New Roman" panose="02020603050405020304" pitchFamily="18" charset="0"/>
              </a:rPr>
              <a:t>subcontracting, and the Participation Plan</a:t>
            </a:r>
            <a:endParaRPr lang="en-US" altLang="en-US" sz="2400" dirty="0">
              <a:latin typeface="Calibri" panose="020F0502020204030204" pitchFamily="34" charset="0"/>
              <a:cs typeface="Times New Roman" panose="02020603050405020304" pitchFamily="18" charset="0"/>
            </a:endParaRPr>
          </a:p>
          <a:p>
            <a:pPr>
              <a:lnSpc>
                <a:spcPct val="90000"/>
              </a:lnSpc>
              <a:buFontTx/>
              <a:buChar char="•"/>
            </a:pPr>
            <a:endParaRPr lang="en-US" altLang="en-US" sz="2400" dirty="0">
              <a:latin typeface="Calibri" panose="020F0502020204030204" pitchFamily="34" charset="0"/>
              <a:cs typeface="Times New Roman" panose="02020603050405020304" pitchFamily="18" charset="0"/>
            </a:endParaRPr>
          </a:p>
          <a:p>
            <a:pPr>
              <a:lnSpc>
                <a:spcPct val="90000"/>
              </a:lnSpc>
              <a:buFontTx/>
              <a:buChar char="•"/>
            </a:pPr>
            <a:r>
              <a:rPr lang="en-US" altLang="en-US" sz="2400" dirty="0" smtClean="0">
                <a:latin typeface="Calibri" panose="020F0502020204030204" pitchFamily="34" charset="0"/>
                <a:cs typeface="Times New Roman" panose="02020603050405020304" pitchFamily="18" charset="0"/>
              </a:rPr>
              <a:t>Performance-based </a:t>
            </a:r>
            <a:r>
              <a:rPr lang="en-US" altLang="en-US" sz="2400" dirty="0">
                <a:latin typeface="Calibri" panose="020F0502020204030204" pitchFamily="34" charset="0"/>
                <a:cs typeface="Times New Roman" panose="02020603050405020304" pitchFamily="18" charset="0"/>
              </a:rPr>
              <a:t>statement of work – description of required services </a:t>
            </a:r>
          </a:p>
          <a:p>
            <a:pPr marL="0" indent="0">
              <a:buNone/>
            </a:pPr>
            <a:endParaRPr lang="en-US"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32</a:t>
            </a:fld>
            <a:endParaRPr lang="en-US" dirty="0"/>
          </a:p>
        </p:txBody>
      </p:sp>
      <p:sp>
        <p:nvSpPr>
          <p:cNvPr id="5"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C: Description/Specifications/Statement of Work</a:t>
            </a:r>
            <a:endParaRPr lang="en-US" sz="2400" b="0" dirty="0">
              <a:solidFill>
                <a:schemeClr val="accent1"/>
              </a:solidFill>
              <a:latin typeface="+mn-lt"/>
            </a:endParaRPr>
          </a:p>
        </p:txBody>
      </p:sp>
    </p:spTree>
    <p:extLst>
      <p:ext uri="{BB962C8B-B14F-4D97-AF65-F5344CB8AC3E}">
        <p14:creationId xmlns:p14="http://schemas.microsoft.com/office/powerpoint/2010/main" val="922284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077200" cy="4221163"/>
          </a:xfrm>
        </p:spPr>
        <p:txBody>
          <a:bodyPr>
            <a:normAutofit lnSpcReduction="10000"/>
          </a:bodyPr>
          <a:lstStyle/>
          <a:p>
            <a:pPr marL="0" indent="0">
              <a:buNone/>
            </a:pPr>
            <a:r>
              <a:rPr lang="en-US" altLang="en-US" sz="1800" b="1" dirty="0" smtClean="0">
                <a:latin typeface="Calibri" panose="020F0502020204030204" pitchFamily="34" charset="0"/>
                <a:cs typeface="Times New Roman" panose="02020603050405020304" pitchFamily="18" charset="0"/>
              </a:rPr>
              <a:t>Services </a:t>
            </a:r>
            <a:r>
              <a:rPr lang="en-US" altLang="en-US" sz="1800" b="1" u="sng" dirty="0" smtClean="0">
                <a:latin typeface="Calibri" panose="020F0502020204030204" pitchFamily="34" charset="0"/>
                <a:cs typeface="Times New Roman" panose="02020603050405020304" pitchFamily="18" charset="0"/>
              </a:rPr>
              <a:t>may</a:t>
            </a:r>
            <a:r>
              <a:rPr lang="en-US" altLang="en-US" sz="1800" b="1" dirty="0" smtClean="0">
                <a:latin typeface="Calibri" panose="020F0502020204030204" pitchFamily="34" charset="0"/>
                <a:cs typeface="Times New Roman" panose="02020603050405020304" pitchFamily="18" charset="0"/>
              </a:rPr>
              <a:t> include, but are not limited to:</a:t>
            </a:r>
          </a:p>
          <a:p>
            <a:pPr marL="0" indent="0">
              <a:buNone/>
            </a:pPr>
            <a:endParaRPr lang="en-US" altLang="en-US" sz="1200" b="1" dirty="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Research and Data </a:t>
            </a:r>
            <a:r>
              <a:rPr lang="en-US" sz="1400" dirty="0" smtClean="0">
                <a:latin typeface="Calibri" panose="020F0502020204030204" pitchFamily="34" charset="0"/>
                <a:cs typeface="Times New Roman" panose="02020603050405020304" pitchFamily="18" charset="0"/>
              </a:rPr>
              <a:t>Analytics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Strategic Planning, Program Development, and </a:t>
            </a:r>
            <a:r>
              <a:rPr lang="en-US" sz="1400" dirty="0" smtClean="0">
                <a:latin typeface="Calibri" panose="020F0502020204030204" pitchFamily="34" charset="0"/>
                <a:cs typeface="Times New Roman" panose="02020603050405020304" pitchFamily="18" charset="0"/>
              </a:rPr>
              <a:t>Integration</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Communications Support for Decennial Census Operations and Other </a:t>
            </a:r>
            <a:r>
              <a:rPr lang="en-US" sz="1400" dirty="0" smtClean="0">
                <a:latin typeface="Calibri" panose="020F0502020204030204" pitchFamily="34" charset="0"/>
                <a:cs typeface="Times New Roman" panose="02020603050405020304" pitchFamily="18" charset="0"/>
              </a:rPr>
              <a:t>Programs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Field Recruitment Advertising and </a:t>
            </a:r>
            <a:r>
              <a:rPr lang="en-US" sz="1400" dirty="0" smtClean="0">
                <a:latin typeface="Calibri" panose="020F0502020204030204" pitchFamily="34" charset="0"/>
                <a:cs typeface="Times New Roman" panose="02020603050405020304" pitchFamily="18" charset="0"/>
              </a:rPr>
              <a:t>Communications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Traditional Advertising and Media </a:t>
            </a:r>
            <a:r>
              <a:rPr lang="en-US" sz="1400" dirty="0" smtClean="0">
                <a:latin typeface="Calibri" panose="020F0502020204030204" pitchFamily="34" charset="0"/>
                <a:cs typeface="Times New Roman" panose="02020603050405020304" pitchFamily="18" charset="0"/>
              </a:rPr>
              <a:t>Buying</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Digital Advertising and Other Communications </a:t>
            </a:r>
            <a:r>
              <a:rPr lang="en-US" sz="1400" dirty="0" smtClean="0">
                <a:latin typeface="Calibri" panose="020F0502020204030204" pitchFamily="34" charset="0"/>
                <a:cs typeface="Times New Roman" panose="02020603050405020304" pitchFamily="18" charset="0"/>
              </a:rPr>
              <a:t>Technologies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Social </a:t>
            </a:r>
            <a:r>
              <a:rPr lang="en-US" sz="1400" dirty="0" smtClean="0">
                <a:latin typeface="Calibri" panose="020F0502020204030204" pitchFamily="34" charset="0"/>
                <a:cs typeface="Times New Roman" panose="02020603050405020304" pitchFamily="18" charset="0"/>
              </a:rPr>
              <a:t>Media</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Public </a:t>
            </a:r>
            <a:r>
              <a:rPr lang="en-US" sz="1400" dirty="0" smtClean="0">
                <a:latin typeface="Calibri" panose="020F0502020204030204" pitchFamily="34" charset="0"/>
                <a:cs typeface="Times New Roman" panose="02020603050405020304" pitchFamily="18" charset="0"/>
              </a:rPr>
              <a:t>Relations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Communications Planning and Materials for the Partnership </a:t>
            </a:r>
            <a:r>
              <a:rPr lang="en-US" sz="1400" dirty="0" smtClean="0">
                <a:latin typeface="Calibri" panose="020F0502020204030204" pitchFamily="34" charset="0"/>
                <a:cs typeface="Times New Roman" panose="02020603050405020304" pitchFamily="18" charset="0"/>
              </a:rPr>
              <a:t>Program</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Statistics in Schools </a:t>
            </a:r>
            <a:r>
              <a:rPr lang="en-US" sz="1400" dirty="0" smtClean="0">
                <a:latin typeface="Calibri" panose="020F0502020204030204" pitchFamily="34" charset="0"/>
                <a:cs typeface="Times New Roman" panose="02020603050405020304" pitchFamily="18" charset="0"/>
              </a:rPr>
              <a:t>Program</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Website Development and Digital </a:t>
            </a:r>
            <a:r>
              <a:rPr lang="en-US" sz="1400" dirty="0" smtClean="0">
                <a:latin typeface="Calibri" panose="020F0502020204030204" pitchFamily="34" charset="0"/>
                <a:cs typeface="Times New Roman" panose="02020603050405020304" pitchFamily="18" charset="0"/>
              </a:rPr>
              <a:t>Engagement</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Rapid Response </a:t>
            </a:r>
            <a:r>
              <a:rPr lang="en-US" sz="1400" dirty="0" smtClean="0">
                <a:latin typeface="Calibri" panose="020F0502020204030204" pitchFamily="34" charset="0"/>
                <a:cs typeface="Times New Roman" panose="02020603050405020304" pitchFamily="18" charset="0"/>
              </a:rPr>
              <a:t>Activities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Project and Financial </a:t>
            </a:r>
            <a:r>
              <a:rPr lang="en-US" sz="1400" dirty="0" smtClean="0">
                <a:latin typeface="Calibri" panose="020F0502020204030204" pitchFamily="34" charset="0"/>
                <a:cs typeface="Times New Roman" panose="02020603050405020304" pitchFamily="18" charset="0"/>
              </a:rPr>
              <a:t>Management</a:t>
            </a:r>
          </a:p>
          <a:p>
            <a:pPr>
              <a:buFont typeface="Arial" panose="020B0604020202020204" pitchFamily="34" charset="0"/>
              <a:buChar char="•"/>
            </a:pPr>
            <a:r>
              <a:rPr lang="en-US" sz="1400" dirty="0" smtClean="0">
                <a:latin typeface="Calibri" panose="020F0502020204030204" pitchFamily="34" charset="0"/>
                <a:cs typeface="Times New Roman" panose="02020603050405020304" pitchFamily="18" charset="0"/>
              </a:rPr>
              <a:t>Stakeholders Relations</a:t>
            </a:r>
          </a:p>
          <a:p>
            <a:pPr>
              <a:buFont typeface="Arial" panose="020B0604020202020204" pitchFamily="34" charset="0"/>
              <a:buChar char="•"/>
            </a:pPr>
            <a:r>
              <a:rPr lang="en-US" sz="1400" dirty="0">
                <a:latin typeface="Calibri" panose="020F0502020204030204" pitchFamily="34" charset="0"/>
                <a:cs typeface="Times New Roman" panose="02020603050405020304" pitchFamily="18" charset="0"/>
              </a:rPr>
              <a:t>Communications Support for the 2020 Census Data Dissemination</a:t>
            </a:r>
            <a:endParaRPr lang="en-US" sz="1400" dirty="0" smtClean="0">
              <a:latin typeface="Calibri" panose="020F0502020204030204" pitchFamily="34"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endParaRPr lang="en-US" sz="1800" b="1" u="sng" dirty="0" smtClean="0"/>
          </a:p>
          <a:p>
            <a:endParaRPr lang="en-US" sz="1800"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33</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C: Performance Work Statement</a:t>
            </a:r>
            <a:endParaRPr lang="en-US" sz="2400" b="0" dirty="0">
              <a:solidFill>
                <a:schemeClr val="accent1"/>
              </a:solidFill>
              <a:latin typeface="+mn-lt"/>
            </a:endParaRPr>
          </a:p>
        </p:txBody>
      </p:sp>
    </p:spTree>
    <p:extLst>
      <p:ext uri="{BB962C8B-B14F-4D97-AF65-F5344CB8AC3E}">
        <p14:creationId xmlns:p14="http://schemas.microsoft.com/office/powerpoint/2010/main" val="1490601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57400"/>
            <a:ext cx="8229600" cy="2392363"/>
          </a:xfrm>
        </p:spPr>
        <p:txBody>
          <a:bodyPr>
            <a:normAutofit/>
          </a:bodyPr>
          <a:lstStyle/>
          <a:p>
            <a:pPr marL="0" indent="0">
              <a:buNone/>
            </a:pPr>
            <a:r>
              <a:rPr lang="en-US" altLang="en-US" sz="2400" dirty="0" smtClean="0">
                <a:latin typeface="Calibri" panose="020F0502020204030204" pitchFamily="34" charset="0"/>
                <a:cs typeface="Times New Roman" panose="02020603050405020304" pitchFamily="18" charset="0"/>
              </a:rPr>
              <a:t>Provides </a:t>
            </a:r>
            <a:r>
              <a:rPr lang="en-US" altLang="en-US" sz="2400" dirty="0">
                <a:latin typeface="Calibri" panose="020F0502020204030204" pitchFamily="34" charset="0"/>
                <a:cs typeface="Times New Roman" panose="02020603050405020304" pitchFamily="18" charset="0"/>
              </a:rPr>
              <a:t>guidelines on the acquisition process, how proposals shall be </a:t>
            </a:r>
            <a:r>
              <a:rPr lang="en-US" altLang="en-US" sz="2400" dirty="0" smtClean="0">
                <a:latin typeface="Calibri" panose="020F0502020204030204" pitchFamily="34" charset="0"/>
                <a:cs typeface="Times New Roman" panose="02020603050405020304" pitchFamily="18" charset="0"/>
              </a:rPr>
              <a:t>submitted, </a:t>
            </a:r>
            <a:r>
              <a:rPr lang="en-US" altLang="en-US" sz="2400" dirty="0">
                <a:latin typeface="Calibri" panose="020F0502020204030204" pitchFamily="34" charset="0"/>
                <a:cs typeface="Times New Roman" panose="02020603050405020304" pitchFamily="18" charset="0"/>
              </a:rPr>
              <a:t>and what shall be included in the proposal to be evaluated under Section </a:t>
            </a:r>
            <a:r>
              <a:rPr lang="en-US" altLang="en-US" sz="2400" dirty="0" smtClean="0">
                <a:latin typeface="Calibri" panose="020F0502020204030204" pitchFamily="34" charset="0"/>
                <a:cs typeface="Times New Roman" panose="02020603050405020304" pitchFamily="18" charset="0"/>
              </a:rPr>
              <a:t>M – Evaluation Factors for Award.</a:t>
            </a:r>
            <a:endParaRPr lang="en-US" altLang="en-US" sz="2400" dirty="0">
              <a:latin typeface="Calibri" panose="020F0502020204030204" pitchFamily="34" charset="0"/>
              <a:cs typeface="Times New Roman" panose="02020603050405020304" pitchFamily="18" charset="0"/>
            </a:endParaRPr>
          </a:p>
          <a:p>
            <a:pPr marL="0" indent="0">
              <a:buNone/>
            </a:pPr>
            <a:endParaRPr lang="en-US" sz="2400"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34</a:t>
            </a:fld>
            <a:endParaRPr lang="en-US" dirty="0"/>
          </a:p>
        </p:txBody>
      </p:sp>
      <p:sp>
        <p:nvSpPr>
          <p:cNvPr id="5"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L: Instructions, Conditions, and Notices to Offerors</a:t>
            </a:r>
            <a:endParaRPr lang="en-US" sz="2400" b="0" dirty="0">
              <a:solidFill>
                <a:schemeClr val="accent1"/>
              </a:solidFill>
              <a:latin typeface="+mn-lt"/>
            </a:endParaRPr>
          </a:p>
        </p:txBody>
      </p:sp>
    </p:spTree>
    <p:extLst>
      <p:ext uri="{BB962C8B-B14F-4D97-AF65-F5344CB8AC3E}">
        <p14:creationId xmlns:p14="http://schemas.microsoft.com/office/powerpoint/2010/main" val="233038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229600" cy="2087563"/>
          </a:xfrm>
        </p:spPr>
        <p:txBody>
          <a:bodyPr>
            <a:normAutofit/>
          </a:bodyPr>
          <a:lstStyle/>
          <a:p>
            <a:pPr marL="0" indent="0">
              <a:buNone/>
            </a:pPr>
            <a:r>
              <a:rPr lang="en-US" altLang="en-US" sz="2400" dirty="0">
                <a:latin typeface="Calibri" panose="020F0502020204030204" pitchFamily="34" charset="0"/>
                <a:cs typeface="Times New Roman" panose="02020603050405020304" pitchFamily="18" charset="0"/>
              </a:rPr>
              <a:t>Provides the manner in which </a:t>
            </a:r>
            <a:r>
              <a:rPr lang="en-US" altLang="en-US" sz="2400" dirty="0" smtClean="0">
                <a:latin typeface="Calibri" panose="020F0502020204030204" pitchFamily="34" charset="0"/>
                <a:cs typeface="Times New Roman" panose="02020603050405020304" pitchFamily="18" charset="0"/>
              </a:rPr>
              <a:t>the Census Bureau </a:t>
            </a:r>
            <a:r>
              <a:rPr lang="en-US" altLang="en-US" sz="2400" dirty="0">
                <a:latin typeface="Calibri" panose="020F0502020204030204" pitchFamily="34" charset="0"/>
                <a:cs typeface="Times New Roman" panose="02020603050405020304" pitchFamily="18" charset="0"/>
              </a:rPr>
              <a:t>will evaluate the information provided in response to Section </a:t>
            </a:r>
            <a:r>
              <a:rPr lang="en-US" altLang="en-US" sz="2400" dirty="0" smtClean="0">
                <a:latin typeface="Calibri" panose="020F0502020204030204" pitchFamily="34" charset="0"/>
                <a:cs typeface="Times New Roman" panose="02020603050405020304" pitchFamily="18" charset="0"/>
              </a:rPr>
              <a:t>L – Instructions, Conditions and Notices to Offerors.</a:t>
            </a:r>
            <a:endParaRPr lang="en-US" altLang="en-US" sz="2400" dirty="0">
              <a:latin typeface="Calibri" panose="020F0502020204030204" pitchFamily="34" charset="0"/>
              <a:cs typeface="Times New Roman" panose="02020603050405020304" pitchFamily="18" charset="0"/>
            </a:endParaRPr>
          </a:p>
          <a:p>
            <a:pPr marL="0" indent="0">
              <a:buNone/>
            </a:pPr>
            <a:endParaRPr lang="en-US" sz="2400"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35</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M: Evaluation Factors for Award (Continued)</a:t>
            </a:r>
            <a:endParaRPr lang="en-US" sz="2400" b="0" dirty="0">
              <a:solidFill>
                <a:schemeClr val="accent1"/>
              </a:solidFill>
              <a:latin typeface="+mn-lt"/>
            </a:endParaRPr>
          </a:p>
        </p:txBody>
      </p:sp>
    </p:spTree>
    <p:extLst>
      <p:ext uri="{BB962C8B-B14F-4D97-AF65-F5344CB8AC3E}">
        <p14:creationId xmlns:p14="http://schemas.microsoft.com/office/powerpoint/2010/main" val="989126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fontScale="92500" lnSpcReduction="20000"/>
          </a:bodyPr>
          <a:lstStyle/>
          <a:p>
            <a:pPr marL="0" lvl="0" indent="0">
              <a:buNone/>
            </a:pPr>
            <a:r>
              <a:rPr lang="en-US" sz="2200" b="1" dirty="0" smtClean="0">
                <a:latin typeface="Calibri" panose="020F0502020204030204" pitchFamily="34" charset="0"/>
                <a:cs typeface="Times New Roman" panose="02020603050405020304" pitchFamily="18" charset="0"/>
              </a:rPr>
              <a:t>Technical Evaluation Factors (in descending order of importance):</a:t>
            </a:r>
          </a:p>
          <a:p>
            <a:pPr marL="0" lvl="0" indent="0">
              <a:buNone/>
            </a:pPr>
            <a:endParaRPr lang="en-US" sz="1300" b="1" dirty="0">
              <a:latin typeface="Calibri" panose="020F0502020204030204" pitchFamily="34" charset="0"/>
              <a:cs typeface="Times New Roman" panose="02020603050405020304" pitchFamily="18" charset="0"/>
            </a:endParaRPr>
          </a:p>
          <a:p>
            <a:pPr marL="0" lvl="0" indent="0">
              <a:buNone/>
            </a:pPr>
            <a:r>
              <a:rPr lang="en-US" sz="1700" b="1" dirty="0" smtClean="0">
                <a:latin typeface="Calibri" panose="020F0502020204030204" pitchFamily="34" charset="0"/>
                <a:cs typeface="Times New Roman" panose="02020603050405020304" pitchFamily="18" charset="0"/>
              </a:rPr>
              <a:t>Factor </a:t>
            </a:r>
            <a:r>
              <a:rPr lang="en-US" sz="1700" b="1" dirty="0">
                <a:latin typeface="Calibri" panose="020F0502020204030204" pitchFamily="34" charset="0"/>
                <a:cs typeface="Times New Roman" panose="02020603050405020304" pitchFamily="18" charset="0"/>
              </a:rPr>
              <a:t>1 – Technical Approach, Management Approach, and Designated Market Area (DMA) Exercise</a:t>
            </a:r>
          </a:p>
          <a:p>
            <a:pPr marL="0" lvl="0" indent="0">
              <a:buNone/>
            </a:pPr>
            <a:endParaRPr lang="en-US" sz="1300" u="sng" dirty="0">
              <a:latin typeface="Calibri" panose="020F0502020204030204" pitchFamily="34" charset="0"/>
              <a:cs typeface="Times New Roman" panose="02020603050405020304" pitchFamily="18" charset="0"/>
            </a:endParaRPr>
          </a:p>
          <a:p>
            <a:pPr marL="0" lvl="0" indent="0">
              <a:buNone/>
            </a:pPr>
            <a:r>
              <a:rPr lang="en-US" sz="1500" dirty="0">
                <a:latin typeface="Calibri" panose="020F0502020204030204" pitchFamily="34" charset="0"/>
                <a:cs typeface="Times New Roman" panose="02020603050405020304" pitchFamily="18" charset="0"/>
              </a:rPr>
              <a:t>Subfactor 1A – Technical Approach</a:t>
            </a:r>
          </a:p>
          <a:p>
            <a:pPr marL="0" lvl="0" indent="0">
              <a:buNone/>
            </a:pPr>
            <a:r>
              <a:rPr lang="en-US" sz="1500" dirty="0">
                <a:latin typeface="Calibri" panose="020F0502020204030204" pitchFamily="34" charset="0"/>
                <a:cs typeface="Times New Roman" panose="02020603050405020304" pitchFamily="18" charset="0"/>
              </a:rPr>
              <a:t>Subfactor 1B – Management Approach</a:t>
            </a:r>
          </a:p>
          <a:p>
            <a:pPr marL="0" lvl="0" indent="0">
              <a:buNone/>
            </a:pPr>
            <a:r>
              <a:rPr lang="en-US" sz="1500" dirty="0">
                <a:latin typeface="Calibri" panose="020F0502020204030204" pitchFamily="34" charset="0"/>
                <a:cs typeface="Times New Roman" panose="02020603050405020304" pitchFamily="18" charset="0"/>
              </a:rPr>
              <a:t>Subfactor 1C – DMA Exercise</a:t>
            </a:r>
          </a:p>
          <a:p>
            <a:pPr marL="0" lvl="0" indent="0">
              <a:buNone/>
            </a:pPr>
            <a:endParaRPr lang="en-US" sz="1300" i="1" u="sng" dirty="0">
              <a:latin typeface="Calibri" panose="020F0502020204030204" pitchFamily="34" charset="0"/>
              <a:cs typeface="Times New Roman" panose="02020603050405020304" pitchFamily="18" charset="0"/>
            </a:endParaRPr>
          </a:p>
          <a:p>
            <a:pPr marL="0" lvl="0" indent="0">
              <a:buNone/>
            </a:pPr>
            <a:r>
              <a:rPr lang="en-US" sz="1700" b="1" dirty="0">
                <a:latin typeface="Calibri" panose="020F0502020204030204" pitchFamily="34" charset="0"/>
                <a:cs typeface="Times New Roman" panose="02020603050405020304" pitchFamily="18" charset="0"/>
              </a:rPr>
              <a:t>Factor 2 – Participation </a:t>
            </a:r>
            <a:r>
              <a:rPr lang="en-US" sz="1700" b="1" dirty="0" smtClean="0">
                <a:latin typeface="Calibri" panose="020F0502020204030204" pitchFamily="34" charset="0"/>
                <a:cs typeface="Times New Roman" panose="02020603050405020304" pitchFamily="18" charset="0"/>
              </a:rPr>
              <a:t>Plan and Small Business Subcontracting Approach</a:t>
            </a:r>
          </a:p>
          <a:p>
            <a:pPr marL="0" lvl="0" indent="0">
              <a:buNone/>
            </a:pPr>
            <a:endParaRPr lang="en-US" sz="1700" b="1" dirty="0">
              <a:latin typeface="Calibri" panose="020F0502020204030204" pitchFamily="34" charset="0"/>
              <a:cs typeface="Times New Roman" panose="02020603050405020304" pitchFamily="18" charset="0"/>
            </a:endParaRPr>
          </a:p>
          <a:p>
            <a:pPr marL="0" lvl="0" indent="0">
              <a:buNone/>
            </a:pPr>
            <a:r>
              <a:rPr lang="en-US" sz="1500" dirty="0" smtClean="0">
                <a:latin typeface="Calibri" panose="020F0502020204030204" pitchFamily="34" charset="0"/>
                <a:cs typeface="Times New Roman" panose="02020603050405020304" pitchFamily="18" charset="0"/>
              </a:rPr>
              <a:t>Subfactor 2A – Participation Plan</a:t>
            </a:r>
          </a:p>
          <a:p>
            <a:pPr marL="0" lvl="0" indent="0">
              <a:buNone/>
            </a:pPr>
            <a:r>
              <a:rPr lang="en-US" sz="1500" dirty="0" smtClean="0">
                <a:latin typeface="Calibri" panose="020F0502020204030204" pitchFamily="34" charset="0"/>
                <a:cs typeface="Times New Roman" panose="02020603050405020304" pitchFamily="18" charset="0"/>
              </a:rPr>
              <a:t>Subfactor 2B – Small Business Subcontracting Approach</a:t>
            </a:r>
            <a:endParaRPr lang="en-US" sz="1500" dirty="0">
              <a:latin typeface="Calibri" panose="020F0502020204030204" pitchFamily="34" charset="0"/>
              <a:cs typeface="Times New Roman" panose="02020603050405020304" pitchFamily="18" charset="0"/>
            </a:endParaRPr>
          </a:p>
          <a:p>
            <a:pPr marL="0" lvl="0" indent="0">
              <a:buNone/>
            </a:pPr>
            <a:endParaRPr lang="en-US" sz="1200" b="1" dirty="0">
              <a:latin typeface="Calibri" panose="020F0502020204030204" pitchFamily="34" charset="0"/>
              <a:cs typeface="Times New Roman" panose="02020603050405020304" pitchFamily="18" charset="0"/>
            </a:endParaRPr>
          </a:p>
          <a:p>
            <a:pPr marL="0" lvl="0" indent="0">
              <a:buNone/>
            </a:pPr>
            <a:r>
              <a:rPr lang="en-US" sz="1700" b="1" dirty="0">
                <a:latin typeface="Calibri" panose="020F0502020204030204" pitchFamily="34" charset="0"/>
                <a:cs typeface="Times New Roman" panose="02020603050405020304" pitchFamily="18" charset="0"/>
              </a:rPr>
              <a:t>Factor 3 – </a:t>
            </a:r>
            <a:r>
              <a:rPr lang="en-US" sz="1700" b="1" dirty="0" smtClean="0">
                <a:latin typeface="Calibri" panose="020F0502020204030204" pitchFamily="34" charset="0"/>
                <a:cs typeface="Times New Roman" panose="02020603050405020304" pitchFamily="18" charset="0"/>
              </a:rPr>
              <a:t>Similar </a:t>
            </a:r>
            <a:r>
              <a:rPr lang="en-US" sz="1700" b="1" dirty="0">
                <a:latin typeface="Calibri" panose="020F0502020204030204" pitchFamily="34" charset="0"/>
                <a:cs typeface="Times New Roman" panose="02020603050405020304" pitchFamily="18" charset="0"/>
              </a:rPr>
              <a:t>Experience, Key Personnel, and Past Performance</a:t>
            </a:r>
          </a:p>
          <a:p>
            <a:pPr marL="0" lvl="0" indent="0">
              <a:buNone/>
            </a:pPr>
            <a:endParaRPr lang="en-US" sz="1500" dirty="0">
              <a:latin typeface="Calibri" panose="020F0502020204030204" pitchFamily="34" charset="0"/>
              <a:cs typeface="Times New Roman" panose="02020603050405020304" pitchFamily="18" charset="0"/>
            </a:endParaRPr>
          </a:p>
          <a:p>
            <a:pPr marL="0" lvl="0" indent="0">
              <a:buNone/>
            </a:pPr>
            <a:r>
              <a:rPr lang="en-US" sz="1500" dirty="0">
                <a:latin typeface="Calibri" panose="020F0502020204030204" pitchFamily="34" charset="0"/>
                <a:cs typeface="Times New Roman" panose="02020603050405020304" pitchFamily="18" charset="0"/>
              </a:rPr>
              <a:t>Subfactor </a:t>
            </a:r>
            <a:r>
              <a:rPr lang="en-US" sz="1500" dirty="0" smtClean="0">
                <a:latin typeface="Calibri" panose="020F0502020204030204" pitchFamily="34" charset="0"/>
                <a:cs typeface="Times New Roman" panose="02020603050405020304" pitchFamily="18" charset="0"/>
              </a:rPr>
              <a:t>3A </a:t>
            </a:r>
            <a:r>
              <a:rPr lang="en-US" sz="1500" dirty="0">
                <a:latin typeface="Calibri" panose="020F0502020204030204" pitchFamily="34" charset="0"/>
                <a:cs typeface="Times New Roman" panose="02020603050405020304" pitchFamily="18" charset="0"/>
              </a:rPr>
              <a:t>– Similar Experience</a:t>
            </a:r>
          </a:p>
          <a:p>
            <a:pPr marL="0" lvl="0" indent="0">
              <a:buNone/>
            </a:pPr>
            <a:r>
              <a:rPr lang="en-US" sz="1500" dirty="0">
                <a:latin typeface="Calibri" panose="020F0502020204030204" pitchFamily="34" charset="0"/>
                <a:cs typeface="Times New Roman" panose="02020603050405020304" pitchFamily="18" charset="0"/>
              </a:rPr>
              <a:t>Subfactor </a:t>
            </a:r>
            <a:r>
              <a:rPr lang="en-US" sz="1500" dirty="0" smtClean="0">
                <a:latin typeface="Calibri" panose="020F0502020204030204" pitchFamily="34" charset="0"/>
                <a:cs typeface="Times New Roman" panose="02020603050405020304" pitchFamily="18" charset="0"/>
              </a:rPr>
              <a:t>3B </a:t>
            </a:r>
            <a:r>
              <a:rPr lang="en-US" sz="1500" dirty="0">
                <a:latin typeface="Calibri" panose="020F0502020204030204" pitchFamily="34" charset="0"/>
                <a:cs typeface="Times New Roman" panose="02020603050405020304" pitchFamily="18" charset="0"/>
              </a:rPr>
              <a:t>– Key Personnel</a:t>
            </a:r>
          </a:p>
          <a:p>
            <a:pPr marL="0" lvl="0" indent="0">
              <a:buNone/>
            </a:pPr>
            <a:r>
              <a:rPr lang="en-US" sz="1500" dirty="0">
                <a:latin typeface="Calibri" panose="020F0502020204030204" pitchFamily="34" charset="0"/>
                <a:cs typeface="Times New Roman" panose="02020603050405020304" pitchFamily="18" charset="0"/>
              </a:rPr>
              <a:t>Subfactor </a:t>
            </a:r>
            <a:r>
              <a:rPr lang="en-US" sz="1500" dirty="0" smtClean="0">
                <a:latin typeface="Calibri" panose="020F0502020204030204" pitchFamily="34" charset="0"/>
                <a:cs typeface="Times New Roman" panose="02020603050405020304" pitchFamily="18" charset="0"/>
              </a:rPr>
              <a:t>3C </a:t>
            </a:r>
            <a:r>
              <a:rPr lang="en-US" sz="1500" dirty="0">
                <a:latin typeface="Calibri" panose="020F0502020204030204" pitchFamily="34" charset="0"/>
                <a:cs typeface="Times New Roman" panose="02020603050405020304" pitchFamily="18" charset="0"/>
              </a:rPr>
              <a:t>– Past Performance</a:t>
            </a:r>
          </a:p>
          <a:p>
            <a:pPr marL="0" indent="0">
              <a:buNone/>
            </a:pPr>
            <a:endParaRPr lang="en-US"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36</a:t>
            </a:fld>
            <a:endParaRPr lang="en-US" dirty="0"/>
          </a:p>
        </p:txBody>
      </p:sp>
      <p:sp>
        <p:nvSpPr>
          <p:cNvPr id="5"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M: Evaluation Factors for Award</a:t>
            </a:r>
            <a:endParaRPr lang="en-US" sz="2400" b="0" dirty="0">
              <a:solidFill>
                <a:schemeClr val="accent1"/>
              </a:solidFill>
              <a:latin typeface="+mn-lt"/>
            </a:endParaRPr>
          </a:p>
        </p:txBody>
      </p:sp>
    </p:spTree>
    <p:extLst>
      <p:ext uri="{BB962C8B-B14F-4D97-AF65-F5344CB8AC3E}">
        <p14:creationId xmlns:p14="http://schemas.microsoft.com/office/powerpoint/2010/main" val="4264657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534400" cy="4572000"/>
          </a:xfrm>
        </p:spPr>
        <p:txBody>
          <a:bodyPr>
            <a:normAutofit/>
          </a:bodyPr>
          <a:lstStyle/>
          <a:p>
            <a:pPr marL="0" indent="0">
              <a:buNone/>
            </a:pPr>
            <a:r>
              <a:rPr lang="en-US" sz="2000" b="1" dirty="0" smtClean="0">
                <a:latin typeface="Calibri" panose="020F0502020204030204" pitchFamily="34" charset="0"/>
                <a:cs typeface="Times New Roman" panose="02020603050405020304" pitchFamily="18" charset="0"/>
              </a:rPr>
              <a:t>Price </a:t>
            </a:r>
            <a:r>
              <a:rPr lang="en-US" sz="2000" b="1" dirty="0">
                <a:latin typeface="Calibri" panose="020F0502020204030204" pitchFamily="34" charset="0"/>
                <a:cs typeface="Times New Roman" panose="02020603050405020304" pitchFamily="18" charset="0"/>
              </a:rPr>
              <a:t>Evaluation </a:t>
            </a:r>
            <a:r>
              <a:rPr lang="en-US" sz="2000" b="1" dirty="0" smtClean="0">
                <a:latin typeface="Calibri" panose="020F0502020204030204" pitchFamily="34" charset="0"/>
                <a:cs typeface="Times New Roman" panose="02020603050405020304" pitchFamily="18" charset="0"/>
              </a:rPr>
              <a:t>Factor:</a:t>
            </a:r>
            <a:endParaRPr lang="en-US" sz="2000" b="1" dirty="0">
              <a:latin typeface="Calibri" panose="020F0502020204030204" pitchFamily="34" charset="0"/>
              <a:cs typeface="Times New Roman" panose="02020603050405020304" pitchFamily="18" charset="0"/>
            </a:endParaRPr>
          </a:p>
          <a:p>
            <a:pPr marL="0" lvl="0" indent="0">
              <a:buNone/>
            </a:pPr>
            <a:endParaRPr lang="en-US" sz="1300" b="1" dirty="0">
              <a:latin typeface="Times New Roman" panose="02020603050405020304" pitchFamily="18" charset="0"/>
              <a:cs typeface="Times New Roman" panose="02020603050405020304" pitchFamily="18" charset="0"/>
            </a:endParaRPr>
          </a:p>
          <a:p>
            <a:pPr marL="0" lvl="0" indent="0">
              <a:buNone/>
            </a:pPr>
            <a:r>
              <a:rPr lang="en-US" sz="1600" b="1" dirty="0" smtClean="0">
                <a:latin typeface="Calibri" panose="020F0502020204030204" pitchFamily="34" charset="0"/>
                <a:cs typeface="Times New Roman" panose="02020603050405020304" pitchFamily="18" charset="0"/>
              </a:rPr>
              <a:t>Factor </a:t>
            </a:r>
            <a:r>
              <a:rPr lang="en-US" sz="1600" b="1" dirty="0">
                <a:latin typeface="Calibri" panose="020F0502020204030204" pitchFamily="34" charset="0"/>
                <a:cs typeface="Times New Roman" panose="02020603050405020304" pitchFamily="18" charset="0"/>
              </a:rPr>
              <a:t>4 – </a:t>
            </a:r>
            <a:r>
              <a:rPr lang="en-US" sz="1600" b="1" dirty="0" smtClean="0">
                <a:latin typeface="Calibri" panose="020F0502020204030204" pitchFamily="34" charset="0"/>
                <a:cs typeface="Times New Roman" panose="02020603050405020304" pitchFamily="18" charset="0"/>
              </a:rPr>
              <a:t>Price</a:t>
            </a:r>
          </a:p>
          <a:p>
            <a:pPr marL="0" lvl="0" indent="0">
              <a:buNone/>
            </a:pPr>
            <a:endParaRPr lang="en-US" sz="1300" i="1" dirty="0">
              <a:latin typeface="Calibri" panose="020F0502020204030204" pitchFamily="34" charset="0"/>
              <a:cs typeface="Times New Roman" panose="02020603050405020304" pitchFamily="18" charset="0"/>
            </a:endParaRPr>
          </a:p>
          <a:p>
            <a:pPr marL="0" lvl="0" indent="0">
              <a:buNone/>
            </a:pPr>
            <a:endParaRPr lang="en-US" sz="1300" u="sng" dirty="0">
              <a:latin typeface="Calibri" panose="020F0502020204030204" pitchFamily="34" charset="0"/>
              <a:cs typeface="Times New Roman" panose="02020603050405020304" pitchFamily="18" charset="0"/>
            </a:endParaRPr>
          </a:p>
          <a:p>
            <a:pPr lvl="0">
              <a:buFont typeface="Arial" panose="020B0604020202020204" pitchFamily="34" charset="0"/>
              <a:buChar char="•"/>
            </a:pPr>
            <a:r>
              <a:rPr lang="en-US" sz="1600" dirty="0">
                <a:latin typeface="Calibri" panose="020F0502020204030204" pitchFamily="34" charset="0"/>
                <a:cs typeface="Times New Roman" panose="02020603050405020304" pitchFamily="18" charset="0"/>
              </a:rPr>
              <a:t>Price comparison will be conducted based on the firm fixed price (FFP) for </a:t>
            </a:r>
            <a:r>
              <a:rPr lang="en-US" sz="1600" dirty="0" smtClean="0">
                <a:latin typeface="Calibri" panose="020F0502020204030204" pitchFamily="34" charset="0"/>
                <a:cs typeface="Times New Roman" panose="02020603050405020304" pitchFamily="18" charset="0"/>
              </a:rPr>
              <a:t>overall project management for the entire lifecycle of the contract and the FFP for the </a:t>
            </a:r>
            <a:r>
              <a:rPr lang="en-US" sz="1600" dirty="0">
                <a:latin typeface="Calibri" panose="020F0502020204030204" pitchFamily="34" charset="0"/>
                <a:cs typeface="Times New Roman" panose="02020603050405020304" pitchFamily="18" charset="0"/>
              </a:rPr>
              <a:t>DMA </a:t>
            </a:r>
            <a:r>
              <a:rPr lang="en-US" sz="1600" dirty="0" smtClean="0">
                <a:latin typeface="Calibri" panose="020F0502020204030204" pitchFamily="34" charset="0"/>
                <a:cs typeface="Times New Roman" panose="02020603050405020304" pitchFamily="18" charset="0"/>
              </a:rPr>
              <a:t>Exercise.</a:t>
            </a:r>
            <a:endParaRPr lang="en-US" sz="1600" dirty="0">
              <a:solidFill>
                <a:srgbClr val="FF0000"/>
              </a:solidFill>
              <a:latin typeface="Calibri" panose="020F0502020204030204" pitchFamily="34" charset="0"/>
              <a:cs typeface="Times New Roman" panose="02020603050405020304" pitchFamily="18" charset="0"/>
            </a:endParaRPr>
          </a:p>
          <a:p>
            <a:pPr marL="0" lvl="0" indent="0">
              <a:buNone/>
            </a:pPr>
            <a:endParaRPr lang="en-US" sz="1200" dirty="0">
              <a:latin typeface="Calibri" panose="020F0502020204030204" pitchFamily="34" charset="0"/>
              <a:cs typeface="Times New Roman" panose="02020603050405020304" pitchFamily="18" charset="0"/>
            </a:endParaRPr>
          </a:p>
          <a:p>
            <a:pPr lvl="0">
              <a:buFont typeface="Arial" panose="020B0604020202020204" pitchFamily="34" charset="0"/>
              <a:buChar char="•"/>
            </a:pPr>
            <a:r>
              <a:rPr lang="en-US" sz="1600" dirty="0">
                <a:latin typeface="Calibri" panose="020F0502020204030204" pitchFamily="34" charset="0"/>
                <a:cs typeface="Times New Roman" panose="02020603050405020304" pitchFamily="18" charset="0"/>
              </a:rPr>
              <a:t>Other price information required (fees, other cost provisions* and labor rates) will be used to assess </a:t>
            </a:r>
            <a:r>
              <a:rPr lang="en-US" sz="1600" dirty="0" smtClean="0">
                <a:latin typeface="Calibri" panose="020F0502020204030204" pitchFamily="34" charset="0"/>
                <a:cs typeface="Times New Roman" panose="02020603050405020304" pitchFamily="18" charset="0"/>
              </a:rPr>
              <a:t>accuracy and completeness</a:t>
            </a:r>
            <a:r>
              <a:rPr lang="en-US" sz="1600" dirty="0">
                <a:latin typeface="Calibri" panose="020F0502020204030204" pitchFamily="34" charset="0"/>
                <a:cs typeface="Times New Roman" panose="02020603050405020304" pitchFamily="18" charset="0"/>
              </a:rPr>
              <a:t>, realism, reasonableness, and risk.</a:t>
            </a:r>
          </a:p>
          <a:p>
            <a:pPr marL="0" lvl="0" indent="0">
              <a:buNone/>
            </a:pPr>
            <a:endParaRPr lang="en-US" sz="1200" dirty="0">
              <a:latin typeface="Calibri" panose="020F0502020204030204" pitchFamily="34" charset="0"/>
              <a:cs typeface="Times New Roman" panose="02020603050405020304" pitchFamily="18" charset="0"/>
            </a:endParaRPr>
          </a:p>
          <a:p>
            <a:pPr marL="0" lvl="0" indent="0">
              <a:buNone/>
            </a:pPr>
            <a:r>
              <a:rPr lang="en-US" sz="1600" dirty="0">
                <a:latin typeface="Calibri" panose="020F0502020204030204" pitchFamily="34" charset="0"/>
                <a:cs typeface="Times New Roman" panose="02020603050405020304" pitchFamily="18" charset="0"/>
              </a:rPr>
              <a:t>*  Includes subcontracting fees, fringe benefits, G&amp;A, overhead, and profit</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37</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Section M: Evaluation Factors for Award (Continued)</a:t>
            </a:r>
            <a:endParaRPr lang="en-US" sz="2400" b="0" dirty="0">
              <a:solidFill>
                <a:schemeClr val="accent1"/>
              </a:solidFill>
              <a:latin typeface="+mn-lt"/>
            </a:endParaRPr>
          </a:p>
        </p:txBody>
      </p:sp>
    </p:spTree>
    <p:extLst>
      <p:ext uri="{BB962C8B-B14F-4D97-AF65-F5344CB8AC3E}">
        <p14:creationId xmlns:p14="http://schemas.microsoft.com/office/powerpoint/2010/main" val="2064231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208524476"/>
              </p:ext>
            </p:extLst>
          </p:nvPr>
        </p:nvGraphicFramePr>
        <p:xfrm>
          <a:off x="457200" y="1295400"/>
          <a:ext cx="8458200" cy="4867392"/>
        </p:xfrm>
        <a:graphic>
          <a:graphicData uri="http://schemas.openxmlformats.org/drawingml/2006/table">
            <a:tbl>
              <a:tblPr firstRow="1" firstCol="1" bandRow="1">
                <a:tableStyleId>{5C22544A-7EE6-4342-B048-85BDC9FD1C3A}</a:tableStyleId>
              </a:tblPr>
              <a:tblGrid>
                <a:gridCol w="2473714"/>
                <a:gridCol w="5984486"/>
              </a:tblGrid>
              <a:tr h="457200">
                <a:tc>
                  <a:txBody>
                    <a:bodyPr/>
                    <a:lstStyle/>
                    <a:p>
                      <a:pPr marL="0" marR="0" algn="ctr">
                        <a:lnSpc>
                          <a:spcPct val="115000"/>
                        </a:lnSpc>
                        <a:spcBef>
                          <a:spcPts val="0"/>
                        </a:spcBef>
                        <a:spcAft>
                          <a:spcPts val="0"/>
                        </a:spcAft>
                      </a:pPr>
                      <a:endParaRPr lang="en-US" sz="1400" dirty="0" smtClean="0">
                        <a:effectLst/>
                        <a:latin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US" sz="1400" dirty="0" smtClean="0">
                          <a:effectLst/>
                          <a:latin typeface="Calibri" panose="020F0502020204030204" pitchFamily="34" charset="0"/>
                          <a:cs typeface="Times New Roman" panose="02020603050405020304" pitchFamily="18" charset="0"/>
                        </a:rPr>
                        <a:t>Date(s)*</a:t>
                      </a:r>
                      <a:endParaRPr lang="en-US" sz="14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dirty="0">
                          <a:effectLst/>
                          <a:latin typeface="Calibri" panose="020F0502020204030204" pitchFamily="34" charset="0"/>
                          <a:cs typeface="Times New Roman" panose="02020603050405020304" pitchFamily="18" charset="0"/>
                        </a:rPr>
                        <a:t> </a:t>
                      </a:r>
                      <a:endParaRPr lang="en-US" sz="1400" dirty="0" smtClean="0">
                        <a:effectLst/>
                        <a:latin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US" sz="1400" dirty="0" smtClean="0">
                          <a:effectLst/>
                          <a:latin typeface="Calibri" panose="020F0502020204030204" pitchFamily="34" charset="0"/>
                          <a:cs typeface="Times New Roman" panose="02020603050405020304" pitchFamily="18" charset="0"/>
                        </a:rPr>
                        <a:t>Activity</a:t>
                      </a:r>
                      <a:endParaRPr lang="en-US" sz="14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December </a:t>
                      </a:r>
                      <a:r>
                        <a:rPr lang="en-US" sz="1200" dirty="0">
                          <a:effectLst/>
                          <a:latin typeface="Calibri" panose="020F0502020204030204" pitchFamily="34" charset="0"/>
                          <a:cs typeface="Times New Roman" panose="02020603050405020304" pitchFamily="18" charset="0"/>
                        </a:rPr>
                        <a:t>28, 2015</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Vendors </a:t>
                      </a:r>
                      <a:r>
                        <a:rPr lang="en-US" sz="1200" dirty="0">
                          <a:effectLst/>
                          <a:latin typeface="Calibri" panose="020F0502020204030204" pitchFamily="34" charset="0"/>
                          <a:cs typeface="Times New Roman" panose="02020603050405020304" pitchFamily="18" charset="0"/>
                        </a:rPr>
                        <a:t>submit questions to the Census Bureau on the draft RFP</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January </a:t>
                      </a:r>
                      <a:r>
                        <a:rPr lang="en-US" sz="1200" dirty="0">
                          <a:effectLst/>
                          <a:latin typeface="Calibri" panose="020F0502020204030204" pitchFamily="34" charset="0"/>
                          <a:cs typeface="Times New Roman" panose="02020603050405020304" pitchFamily="18" charset="0"/>
                        </a:rPr>
                        <a:t>8, 2016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Census </a:t>
                      </a:r>
                      <a:r>
                        <a:rPr lang="en-US" sz="1200" dirty="0">
                          <a:effectLst/>
                          <a:latin typeface="Calibri" panose="020F0502020204030204" pitchFamily="34" charset="0"/>
                          <a:cs typeface="Times New Roman" panose="02020603050405020304" pitchFamily="18" charset="0"/>
                        </a:rPr>
                        <a:t>Bureau issues written responses to questions on the draft RFP</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January 19,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Census Bureau issues final RFP</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January </a:t>
                      </a:r>
                      <a:r>
                        <a:rPr lang="en-US" sz="1200" dirty="0">
                          <a:effectLst/>
                          <a:latin typeface="Calibri" panose="020F0502020204030204" pitchFamily="34" charset="0"/>
                          <a:cs typeface="Times New Roman" panose="02020603050405020304" pitchFamily="18" charset="0"/>
                        </a:rPr>
                        <a:t>22, 2016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Vendors </a:t>
                      </a:r>
                      <a:r>
                        <a:rPr lang="en-US" sz="1200" dirty="0">
                          <a:effectLst/>
                          <a:latin typeface="Calibri" panose="020F0502020204030204" pitchFamily="34" charset="0"/>
                          <a:cs typeface="Times New Roman" panose="02020603050405020304" pitchFamily="18" charset="0"/>
                        </a:rPr>
                        <a:t>submit questions to the Census Bureau on the final RFP</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January </a:t>
                      </a:r>
                      <a:r>
                        <a:rPr lang="en-US" sz="1200" dirty="0">
                          <a:effectLst/>
                          <a:latin typeface="Calibri" panose="020F0502020204030204" pitchFamily="34" charset="0"/>
                          <a:cs typeface="Times New Roman" panose="02020603050405020304" pitchFamily="18" charset="0"/>
                        </a:rPr>
                        <a:t>27, 2016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Census </a:t>
                      </a:r>
                      <a:r>
                        <a:rPr lang="en-US" sz="1200" dirty="0">
                          <a:effectLst/>
                          <a:latin typeface="Calibri" panose="020F0502020204030204" pitchFamily="34" charset="0"/>
                          <a:cs typeface="Times New Roman" panose="02020603050405020304" pitchFamily="18" charset="0"/>
                        </a:rPr>
                        <a:t>Bureau issues written responses to questions on the final RFP</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493917">
                <a:tc>
                  <a:txBody>
                    <a:bodyPr/>
                    <a:lstStyle/>
                    <a:p>
                      <a:pPr marL="0" marR="0">
                        <a:lnSpc>
                          <a:spcPct val="115000"/>
                        </a:lnSpc>
                        <a:spcBef>
                          <a:spcPts val="0"/>
                        </a:spcBef>
                        <a:spcAft>
                          <a:spcPts val="0"/>
                        </a:spcAft>
                      </a:pPr>
                      <a:endParaRPr lang="en-US" sz="1200" dirty="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February </a:t>
                      </a:r>
                      <a:r>
                        <a:rPr lang="en-US" sz="1200" dirty="0">
                          <a:effectLst/>
                          <a:latin typeface="Calibri" panose="020F0502020204030204" pitchFamily="34" charset="0"/>
                          <a:cs typeface="Times New Roman" panose="02020603050405020304" pitchFamily="18" charset="0"/>
                        </a:rPr>
                        <a:t>18, 2016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Offerors </a:t>
                      </a:r>
                      <a:r>
                        <a:rPr lang="en-US" sz="1200" dirty="0">
                          <a:effectLst/>
                          <a:latin typeface="Calibri" panose="020F0502020204030204" pitchFamily="34" charset="0"/>
                          <a:cs typeface="Times New Roman" panose="02020603050405020304" pitchFamily="18" charset="0"/>
                        </a:rPr>
                        <a:t>submit written proposals to the Census </a:t>
                      </a:r>
                      <a:r>
                        <a:rPr lang="en-US" sz="1200" dirty="0" smtClean="0">
                          <a:effectLst/>
                          <a:latin typeface="Calibri" panose="020F0502020204030204" pitchFamily="34" charset="0"/>
                          <a:cs typeface="Times New Roman" panose="02020603050405020304" pitchFamily="18" charset="0"/>
                        </a:rPr>
                        <a:t>Bureau</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493917">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 </a:t>
                      </a:r>
                    </a:p>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March 25,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Census </a:t>
                      </a:r>
                      <a:r>
                        <a:rPr lang="en-US" sz="1200" dirty="0">
                          <a:effectLst/>
                          <a:latin typeface="Calibri" panose="020F0502020204030204" pitchFamily="34" charset="0"/>
                          <a:cs typeface="Times New Roman" panose="02020603050405020304" pitchFamily="18" charset="0"/>
                        </a:rPr>
                        <a:t>Bureau announces competitive range </a:t>
                      </a:r>
                      <a:r>
                        <a:rPr lang="en-US" sz="1200" dirty="0" smtClean="0">
                          <a:effectLst/>
                          <a:latin typeface="Calibri" panose="020F0502020204030204" pitchFamily="34" charset="0"/>
                          <a:cs typeface="Times New Roman" panose="02020603050405020304" pitchFamily="18" charset="0"/>
                        </a:rPr>
                        <a:t>determination</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493917">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 </a:t>
                      </a:r>
                    </a:p>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April 11 to May 5,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Census </a:t>
                      </a:r>
                      <a:r>
                        <a:rPr lang="en-US" sz="1200" dirty="0">
                          <a:effectLst/>
                          <a:latin typeface="Calibri" panose="020F0502020204030204" pitchFamily="34" charset="0"/>
                          <a:cs typeface="Times New Roman" panose="02020603050405020304" pitchFamily="18" charset="0"/>
                        </a:rPr>
                        <a:t>Bureau conducts oral presentations and </a:t>
                      </a:r>
                      <a:r>
                        <a:rPr lang="en-US" sz="1200" dirty="0" smtClean="0">
                          <a:effectLst/>
                          <a:latin typeface="Calibri" panose="020F0502020204030204" pitchFamily="34" charset="0"/>
                          <a:cs typeface="Times New Roman" panose="02020603050405020304" pitchFamily="18" charset="0"/>
                        </a:rPr>
                        <a:t>discussions</a:t>
                      </a:r>
                      <a:r>
                        <a:rPr lang="en-US" sz="1200" baseline="0" dirty="0" smtClean="0">
                          <a:effectLst/>
                          <a:latin typeface="Calibri" panose="020F0502020204030204" pitchFamily="34" charset="0"/>
                          <a:cs typeface="Times New Roman" panose="02020603050405020304" pitchFamily="18" charset="0"/>
                        </a:rPr>
                        <a:t> with vendors in the competitive range</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May 20,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Offerors submit final proposal revisions to the Census Bureau</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239500">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May 23 to July 15,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Census Bureau conducts final evaluation and consensus</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r h="493917">
                <a:tc>
                  <a:txBody>
                    <a:bodyPr/>
                    <a:lstStyle/>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 </a:t>
                      </a:r>
                    </a:p>
                    <a:p>
                      <a:pPr marL="0" marR="0">
                        <a:lnSpc>
                          <a:spcPct val="115000"/>
                        </a:lnSpc>
                        <a:spcBef>
                          <a:spcPts val="0"/>
                        </a:spcBef>
                        <a:spcAft>
                          <a:spcPts val="0"/>
                        </a:spcAft>
                      </a:pPr>
                      <a:r>
                        <a:rPr lang="en-US" sz="1200" dirty="0">
                          <a:effectLst/>
                          <a:latin typeface="Calibri" panose="020F0502020204030204" pitchFamily="34" charset="0"/>
                          <a:cs typeface="Times New Roman" panose="02020603050405020304" pitchFamily="18" charset="0"/>
                        </a:rPr>
                        <a:t>August 17, 2016</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200" dirty="0" smtClean="0">
                        <a:effectLst/>
                        <a:latin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200" dirty="0" smtClean="0">
                          <a:effectLst/>
                          <a:latin typeface="Calibri" panose="020F0502020204030204" pitchFamily="34" charset="0"/>
                          <a:cs typeface="Times New Roman" panose="02020603050405020304" pitchFamily="18" charset="0"/>
                        </a:rPr>
                        <a:t>Census </a:t>
                      </a:r>
                      <a:r>
                        <a:rPr lang="en-US" sz="1200" dirty="0">
                          <a:effectLst/>
                          <a:latin typeface="Calibri" panose="020F0502020204030204" pitchFamily="34" charset="0"/>
                          <a:cs typeface="Times New Roman" panose="02020603050405020304" pitchFamily="18" charset="0"/>
                        </a:rPr>
                        <a:t>Bureau makes source selection (award) </a:t>
                      </a:r>
                      <a:r>
                        <a:rPr lang="en-US" sz="1200" dirty="0" smtClean="0">
                          <a:effectLst/>
                          <a:latin typeface="Calibri" panose="020F0502020204030204" pitchFamily="34" charset="0"/>
                          <a:cs typeface="Times New Roman" panose="02020603050405020304" pitchFamily="18" charset="0"/>
                        </a:rPr>
                        <a:t>announcement</a:t>
                      </a:r>
                      <a:endParaRPr lang="en-US" sz="1200" dirty="0">
                        <a:effectLst/>
                        <a:latin typeface="Calibri" panose="020F0502020204030204" pitchFamily="34" charset="0"/>
                        <a:ea typeface="Calibri"/>
                        <a:cs typeface="Times New Roman" panose="02020603050405020304" pitchFamily="18" charset="0"/>
                      </a:endParaRPr>
                    </a:p>
                  </a:txBody>
                  <a:tcPr marL="68580" marR="68580" marT="0" marB="0"/>
                </a:tc>
              </a:tr>
            </a:tbl>
          </a:graphicData>
        </a:graphic>
      </p:graphicFrame>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38</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Request for Proposal (RFP)</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Tentative Milestone Schedule</a:t>
            </a:r>
            <a:endParaRPr lang="en-US" sz="2400" b="0" dirty="0">
              <a:solidFill>
                <a:schemeClr val="accent1"/>
              </a:solidFill>
              <a:latin typeface="+mn-lt"/>
            </a:endParaRPr>
          </a:p>
        </p:txBody>
      </p:sp>
      <p:sp>
        <p:nvSpPr>
          <p:cNvPr id="2" name="TextBox 1"/>
          <p:cNvSpPr txBox="1"/>
          <p:nvPr/>
        </p:nvSpPr>
        <p:spPr>
          <a:xfrm>
            <a:off x="4267200" y="6123801"/>
            <a:ext cx="3124200" cy="276999"/>
          </a:xfrm>
          <a:prstGeom prst="rect">
            <a:avLst/>
          </a:prstGeom>
          <a:noFill/>
        </p:spPr>
        <p:txBody>
          <a:bodyPr wrap="square" rtlCol="0">
            <a:spAutoFit/>
          </a:bodyPr>
          <a:lstStyle/>
          <a:p>
            <a:r>
              <a:rPr lang="en-US" sz="1200" i="1" dirty="0" smtClean="0"/>
              <a:t>*Dates are subject to change</a:t>
            </a:r>
            <a:endParaRPr lang="en-US" sz="1200" i="1" dirty="0"/>
          </a:p>
        </p:txBody>
      </p:sp>
    </p:spTree>
    <p:extLst>
      <p:ext uri="{BB962C8B-B14F-4D97-AF65-F5344CB8AC3E}">
        <p14:creationId xmlns:p14="http://schemas.microsoft.com/office/powerpoint/2010/main" val="1174969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143000"/>
            <a:ext cx="8763000" cy="1371600"/>
          </a:xfrm>
        </p:spPr>
        <p:txBody>
          <a:bodyPr>
            <a:normAutofit fontScale="90000"/>
          </a:bodyPr>
          <a:lstStyle/>
          <a:p>
            <a:r>
              <a:rPr lang="en-US" altLang="en-US" dirty="0">
                <a:solidFill>
                  <a:srgbClr val="FFFF99"/>
                </a:solidFill>
              </a:rPr>
              <a:t/>
            </a:r>
            <a:br>
              <a:rPr lang="en-US" altLang="en-US" dirty="0">
                <a:solidFill>
                  <a:srgbClr val="FFFF99"/>
                </a:solidFill>
              </a:rPr>
            </a:br>
            <a:r>
              <a:rPr lang="en-US" altLang="en-US" sz="5300" dirty="0" smtClean="0">
                <a:latin typeface="Calibri" panose="020F0502020204030204" pitchFamily="34" charset="0"/>
                <a:cs typeface="Times New Roman" panose="02020603050405020304" pitchFamily="18" charset="0"/>
              </a:rPr>
              <a:t>SMALL </a:t>
            </a:r>
            <a:r>
              <a:rPr lang="en-US" altLang="en-US" sz="5300" dirty="0">
                <a:latin typeface="Calibri" panose="020F0502020204030204" pitchFamily="34" charset="0"/>
                <a:cs typeface="Times New Roman" panose="02020603050405020304" pitchFamily="18" charset="0"/>
              </a:rPr>
              <a:t>BUSINESS </a:t>
            </a:r>
            <a:r>
              <a:rPr lang="en-US" altLang="en-US" sz="5300" dirty="0" smtClean="0">
                <a:latin typeface="Calibri" panose="020F0502020204030204" pitchFamily="34" charset="0"/>
                <a:cs typeface="Times New Roman" panose="02020603050405020304" pitchFamily="18" charset="0"/>
              </a:rPr>
              <a:t>PARTICIPATION</a:t>
            </a:r>
            <a:r>
              <a:rPr lang="en-US" altLang="en-US" dirty="0"/>
              <a:t/>
            </a:r>
            <a:br>
              <a:rPr lang="en-US" altLang="en-US" dirty="0"/>
            </a:br>
            <a:endParaRPr lang="en-US" dirty="0"/>
          </a:p>
        </p:txBody>
      </p:sp>
      <p:sp>
        <p:nvSpPr>
          <p:cNvPr id="3" name="Subtitle 2"/>
          <p:cNvSpPr>
            <a:spLocks noGrp="1"/>
          </p:cNvSpPr>
          <p:nvPr>
            <p:ph type="subTitle" idx="1"/>
          </p:nvPr>
        </p:nvSpPr>
        <p:spPr>
          <a:xfrm>
            <a:off x="1371600" y="4114800"/>
            <a:ext cx="6400800" cy="1752600"/>
          </a:xfrm>
        </p:spPr>
        <p:txBody>
          <a:bodyPr/>
          <a:lstStyle/>
          <a:p>
            <a:r>
              <a:rPr lang="en-US" altLang="en-US" sz="2800" dirty="0" smtClean="0">
                <a:solidFill>
                  <a:schemeClr val="tx1"/>
                </a:solidFill>
                <a:cs typeface="Times New Roman" panose="02020603050405020304" pitchFamily="18" charset="0"/>
              </a:rPr>
              <a:t>Dijon Ferdinand, Acquisition Division</a:t>
            </a:r>
            <a:endParaRPr lang="en-US" altLang="en-US" sz="2800" dirty="0">
              <a:solidFill>
                <a:schemeClr val="tx1"/>
              </a:solidFill>
              <a:cs typeface="Times New Roman" panose="02020603050405020304" pitchFamily="18" charset="0"/>
            </a:endParaRPr>
          </a:p>
          <a:p>
            <a:r>
              <a:rPr lang="en-US" altLang="en-US" sz="2400" i="1" dirty="0">
                <a:solidFill>
                  <a:schemeClr val="tx1"/>
                </a:solidFill>
                <a:cs typeface="Times New Roman" panose="02020603050405020304" pitchFamily="18" charset="0"/>
              </a:rPr>
              <a:t>Small Business Representative for</a:t>
            </a:r>
          </a:p>
          <a:p>
            <a:r>
              <a:rPr lang="en-US" altLang="en-US" sz="2400" i="1" dirty="0" smtClean="0">
                <a:solidFill>
                  <a:schemeClr val="tx1"/>
                </a:solidFill>
                <a:cs typeface="Times New Roman" panose="02020603050405020304" pitchFamily="18" charset="0"/>
              </a:rPr>
              <a:t>U.S. </a:t>
            </a:r>
            <a:r>
              <a:rPr lang="en-US" altLang="en-US" sz="2400" i="1" dirty="0">
                <a:solidFill>
                  <a:schemeClr val="tx1"/>
                </a:solidFill>
                <a:cs typeface="Times New Roman" panose="02020603050405020304" pitchFamily="18" charset="0"/>
              </a:rPr>
              <a:t>Census Bureau</a:t>
            </a:r>
          </a:p>
          <a:p>
            <a:endParaRPr lang="en-US" dirty="0"/>
          </a:p>
        </p:txBody>
      </p:sp>
    </p:spTree>
    <p:extLst>
      <p:ext uri="{BB962C8B-B14F-4D97-AF65-F5344CB8AC3E}">
        <p14:creationId xmlns:p14="http://schemas.microsoft.com/office/powerpoint/2010/main" val="86166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pPr>
              <a:buFont typeface="Arial" panose="020B0604020202020204" pitchFamily="34" charset="0"/>
              <a:buChar char="•"/>
            </a:pPr>
            <a:r>
              <a:rPr lang="en-US" sz="1800" dirty="0" smtClean="0">
                <a:latin typeface="Calibri" panose="020F0502020204030204" pitchFamily="34" charset="0"/>
                <a:cs typeface="Times New Roman" panose="02020603050405020304" pitchFamily="18" charset="0"/>
              </a:rPr>
              <a:t>Request for Information (RFI) </a:t>
            </a:r>
            <a:r>
              <a:rPr lang="en-US" sz="1800" dirty="0">
                <a:latin typeface="Calibri" panose="020F0502020204030204" pitchFamily="34" charset="0"/>
                <a:cs typeface="Times New Roman" panose="02020603050405020304" pitchFamily="18" charset="0"/>
              </a:rPr>
              <a:t>r</a:t>
            </a:r>
            <a:r>
              <a:rPr lang="en-US" sz="1800" dirty="0" smtClean="0">
                <a:latin typeface="Calibri" panose="020F0502020204030204" pitchFamily="34" charset="0"/>
                <a:cs typeface="Times New Roman" panose="02020603050405020304" pitchFamily="18" charset="0"/>
              </a:rPr>
              <a:t>eleased </a:t>
            </a:r>
            <a:r>
              <a:rPr lang="en-US" sz="1800" dirty="0">
                <a:latin typeface="Calibri" panose="020F0502020204030204" pitchFamily="34" charset="0"/>
                <a:cs typeface="Times New Roman" panose="02020603050405020304" pitchFamily="18" charset="0"/>
              </a:rPr>
              <a:t>on </a:t>
            </a:r>
            <a:r>
              <a:rPr lang="en-US" sz="1800" dirty="0" smtClean="0">
                <a:latin typeface="Calibri" panose="020F0502020204030204" pitchFamily="34" charset="0"/>
                <a:cs typeface="Times New Roman" panose="02020603050405020304" pitchFamily="18" charset="0"/>
              </a:rPr>
              <a:t>FedBizOpps</a:t>
            </a:r>
            <a:r>
              <a:rPr lang="en-US" sz="1800" dirty="0">
                <a:latin typeface="Calibri" panose="020F0502020204030204" pitchFamily="34" charset="0"/>
                <a:cs typeface="Times New Roman" panose="02020603050405020304" pitchFamily="18" charset="0"/>
              </a:rPr>
              <a:t> </a:t>
            </a:r>
            <a:r>
              <a:rPr lang="en-US" sz="1800" dirty="0" smtClean="0">
                <a:latin typeface="Calibri" panose="020F0502020204030204" pitchFamily="34" charset="0"/>
                <a:cs typeface="Times New Roman" panose="02020603050405020304" pitchFamily="18" charset="0"/>
              </a:rPr>
              <a:t>on October 1, 2014.</a:t>
            </a:r>
            <a:endParaRPr lang="en-US" sz="1800" dirty="0">
              <a:latin typeface="Calibri" panose="020F0502020204030204" pitchFamily="34" charset="0"/>
              <a:cs typeface="Times New Roman" panose="02020603050405020304" pitchFamily="18" charset="0"/>
            </a:endParaRPr>
          </a:p>
          <a:p>
            <a:pPr>
              <a:buFont typeface="Arial" panose="020B0604020202020204" pitchFamily="34" charset="0"/>
              <a:buChar char="•"/>
            </a:pPr>
            <a:endParaRPr lang="en-US" sz="18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dirty="0" smtClean="0">
                <a:latin typeface="Calibri" panose="020F0502020204030204" pitchFamily="34" charset="0"/>
                <a:cs typeface="Times New Roman" panose="02020603050405020304" pitchFamily="18" charset="0"/>
              </a:rPr>
              <a:t>Received </a:t>
            </a:r>
            <a:r>
              <a:rPr lang="en-US" sz="1800" dirty="0">
                <a:latin typeface="Calibri" panose="020F0502020204030204" pitchFamily="34" charset="0"/>
                <a:cs typeface="Times New Roman" panose="02020603050405020304" pitchFamily="18" charset="0"/>
              </a:rPr>
              <a:t>32 responses from small (19) and large (13) </a:t>
            </a:r>
            <a:r>
              <a:rPr lang="en-US" sz="1800" dirty="0" smtClean="0">
                <a:latin typeface="Calibri" panose="020F0502020204030204" pitchFamily="34" charset="0"/>
                <a:cs typeface="Times New Roman" panose="02020603050405020304" pitchFamily="18" charset="0"/>
              </a:rPr>
              <a:t>businesses.</a:t>
            </a:r>
            <a:endParaRPr lang="en-US" sz="1800" dirty="0">
              <a:latin typeface="Calibri" panose="020F0502020204030204" pitchFamily="34" charset="0"/>
              <a:cs typeface="Times New Roman" panose="02020603050405020304" pitchFamily="18" charset="0"/>
            </a:endParaRPr>
          </a:p>
          <a:p>
            <a:pPr>
              <a:buFont typeface="Arial" panose="020B0604020202020204" pitchFamily="34" charset="0"/>
              <a:buChar char="•"/>
            </a:pPr>
            <a:endParaRPr lang="en-US" altLang="en-US" sz="18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800" dirty="0" smtClean="0">
                <a:latin typeface="Calibri" panose="020F0502020204030204" pitchFamily="34" charset="0"/>
                <a:cs typeface="Times New Roman" panose="02020603050405020304" pitchFamily="18" charset="0"/>
              </a:rPr>
              <a:t>Census Bureau held market research meetings </a:t>
            </a:r>
            <a:r>
              <a:rPr lang="en-US" altLang="en-US" sz="1800" dirty="0">
                <a:latin typeface="Calibri" panose="020F0502020204030204" pitchFamily="34" charset="0"/>
                <a:cs typeface="Times New Roman" panose="02020603050405020304" pitchFamily="18" charset="0"/>
              </a:rPr>
              <a:t>with small and large companies </a:t>
            </a:r>
            <a:r>
              <a:rPr lang="en-US" altLang="en-US" sz="1800" dirty="0" smtClean="0">
                <a:latin typeface="Calibri" panose="020F0502020204030204" pitchFamily="34" charset="0"/>
                <a:cs typeface="Times New Roman" panose="02020603050405020304" pitchFamily="18" charset="0"/>
              </a:rPr>
              <a:t>.</a:t>
            </a:r>
            <a:endParaRPr lang="en-US" altLang="en-US" sz="1800" dirty="0">
              <a:latin typeface="Calibri" panose="020F0502020204030204" pitchFamily="34" charset="0"/>
              <a:cs typeface="Times New Roman" panose="02020603050405020304" pitchFamily="18" charset="0"/>
            </a:endParaRPr>
          </a:p>
          <a:p>
            <a:pPr marL="0" indent="0">
              <a:buNone/>
            </a:pPr>
            <a:endParaRPr lang="en-US" altLang="en-US" sz="1200" dirty="0" smtClean="0">
              <a:latin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40</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Small Business Participation</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Market Research</a:t>
            </a:r>
            <a:endParaRPr lang="en-US" sz="2400" b="0" dirty="0">
              <a:solidFill>
                <a:schemeClr val="accent1"/>
              </a:solidFill>
              <a:latin typeface="+mn-lt"/>
            </a:endParaRPr>
          </a:p>
        </p:txBody>
      </p:sp>
    </p:spTree>
    <p:extLst>
      <p:ext uri="{BB962C8B-B14F-4D97-AF65-F5344CB8AC3E}">
        <p14:creationId xmlns:p14="http://schemas.microsoft.com/office/powerpoint/2010/main" val="3131366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525963"/>
          </a:xfrm>
        </p:spPr>
        <p:txBody>
          <a:bodyPr>
            <a:normAutofit fontScale="92500" lnSpcReduction="10000"/>
          </a:bodyPr>
          <a:lstStyle/>
          <a:p>
            <a:pPr marL="0" indent="0">
              <a:buNone/>
            </a:pPr>
            <a:r>
              <a:rPr lang="en-US" altLang="en-US" sz="1600" b="1" dirty="0" smtClean="0">
                <a:latin typeface="Calibri" panose="020F0502020204030204" pitchFamily="34" charset="0"/>
                <a:cs typeface="Times New Roman" panose="02020603050405020304" pitchFamily="18" charset="0"/>
              </a:rPr>
              <a:t>What the Census Bureau has learned from industry:</a:t>
            </a:r>
          </a:p>
          <a:p>
            <a:pPr marL="0" indent="0">
              <a:buNone/>
            </a:pPr>
            <a:endParaRPr lang="en-US" altLang="en-US" sz="1200" dirty="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600" dirty="0" smtClean="0">
                <a:latin typeface="Calibri" panose="020F0502020204030204" pitchFamily="34" charset="0"/>
                <a:cs typeface="Times New Roman" panose="02020603050405020304" pitchFamily="18" charset="0"/>
              </a:rPr>
              <a:t>Sources </a:t>
            </a:r>
            <a:r>
              <a:rPr lang="en-US" altLang="en-US" sz="1600" dirty="0">
                <a:latin typeface="Calibri" panose="020F0502020204030204" pitchFamily="34" charset="0"/>
                <a:cs typeface="Times New Roman" panose="02020603050405020304" pitchFamily="18" charset="0"/>
              </a:rPr>
              <a:t>– There exists adequate and abundant sources in the private sector to satisfy Government </a:t>
            </a:r>
            <a:r>
              <a:rPr lang="en-US" altLang="en-US" sz="1600" dirty="0" smtClean="0">
                <a:latin typeface="Calibri" panose="020F0502020204030204" pitchFamily="34" charset="0"/>
                <a:cs typeface="Times New Roman" panose="02020603050405020304" pitchFamily="18" charset="0"/>
              </a:rPr>
              <a:t>requirements.</a:t>
            </a:r>
          </a:p>
          <a:p>
            <a:pPr>
              <a:buFont typeface="Arial" panose="020B0604020202020204" pitchFamily="34" charset="0"/>
              <a:buChar char="•"/>
            </a:pPr>
            <a:endParaRPr lang="en-US" altLang="en-US" sz="16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600" dirty="0" smtClean="0">
                <a:latin typeface="Calibri" panose="020F0502020204030204" pitchFamily="34" charset="0"/>
                <a:cs typeface="Times New Roman" panose="02020603050405020304" pitchFamily="18" charset="0"/>
              </a:rPr>
              <a:t>Contract </a:t>
            </a:r>
            <a:r>
              <a:rPr lang="en-US" altLang="en-US" sz="1600" dirty="0">
                <a:latin typeface="Calibri" panose="020F0502020204030204" pitchFamily="34" charset="0"/>
                <a:cs typeface="Times New Roman" panose="02020603050405020304" pitchFamily="18" charset="0"/>
              </a:rPr>
              <a:t>Type – Indefinite Delivery Indefinite Quantity (IDIQ) contract is the most favored type of contract, with Firm Fixed Price (FFP) and Time and Materials (T&amp;M) task orders.  Cost reimbursement tasks are not </a:t>
            </a:r>
            <a:r>
              <a:rPr lang="en-US" altLang="en-US" sz="1600" dirty="0" smtClean="0">
                <a:latin typeface="Calibri" panose="020F0502020204030204" pitchFamily="34" charset="0"/>
                <a:cs typeface="Times New Roman" panose="02020603050405020304" pitchFamily="18" charset="0"/>
              </a:rPr>
              <a:t>favored.</a:t>
            </a:r>
          </a:p>
          <a:p>
            <a:pPr>
              <a:buFont typeface="Arial" panose="020B0604020202020204" pitchFamily="34" charset="0"/>
              <a:buChar char="•"/>
            </a:pPr>
            <a:endParaRPr lang="en-US" altLang="en-US" sz="16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600" dirty="0" smtClean="0">
                <a:latin typeface="Calibri" panose="020F0502020204030204" pitchFamily="34" charset="0"/>
                <a:cs typeface="Times New Roman" panose="02020603050405020304" pitchFamily="18" charset="0"/>
              </a:rPr>
              <a:t>Types </a:t>
            </a:r>
            <a:r>
              <a:rPr lang="en-US" altLang="en-US" sz="1600" dirty="0">
                <a:latin typeface="Calibri" panose="020F0502020204030204" pitchFamily="34" charset="0"/>
                <a:cs typeface="Times New Roman" panose="02020603050405020304" pitchFamily="18" charset="0"/>
              </a:rPr>
              <a:t>of Companies – All types of companies are interested in serving as the prime including management </a:t>
            </a:r>
            <a:r>
              <a:rPr lang="en-US" altLang="en-US" sz="1600" dirty="0" smtClean="0">
                <a:latin typeface="Calibri" panose="020F0502020204030204" pitchFamily="34" charset="0"/>
                <a:cs typeface="Times New Roman" panose="02020603050405020304" pitchFamily="18" charset="0"/>
              </a:rPr>
              <a:t>consulting, research </a:t>
            </a:r>
            <a:r>
              <a:rPr lang="en-US" altLang="en-US" sz="1600" dirty="0">
                <a:latin typeface="Calibri" panose="020F0502020204030204" pitchFamily="34" charset="0"/>
                <a:cs typeface="Times New Roman" panose="02020603050405020304" pitchFamily="18" charset="0"/>
              </a:rPr>
              <a:t>and data analytics, public relations, as well as full-service communications companies (not just advertising companies</a:t>
            </a:r>
            <a:r>
              <a:rPr lang="en-US" altLang="en-US" sz="1600" dirty="0" smtClean="0">
                <a:latin typeface="Calibri" panose="020F0502020204030204" pitchFamily="34" charset="0"/>
                <a:cs typeface="Times New Roman" panose="02020603050405020304" pitchFamily="18" charset="0"/>
              </a:rPr>
              <a:t>.)</a:t>
            </a:r>
          </a:p>
          <a:p>
            <a:pPr>
              <a:buFont typeface="Arial" panose="020B0604020202020204" pitchFamily="34" charset="0"/>
              <a:buChar char="•"/>
            </a:pPr>
            <a:endParaRPr lang="en-US" altLang="en-US" sz="16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600" dirty="0" smtClean="0">
                <a:latin typeface="Calibri" panose="020F0502020204030204" pitchFamily="34" charset="0"/>
                <a:cs typeface="Times New Roman" panose="02020603050405020304" pitchFamily="18" charset="0"/>
              </a:rPr>
              <a:t>Incentives </a:t>
            </a:r>
            <a:r>
              <a:rPr lang="en-US" altLang="en-US" sz="1600" dirty="0">
                <a:latin typeface="Calibri" panose="020F0502020204030204" pitchFamily="34" charset="0"/>
                <a:cs typeface="Times New Roman" panose="02020603050405020304" pitchFamily="18" charset="0"/>
              </a:rPr>
              <a:t>– Monetary incentives are not the most important type of incentive that would motivate a </a:t>
            </a:r>
            <a:r>
              <a:rPr lang="en-US" altLang="en-US" sz="1600" dirty="0" smtClean="0">
                <a:latin typeface="Calibri" panose="020F0502020204030204" pitchFamily="34" charset="0"/>
                <a:cs typeface="Times New Roman" panose="02020603050405020304" pitchFamily="18" charset="0"/>
              </a:rPr>
              <a:t>contractor; companies are more interested in good past performance ratings.</a:t>
            </a:r>
          </a:p>
          <a:p>
            <a:pPr>
              <a:buFont typeface="Arial" panose="020B0604020202020204" pitchFamily="34" charset="0"/>
              <a:buChar char="•"/>
            </a:pPr>
            <a:endParaRPr lang="en-US" altLang="en-US" sz="1600" dirty="0" smtClean="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1600" dirty="0" smtClean="0">
                <a:latin typeface="Calibri" panose="020F0502020204030204" pitchFamily="34" charset="0"/>
                <a:cs typeface="Times New Roman" panose="02020603050405020304" pitchFamily="18" charset="0"/>
              </a:rPr>
              <a:t>Small </a:t>
            </a:r>
            <a:r>
              <a:rPr lang="en-US" altLang="en-US" sz="1600" dirty="0">
                <a:latin typeface="Calibri" panose="020F0502020204030204" pitchFamily="34" charset="0"/>
                <a:cs typeface="Times New Roman" panose="02020603050405020304" pitchFamily="18" charset="0"/>
              </a:rPr>
              <a:t>Businesses – Small businesses play an important role in the contract due to the myriad of services they provide.  However, the size, scope and complexity of this contract would put a burden on and financially jeopardize small firms if they acted as the prime.</a:t>
            </a:r>
          </a:p>
          <a:p>
            <a:endParaRPr lang="en-US"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41</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Small Business Participation</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Market Research Continued…</a:t>
            </a:r>
            <a:endParaRPr lang="en-US" sz="2400" b="0" dirty="0">
              <a:solidFill>
                <a:schemeClr val="accent1"/>
              </a:solidFill>
              <a:latin typeface="+mn-lt"/>
            </a:endParaRPr>
          </a:p>
        </p:txBody>
      </p:sp>
    </p:spTree>
    <p:extLst>
      <p:ext uri="{BB962C8B-B14F-4D97-AF65-F5344CB8AC3E}">
        <p14:creationId xmlns:p14="http://schemas.microsoft.com/office/powerpoint/2010/main" val="694100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144963"/>
          </a:xfrm>
        </p:spPr>
        <p:txBody>
          <a:bodyPr>
            <a:noAutofit/>
          </a:bodyPr>
          <a:lstStyle/>
          <a:p>
            <a:pPr marL="0" indent="0">
              <a:buNone/>
            </a:pPr>
            <a:r>
              <a:rPr lang="en-US" sz="1400" dirty="0">
                <a:latin typeface="Calibri" panose="020F0502020204030204" pitchFamily="34" charset="0"/>
                <a:cs typeface="Times New Roman" panose="02020603050405020304" pitchFamily="18" charset="0"/>
              </a:rPr>
              <a:t>It is the Census Bureau’s goal to assist the Department of Commerce in meeting or exceeding the statutory goals for small businesses.  With </a:t>
            </a:r>
            <a:r>
              <a:rPr lang="en-US" sz="1400" dirty="0" smtClean="0">
                <a:latin typeface="Calibri" panose="020F0502020204030204" pitchFamily="34" charset="0"/>
                <a:cs typeface="Times New Roman" panose="02020603050405020304" pitchFamily="18" charset="0"/>
              </a:rPr>
              <a:t>that </a:t>
            </a:r>
            <a:r>
              <a:rPr lang="en-US" sz="1400" dirty="0">
                <a:latin typeface="Calibri" panose="020F0502020204030204" pitchFamily="34" charset="0"/>
                <a:cs typeface="Times New Roman" panose="02020603050405020304" pitchFamily="18" charset="0"/>
              </a:rPr>
              <a:t>said, the Census Bureau is interested in pursuing aggressive small business subcontracting under this </a:t>
            </a:r>
            <a:r>
              <a:rPr lang="en-US" sz="1400" dirty="0" smtClean="0">
                <a:latin typeface="Calibri" panose="020F0502020204030204" pitchFamily="34" charset="0"/>
                <a:cs typeface="Times New Roman" panose="02020603050405020304" pitchFamily="18" charset="0"/>
              </a:rPr>
              <a:t>contract.  The Census Bureau is </a:t>
            </a:r>
            <a:r>
              <a:rPr lang="en-US" sz="1400" dirty="0">
                <a:latin typeface="Calibri" panose="020F0502020204030204" pitchFamily="34" charset="0"/>
                <a:cs typeface="Times New Roman" panose="02020603050405020304" pitchFamily="18" charset="0"/>
              </a:rPr>
              <a:t>encouraging </a:t>
            </a:r>
            <a:r>
              <a:rPr lang="en-US" sz="1400" dirty="0" smtClean="0">
                <a:latin typeface="Calibri" panose="020F0502020204030204" pitchFamily="34" charset="0"/>
                <a:cs typeface="Times New Roman" panose="02020603050405020304" pitchFamily="18" charset="0"/>
              </a:rPr>
              <a:t>contractors </a:t>
            </a:r>
            <a:r>
              <a:rPr lang="en-US" sz="1400" dirty="0">
                <a:latin typeface="Calibri" panose="020F0502020204030204" pitchFamily="34" charset="0"/>
                <a:cs typeface="Times New Roman" panose="02020603050405020304" pitchFamily="18" charset="0"/>
              </a:rPr>
              <a:t>to achieve small business subcontracting goals to the maximum extent possible.  </a:t>
            </a:r>
            <a:r>
              <a:rPr lang="en-US" sz="1400" dirty="0" smtClean="0">
                <a:latin typeface="Calibri" panose="020F0502020204030204" pitchFamily="34" charset="0"/>
                <a:cs typeface="Times New Roman" panose="02020603050405020304" pitchFamily="18" charset="0"/>
              </a:rPr>
              <a:t>In Section C.7, </a:t>
            </a:r>
            <a:r>
              <a:rPr lang="en-US" sz="1400" dirty="0">
                <a:latin typeface="Calibri" panose="020F0502020204030204" pitchFamily="34" charset="0"/>
                <a:cs typeface="Times New Roman" panose="02020603050405020304" pitchFamily="18" charset="0"/>
              </a:rPr>
              <a:t>t</a:t>
            </a:r>
            <a:r>
              <a:rPr lang="en-US" sz="1400" dirty="0" smtClean="0">
                <a:latin typeface="Calibri" panose="020F0502020204030204" pitchFamily="34" charset="0"/>
                <a:cs typeface="Times New Roman" panose="02020603050405020304" pitchFamily="18" charset="0"/>
              </a:rPr>
              <a:t>he </a:t>
            </a:r>
            <a:r>
              <a:rPr lang="en-US" sz="1400" dirty="0">
                <a:latin typeface="Calibri" panose="020F0502020204030204" pitchFamily="34" charset="0"/>
                <a:cs typeface="Times New Roman" panose="02020603050405020304" pitchFamily="18" charset="0"/>
              </a:rPr>
              <a:t>FY 2015 Department of Commerce Operating Unit </a:t>
            </a:r>
            <a:r>
              <a:rPr lang="en-US" sz="1400" dirty="0" smtClean="0">
                <a:latin typeface="Calibri" panose="020F0502020204030204" pitchFamily="34" charset="0"/>
                <a:cs typeface="Times New Roman" panose="02020603050405020304" pitchFamily="18" charset="0"/>
              </a:rPr>
              <a:t>Small </a:t>
            </a:r>
            <a:r>
              <a:rPr lang="en-US" sz="1400" dirty="0">
                <a:latin typeface="Calibri" panose="020F0502020204030204" pitchFamily="34" charset="0"/>
                <a:cs typeface="Times New Roman" panose="02020603050405020304" pitchFamily="18" charset="0"/>
              </a:rPr>
              <a:t>B</a:t>
            </a:r>
            <a:r>
              <a:rPr lang="en-US" sz="1400" dirty="0" smtClean="0">
                <a:latin typeface="Calibri" panose="020F0502020204030204" pitchFamily="34" charset="0"/>
                <a:cs typeface="Times New Roman" panose="02020603050405020304" pitchFamily="18" charset="0"/>
              </a:rPr>
              <a:t>usiness </a:t>
            </a:r>
            <a:r>
              <a:rPr lang="en-US" sz="1400" dirty="0">
                <a:latin typeface="Calibri" panose="020F0502020204030204" pitchFamily="34" charset="0"/>
                <a:cs typeface="Times New Roman" panose="02020603050405020304" pitchFamily="18" charset="0"/>
              </a:rPr>
              <a:t>S</a:t>
            </a:r>
            <a:r>
              <a:rPr lang="en-US" sz="1400" dirty="0" smtClean="0">
                <a:latin typeface="Calibri" panose="020F0502020204030204" pitchFamily="34" charset="0"/>
                <a:cs typeface="Times New Roman" panose="02020603050405020304" pitchFamily="18" charset="0"/>
              </a:rPr>
              <a:t>ubcontracting </a:t>
            </a:r>
            <a:r>
              <a:rPr lang="en-US" sz="1400" dirty="0">
                <a:latin typeface="Calibri" panose="020F0502020204030204" pitchFamily="34" charset="0"/>
                <a:cs typeface="Times New Roman" panose="02020603050405020304" pitchFamily="18" charset="0"/>
              </a:rPr>
              <a:t>G</a:t>
            </a:r>
            <a:r>
              <a:rPr lang="en-US" sz="1400" dirty="0" smtClean="0">
                <a:latin typeface="Calibri" panose="020F0502020204030204" pitchFamily="34" charset="0"/>
                <a:cs typeface="Times New Roman" panose="02020603050405020304" pitchFamily="18" charset="0"/>
              </a:rPr>
              <a:t>oals are provided for </a:t>
            </a:r>
            <a:r>
              <a:rPr lang="en-US" sz="1400" dirty="0">
                <a:latin typeface="Calibri" panose="020F0502020204030204" pitchFamily="34" charset="0"/>
                <a:cs typeface="Times New Roman" panose="02020603050405020304" pitchFamily="18" charset="0"/>
              </a:rPr>
              <a:t>your </a:t>
            </a:r>
            <a:r>
              <a:rPr lang="en-US" sz="1400" dirty="0" smtClean="0">
                <a:latin typeface="Calibri" panose="020F0502020204030204" pitchFamily="34" charset="0"/>
                <a:cs typeface="Times New Roman" panose="02020603050405020304" pitchFamily="18" charset="0"/>
              </a:rPr>
              <a:t>information.</a:t>
            </a:r>
          </a:p>
          <a:p>
            <a:pPr marL="0" indent="0">
              <a:buNone/>
            </a:pPr>
            <a:endParaRPr lang="en-US" sz="1200" dirty="0" smtClean="0">
              <a:latin typeface="Calibri" panose="020F0502020204030204" pitchFamily="34" charset="0"/>
              <a:cs typeface="Times New Roman" panose="02020603050405020304" pitchFamily="18" charset="0"/>
            </a:endParaRPr>
          </a:p>
          <a:p>
            <a:pPr marL="0" indent="0">
              <a:buNone/>
            </a:pPr>
            <a:r>
              <a:rPr lang="en-US" sz="1400" dirty="0" smtClean="0">
                <a:latin typeface="Calibri" panose="020F0502020204030204" pitchFamily="34" charset="0"/>
                <a:cs typeface="Times New Roman" panose="02020603050405020304" pitchFamily="18" charset="0"/>
              </a:rPr>
              <a:t>FY </a:t>
            </a:r>
            <a:r>
              <a:rPr lang="en-US" sz="1400" dirty="0">
                <a:latin typeface="Calibri" panose="020F0502020204030204" pitchFamily="34" charset="0"/>
                <a:cs typeface="Times New Roman" panose="02020603050405020304" pitchFamily="18" charset="0"/>
              </a:rPr>
              <a:t>2015 Department of Commerce Operating Unit Small Business Subcontracting </a:t>
            </a:r>
            <a:r>
              <a:rPr lang="en-US" sz="1400" dirty="0" smtClean="0">
                <a:latin typeface="Calibri" panose="020F0502020204030204" pitchFamily="34" charset="0"/>
                <a:cs typeface="Times New Roman" panose="02020603050405020304" pitchFamily="18" charset="0"/>
              </a:rPr>
              <a:t>Goals:</a:t>
            </a:r>
            <a:endParaRPr lang="en-US" sz="1400" dirty="0">
              <a:latin typeface="Calibri" panose="020F0502020204030204" pitchFamily="34" charset="0"/>
              <a:cs typeface="Times New Roman" panose="02020603050405020304" pitchFamily="18" charset="0"/>
            </a:endParaRPr>
          </a:p>
          <a:p>
            <a:endParaRPr lang="en-US" sz="1600" dirty="0">
              <a:latin typeface="Calibri" panose="020F0502020204030204" pitchFamily="34" charset="0"/>
              <a:cs typeface="Times New Roman" panose="02020603050405020304" pitchFamily="18" charset="0"/>
            </a:endParaRPr>
          </a:p>
          <a:p>
            <a:pPr marL="0" indent="0">
              <a:buNone/>
            </a:pPr>
            <a:endParaRPr lang="en-US" sz="1600" dirty="0">
              <a:latin typeface="Calibri" panose="020F0502020204030204" pitchFamily="34" charset="0"/>
              <a:cs typeface="Times New Roman" panose="02020603050405020304" pitchFamily="18" charset="0"/>
            </a:endParaRPr>
          </a:p>
          <a:p>
            <a:endParaRPr lang="en-US" sz="1600" dirty="0">
              <a:latin typeface="Calibri" panose="020F0502020204030204" pitchFamily="34" charset="0"/>
              <a:cs typeface="Times New Roman" panose="02020603050405020304" pitchFamily="18" charset="0"/>
            </a:endParaRPr>
          </a:p>
          <a:p>
            <a:pPr marL="0" indent="0">
              <a:buNone/>
            </a:pPr>
            <a:endParaRPr lang="en-US" sz="1600" dirty="0">
              <a:latin typeface="Calibri" panose="020F0502020204030204" pitchFamily="34" charset="0"/>
              <a:cs typeface="Times New Roman" panose="02020603050405020304" pitchFamily="18" charset="0"/>
            </a:endParaRPr>
          </a:p>
          <a:p>
            <a:endParaRPr lang="en-US" sz="1600" dirty="0">
              <a:latin typeface="Calibri" panose="020F0502020204030204" pitchFamily="34" charset="0"/>
              <a:cs typeface="Times New Roman" panose="02020603050405020304" pitchFamily="18" charset="0"/>
            </a:endParaRPr>
          </a:p>
          <a:p>
            <a:pPr marL="0" indent="0">
              <a:buNone/>
            </a:pPr>
            <a:endParaRPr lang="en-US" sz="1200" dirty="0" smtClean="0">
              <a:latin typeface="Calibri" panose="020F0502020204030204" pitchFamily="34" charset="0"/>
              <a:cs typeface="Times New Roman" panose="02020603050405020304" pitchFamily="18" charset="0"/>
            </a:endParaRPr>
          </a:p>
          <a:p>
            <a:pPr marL="0" indent="0">
              <a:buNone/>
            </a:pPr>
            <a:endParaRPr lang="en-US" sz="1200" dirty="0" smtClean="0">
              <a:latin typeface="Calibri" panose="020F0502020204030204" pitchFamily="34" charset="0"/>
              <a:cs typeface="Times New Roman" panose="02020603050405020304" pitchFamily="18" charset="0"/>
            </a:endParaRPr>
          </a:p>
          <a:p>
            <a:pPr marL="0" indent="0">
              <a:buNone/>
            </a:pPr>
            <a:r>
              <a:rPr lang="en-US" sz="1400" dirty="0" smtClean="0">
                <a:latin typeface="Calibri" panose="020F0502020204030204" pitchFamily="34" charset="0"/>
                <a:cs typeface="Times New Roman" panose="02020603050405020304" pitchFamily="18" charset="0"/>
              </a:rPr>
              <a:t>For </a:t>
            </a:r>
            <a:r>
              <a:rPr lang="en-US" sz="1400" dirty="0">
                <a:latin typeface="Calibri" panose="020F0502020204030204" pitchFamily="34" charset="0"/>
                <a:cs typeface="Times New Roman" panose="02020603050405020304" pitchFamily="18" charset="0"/>
              </a:rPr>
              <a:t>this contract, the Contractor shall establish, maintain, and adhere to a Small Business Subcontracting Plan that commits the maximum practicable opportunity for small businesses within the contract. </a:t>
            </a:r>
          </a:p>
          <a:p>
            <a:endParaRPr lang="en-US" sz="16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528034453"/>
              </p:ext>
            </p:extLst>
          </p:nvPr>
        </p:nvGraphicFramePr>
        <p:xfrm>
          <a:off x="2657475" y="3429000"/>
          <a:ext cx="3829050" cy="1341120"/>
        </p:xfrm>
        <a:graphic>
          <a:graphicData uri="http://schemas.openxmlformats.org/drawingml/2006/table">
            <a:tbl>
              <a:tblPr firstRow="1" firstCol="1" bandRow="1"/>
              <a:tblGrid>
                <a:gridCol w="2457450"/>
                <a:gridCol w="1371600"/>
              </a:tblGrid>
              <a:tr h="0">
                <a:tc>
                  <a:txBody>
                    <a:bodyPr/>
                    <a:lstStyle/>
                    <a:p>
                      <a:pPr>
                        <a:spcAft>
                          <a:spcPts val="0"/>
                        </a:spcAft>
                      </a:pPr>
                      <a:r>
                        <a:rPr lang="en-US" sz="1100" dirty="0">
                          <a:effectLst/>
                          <a:latin typeface="Times New Roman"/>
                        </a:rPr>
                        <a:t>Small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49%</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Small Disadvantaged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12%</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8(a)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6%</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Woman-Owned Small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10%</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HUBZone Small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3%</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Veteran-Owned Small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4%</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pPr>
                      <a:r>
                        <a:rPr lang="en-US" sz="1100" dirty="0">
                          <a:effectLst/>
                          <a:latin typeface="Times New Roman"/>
                        </a:rPr>
                        <a:t>Service-Disabled Veteran-Owned Small Business</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100" dirty="0">
                          <a:effectLst/>
                          <a:latin typeface="Times New Roman"/>
                        </a:rPr>
                        <a:t>3%</a:t>
                      </a:r>
                      <a:endParaRPr lang="en-US" sz="1100" dirty="0">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42</a:t>
            </a:fld>
            <a:endParaRPr lang="en-US" dirty="0"/>
          </a:p>
        </p:txBody>
      </p:sp>
      <p:sp>
        <p:nvSpPr>
          <p:cNvPr id="8"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Small Business Participation</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Subcontracting Goals</a:t>
            </a:r>
            <a:endParaRPr lang="en-US" sz="2400" b="0" dirty="0">
              <a:solidFill>
                <a:schemeClr val="accent1"/>
              </a:solidFill>
              <a:latin typeface="+mn-lt"/>
            </a:endParaRPr>
          </a:p>
        </p:txBody>
      </p:sp>
    </p:spTree>
    <p:extLst>
      <p:ext uri="{BB962C8B-B14F-4D97-AF65-F5344CB8AC3E}">
        <p14:creationId xmlns:p14="http://schemas.microsoft.com/office/powerpoint/2010/main" val="4150906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153400" cy="3962400"/>
          </a:xfrm>
        </p:spPr>
        <p:txBody>
          <a:bodyPr>
            <a:noAutofit/>
          </a:bodyPr>
          <a:lstStyle/>
          <a:p>
            <a:pPr>
              <a:buFont typeface="Arial" panose="020B0604020202020204" pitchFamily="34" charset="0"/>
              <a:buChar char="•"/>
            </a:pPr>
            <a:r>
              <a:rPr lang="en-US" altLang="en-US" sz="2200" dirty="0">
                <a:latin typeface="Calibri" panose="020F0502020204030204" pitchFamily="34" charset="0"/>
                <a:cs typeface="Times New Roman" panose="02020603050405020304" pitchFamily="18" charset="0"/>
              </a:rPr>
              <a:t>There will be a Vendors Expo held directly after this Pre-Solicitation Conference for networking opportunities for small </a:t>
            </a:r>
            <a:r>
              <a:rPr lang="en-US" altLang="en-US" sz="2200" dirty="0" smtClean="0">
                <a:latin typeface="Calibri" panose="020F0502020204030204" pitchFamily="34" charset="0"/>
                <a:cs typeface="Times New Roman" panose="02020603050405020304" pitchFamily="18" charset="0"/>
              </a:rPr>
              <a:t>and large businesses.</a:t>
            </a:r>
          </a:p>
          <a:p>
            <a:pPr>
              <a:buFont typeface="Arial" panose="020B0604020202020204" pitchFamily="34" charset="0"/>
              <a:buChar char="•"/>
            </a:pPr>
            <a:endParaRPr lang="en-US" altLang="en-US" sz="2200" dirty="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2200" dirty="0" smtClean="0">
                <a:latin typeface="Calibri" panose="020F0502020204030204" pitchFamily="34" charset="0"/>
                <a:cs typeface="Times New Roman" panose="02020603050405020304" pitchFamily="18" charset="0"/>
              </a:rPr>
              <a:t>Please </a:t>
            </a:r>
            <a:r>
              <a:rPr lang="en-US" altLang="en-US" sz="2200" dirty="0">
                <a:latin typeface="Calibri" panose="020F0502020204030204" pitchFamily="34" charset="0"/>
                <a:cs typeface="Times New Roman" panose="02020603050405020304" pitchFamily="18" charset="0"/>
              </a:rPr>
              <a:t>take advantage of this time to exchange ideas, network with other companies, and present capabilities and/or experiences to each </a:t>
            </a:r>
            <a:r>
              <a:rPr lang="en-US" altLang="en-US" sz="2200" dirty="0" smtClean="0">
                <a:latin typeface="Calibri" panose="020F0502020204030204" pitchFamily="34" charset="0"/>
                <a:cs typeface="Times New Roman" panose="02020603050405020304" pitchFamily="18" charset="0"/>
              </a:rPr>
              <a:t>other.</a:t>
            </a:r>
          </a:p>
          <a:p>
            <a:pPr>
              <a:buFont typeface="Arial" panose="020B0604020202020204" pitchFamily="34" charset="0"/>
              <a:buChar char="•"/>
            </a:pPr>
            <a:endParaRPr lang="en-US" altLang="en-US" sz="2200" dirty="0">
              <a:latin typeface="Calibri" panose="020F0502020204030204" pitchFamily="34" charset="0"/>
              <a:cs typeface="Times New Roman" panose="02020603050405020304" pitchFamily="18" charset="0"/>
            </a:endParaRPr>
          </a:p>
          <a:p>
            <a:pPr>
              <a:buFont typeface="Arial" panose="020B0604020202020204" pitchFamily="34" charset="0"/>
              <a:buChar char="•"/>
            </a:pPr>
            <a:r>
              <a:rPr lang="en-US" altLang="en-US" sz="2200" dirty="0" smtClean="0">
                <a:latin typeface="Calibri" panose="020F0502020204030204" pitchFamily="34" charset="0"/>
                <a:cs typeface="Times New Roman" panose="02020603050405020304" pitchFamily="18" charset="0"/>
              </a:rPr>
              <a:t>Furthermore</a:t>
            </a:r>
            <a:r>
              <a:rPr lang="en-US" altLang="en-US" sz="2200" dirty="0">
                <a:latin typeface="Calibri" panose="020F0502020204030204" pitchFamily="34" charset="0"/>
                <a:cs typeface="Times New Roman" panose="02020603050405020304" pitchFamily="18" charset="0"/>
              </a:rPr>
              <a:t>, the agency hopes the event will promote teaming arrangements for this procurement and upcoming opportunities.</a:t>
            </a:r>
          </a:p>
          <a:p>
            <a:endParaRPr lang="en-US" sz="2200" dirty="0"/>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43</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Small Business Participation</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Networking Opportunities</a:t>
            </a:r>
            <a:endParaRPr lang="en-US" sz="2400" b="0" dirty="0">
              <a:solidFill>
                <a:schemeClr val="accent1"/>
              </a:solidFill>
              <a:latin typeface="+mn-lt"/>
            </a:endParaRPr>
          </a:p>
        </p:txBody>
      </p:sp>
    </p:spTree>
    <p:extLst>
      <p:ext uri="{BB962C8B-B14F-4D97-AF65-F5344CB8AC3E}">
        <p14:creationId xmlns:p14="http://schemas.microsoft.com/office/powerpoint/2010/main" val="25998395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8229600" cy="4525963"/>
          </a:xfrm>
        </p:spPr>
        <p:txBody>
          <a:bodyPr>
            <a:normAutofit fontScale="85000" lnSpcReduction="20000"/>
          </a:bodyPr>
          <a:lstStyle/>
          <a:p>
            <a:pPr marL="0" indent="0" algn="ctr">
              <a:lnSpc>
                <a:spcPct val="90000"/>
              </a:lnSpc>
              <a:buNone/>
            </a:pPr>
            <a:r>
              <a:rPr lang="en-US" altLang="en-US" sz="2800" dirty="0" smtClean="0">
                <a:latin typeface="Calibri" panose="020F0502020204030204" pitchFamily="34" charset="0"/>
                <a:cs typeface="Times New Roman" panose="02020603050405020304" pitchFamily="18" charset="0"/>
              </a:rPr>
              <a:t>Acquisition Division’s E-Mail (for this solicitation):</a:t>
            </a:r>
          </a:p>
          <a:p>
            <a:pPr marL="0" indent="0" algn="ctr">
              <a:lnSpc>
                <a:spcPct val="90000"/>
              </a:lnSpc>
              <a:buNone/>
            </a:pPr>
            <a:endParaRPr lang="en-US" altLang="en-US" sz="1300" b="1" dirty="0">
              <a:latin typeface="Calibri" panose="020F0502020204030204" pitchFamily="34" charset="0"/>
              <a:cs typeface="Times New Roman" panose="02020603050405020304" pitchFamily="18" charset="0"/>
            </a:endParaRPr>
          </a:p>
          <a:p>
            <a:pPr marL="0" indent="0" algn="ctr">
              <a:lnSpc>
                <a:spcPct val="90000"/>
              </a:lnSpc>
              <a:buNone/>
            </a:pPr>
            <a:r>
              <a:rPr lang="en-US" altLang="en-US" sz="2400" dirty="0" smtClean="0">
                <a:latin typeface="Calibri" panose="020F0502020204030204" pitchFamily="34" charset="0"/>
                <a:cs typeface="Times New Roman" panose="02020603050405020304" pitchFamily="18" charset="0"/>
                <a:hlinkClick r:id="rId2"/>
              </a:rPr>
              <a:t>acq.2020.comm@census.gov</a:t>
            </a:r>
            <a:endParaRPr lang="en-US" altLang="en-US" sz="2400" dirty="0" smtClean="0">
              <a:latin typeface="Calibri" panose="020F0502020204030204" pitchFamily="34" charset="0"/>
              <a:cs typeface="Times New Roman" panose="02020603050405020304" pitchFamily="18" charset="0"/>
            </a:endParaRPr>
          </a:p>
          <a:p>
            <a:pPr marL="0" indent="0" algn="ctr">
              <a:lnSpc>
                <a:spcPct val="90000"/>
              </a:lnSpc>
              <a:buNone/>
            </a:pPr>
            <a:endParaRPr lang="en-US" altLang="en-US" sz="1400" dirty="0">
              <a:latin typeface="Calibri" panose="020F0502020204030204" pitchFamily="34" charset="0"/>
              <a:cs typeface="Times New Roman" panose="02020603050405020304" pitchFamily="18" charset="0"/>
            </a:endParaRPr>
          </a:p>
          <a:p>
            <a:pPr marL="0" indent="0" algn="ctr">
              <a:lnSpc>
                <a:spcPct val="90000"/>
              </a:lnSpc>
              <a:buNone/>
            </a:pPr>
            <a:r>
              <a:rPr lang="en-US" altLang="en-US" sz="2800" dirty="0">
                <a:latin typeface="Calibri" panose="020F0502020204030204" pitchFamily="34" charset="0"/>
                <a:cs typeface="Times New Roman" panose="02020603050405020304" pitchFamily="18" charset="0"/>
              </a:rPr>
              <a:t>Acquisition </a:t>
            </a:r>
            <a:r>
              <a:rPr lang="en-US" altLang="en-US" sz="2800" dirty="0" smtClean="0">
                <a:latin typeface="Calibri" panose="020F0502020204030204" pitchFamily="34" charset="0"/>
                <a:cs typeface="Times New Roman" panose="02020603050405020304" pitchFamily="18" charset="0"/>
              </a:rPr>
              <a:t>Division’s Website (for this solicitation):</a:t>
            </a:r>
            <a:endParaRPr lang="en-US" altLang="en-US" sz="2800" dirty="0">
              <a:latin typeface="Calibri" panose="020F0502020204030204" pitchFamily="34" charset="0"/>
              <a:cs typeface="Times New Roman" panose="02020603050405020304" pitchFamily="18" charset="0"/>
            </a:endParaRPr>
          </a:p>
          <a:p>
            <a:pPr marL="0" indent="0" algn="ctr">
              <a:lnSpc>
                <a:spcPct val="90000"/>
              </a:lnSpc>
              <a:buNone/>
            </a:pPr>
            <a:endParaRPr lang="en-US" altLang="en-US" sz="1500" u="sng" dirty="0">
              <a:latin typeface="Calibri" panose="020F0502020204030204" pitchFamily="34" charset="0"/>
              <a:cs typeface="Times New Roman" panose="02020603050405020304" pitchFamily="18" charset="0"/>
            </a:endParaRPr>
          </a:p>
          <a:p>
            <a:pPr marL="0" indent="0" algn="ctr">
              <a:lnSpc>
                <a:spcPct val="90000"/>
              </a:lnSpc>
              <a:buNone/>
            </a:pPr>
            <a:r>
              <a:rPr lang="en-US" altLang="en-US" sz="2400" u="sng" dirty="0">
                <a:latin typeface="Calibri" panose="020F0502020204030204" pitchFamily="34" charset="0"/>
                <a:cs typeface="Times New Roman" panose="02020603050405020304" pitchFamily="18" charset="0"/>
                <a:hlinkClick r:id="rId3"/>
              </a:rPr>
              <a:t>http://</a:t>
            </a:r>
            <a:r>
              <a:rPr lang="en-US" altLang="en-US" sz="2400" u="sng" dirty="0" smtClean="0">
                <a:latin typeface="Calibri" panose="020F0502020204030204" pitchFamily="34" charset="0"/>
                <a:cs typeface="Times New Roman" panose="02020603050405020304" pitchFamily="18" charset="0"/>
                <a:hlinkClick r:id="rId3"/>
              </a:rPr>
              <a:t>www.census.gov/about/business-opportunities/opportunities/vender-opps/2014-10-15-2020-comm.html</a:t>
            </a:r>
            <a:endParaRPr lang="en-US" altLang="en-US" sz="2400" u="sng" dirty="0" smtClean="0">
              <a:latin typeface="Calibri" panose="020F0502020204030204" pitchFamily="34" charset="0"/>
              <a:cs typeface="Times New Roman" panose="02020603050405020304" pitchFamily="18" charset="0"/>
            </a:endParaRPr>
          </a:p>
          <a:p>
            <a:pPr marL="0" indent="0" algn="ctr">
              <a:lnSpc>
                <a:spcPct val="90000"/>
              </a:lnSpc>
              <a:buNone/>
            </a:pPr>
            <a:r>
              <a:rPr lang="en-US" altLang="en-US" sz="2400" u="sng" dirty="0" smtClean="0">
                <a:latin typeface="Calibri" panose="020F0502020204030204" pitchFamily="34" charset="0"/>
                <a:cs typeface="Times New Roman" panose="02020603050405020304" pitchFamily="18" charset="0"/>
              </a:rPr>
              <a:t> </a:t>
            </a:r>
            <a:endParaRPr lang="en-US" altLang="en-US" sz="2400" u="sng" dirty="0">
              <a:latin typeface="Calibri" panose="020F0502020204030204" pitchFamily="34" charset="0"/>
              <a:cs typeface="Times New Roman" panose="02020603050405020304" pitchFamily="18" charset="0"/>
            </a:endParaRPr>
          </a:p>
          <a:p>
            <a:pPr marL="0" indent="0">
              <a:lnSpc>
                <a:spcPct val="90000"/>
              </a:lnSpc>
              <a:buNone/>
            </a:pPr>
            <a:endParaRPr lang="en-US" altLang="en-US" sz="1500" dirty="0">
              <a:latin typeface="Calibri" panose="020F0502020204030204" pitchFamily="34" charset="0"/>
              <a:cs typeface="Times New Roman" panose="02020603050405020304" pitchFamily="18" charset="0"/>
            </a:endParaRPr>
          </a:p>
          <a:p>
            <a:pPr marL="0" indent="0" algn="ctr">
              <a:lnSpc>
                <a:spcPct val="90000"/>
              </a:lnSpc>
              <a:buNone/>
            </a:pPr>
            <a:r>
              <a:rPr lang="en-US" altLang="en-US" sz="2600" b="1" dirty="0" smtClean="0">
                <a:latin typeface="Calibri" panose="020F0502020204030204" pitchFamily="34" charset="0"/>
                <a:cs typeface="Times New Roman" panose="02020603050405020304" pitchFamily="18" charset="0"/>
              </a:rPr>
              <a:t>U.S. </a:t>
            </a:r>
            <a:r>
              <a:rPr lang="en-US" altLang="en-US" sz="2600" b="1" dirty="0">
                <a:latin typeface="Calibri" panose="020F0502020204030204" pitchFamily="34" charset="0"/>
                <a:cs typeface="Times New Roman" panose="02020603050405020304" pitchFamily="18" charset="0"/>
              </a:rPr>
              <a:t>Census Bureau – Small Business:</a:t>
            </a:r>
          </a:p>
          <a:p>
            <a:pPr marL="0" indent="0" algn="ctr">
              <a:lnSpc>
                <a:spcPct val="90000"/>
              </a:lnSpc>
              <a:buNone/>
            </a:pPr>
            <a:r>
              <a:rPr lang="en-US" altLang="en-US" sz="2600" dirty="0" smtClean="0">
                <a:latin typeface="Calibri" panose="020F0502020204030204" pitchFamily="34" charset="0"/>
                <a:cs typeface="Times New Roman" panose="02020603050405020304" pitchFamily="18" charset="0"/>
              </a:rPr>
              <a:t>Dijon </a:t>
            </a:r>
            <a:r>
              <a:rPr lang="en-US" altLang="en-US" sz="2600" dirty="0">
                <a:latin typeface="Calibri" panose="020F0502020204030204" pitchFamily="34" charset="0"/>
                <a:cs typeface="Times New Roman" panose="02020603050405020304" pitchFamily="18" charset="0"/>
              </a:rPr>
              <a:t>(DJ) Ferdinand </a:t>
            </a:r>
            <a:r>
              <a:rPr lang="en-US" altLang="en-US" sz="2600" dirty="0" smtClean="0">
                <a:latin typeface="Calibri" panose="020F0502020204030204" pitchFamily="34" charset="0"/>
                <a:cs typeface="Times New Roman" panose="02020603050405020304" pitchFamily="18" charset="0"/>
              </a:rPr>
              <a:t>– 301-763-1822</a:t>
            </a:r>
          </a:p>
          <a:p>
            <a:pPr marL="0" indent="0" algn="ctr">
              <a:lnSpc>
                <a:spcPct val="90000"/>
              </a:lnSpc>
              <a:buNone/>
            </a:pPr>
            <a:endParaRPr lang="en-US" altLang="en-US" sz="2600" dirty="0">
              <a:latin typeface="Calibri" panose="020F0502020204030204" pitchFamily="34" charset="0"/>
              <a:cs typeface="Times New Roman" panose="02020603050405020304" pitchFamily="18" charset="0"/>
            </a:endParaRPr>
          </a:p>
          <a:p>
            <a:pPr marL="0" indent="0" algn="ctr">
              <a:lnSpc>
                <a:spcPct val="90000"/>
              </a:lnSpc>
              <a:buNone/>
            </a:pPr>
            <a:r>
              <a:rPr lang="en-US" altLang="en-US" sz="2600" b="1" dirty="0" smtClean="0">
                <a:latin typeface="Calibri" panose="020F0502020204030204" pitchFamily="34" charset="0"/>
                <a:cs typeface="Times New Roman" panose="02020603050405020304" pitchFamily="18" charset="0"/>
              </a:rPr>
              <a:t>Department of Commerce, Office </a:t>
            </a:r>
            <a:r>
              <a:rPr lang="en-US" altLang="en-US" sz="2600" b="1" dirty="0">
                <a:latin typeface="Calibri" panose="020F0502020204030204" pitchFamily="34" charset="0"/>
                <a:cs typeface="Times New Roman" panose="02020603050405020304" pitchFamily="18" charset="0"/>
              </a:rPr>
              <a:t>of Small and Disadvantaged </a:t>
            </a:r>
          </a:p>
          <a:p>
            <a:pPr marL="0" indent="0" algn="ctr">
              <a:lnSpc>
                <a:spcPct val="90000"/>
              </a:lnSpc>
              <a:buNone/>
            </a:pPr>
            <a:r>
              <a:rPr lang="en-US" altLang="en-US" sz="2600" b="1" dirty="0">
                <a:latin typeface="Calibri" panose="020F0502020204030204" pitchFamily="34" charset="0"/>
                <a:cs typeface="Times New Roman" panose="02020603050405020304" pitchFamily="18" charset="0"/>
              </a:rPr>
              <a:t>Business Utilization:</a:t>
            </a:r>
          </a:p>
          <a:p>
            <a:pPr marL="0" indent="0" algn="ctr">
              <a:lnSpc>
                <a:spcPct val="90000"/>
              </a:lnSpc>
              <a:buNone/>
            </a:pPr>
            <a:r>
              <a:rPr lang="en-US" altLang="en-US" sz="2600" dirty="0" smtClean="0">
                <a:latin typeface="Calibri" panose="020F0502020204030204" pitchFamily="34" charset="0"/>
                <a:cs typeface="Times New Roman" panose="02020603050405020304" pitchFamily="18" charset="0"/>
              </a:rPr>
              <a:t>LaJuene </a:t>
            </a:r>
            <a:r>
              <a:rPr lang="en-US" altLang="en-US" sz="2600" dirty="0">
                <a:latin typeface="Calibri" panose="020F0502020204030204" pitchFamily="34" charset="0"/>
                <a:cs typeface="Times New Roman" panose="02020603050405020304" pitchFamily="18" charset="0"/>
              </a:rPr>
              <a:t>Desmukes </a:t>
            </a:r>
            <a:r>
              <a:rPr lang="en-US" altLang="en-US" sz="2600" dirty="0" smtClean="0">
                <a:latin typeface="Calibri" panose="020F0502020204030204" pitchFamily="34" charset="0"/>
                <a:cs typeface="Times New Roman" panose="02020603050405020304" pitchFamily="18" charset="0"/>
              </a:rPr>
              <a:t>– 202-482-8102</a:t>
            </a:r>
            <a:endParaRPr lang="en-US" altLang="en-US" sz="2600" dirty="0">
              <a:latin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a:xfrm>
            <a:off x="6553200" y="6356350"/>
            <a:ext cx="2133600" cy="365125"/>
          </a:xfrm>
        </p:spPr>
        <p:txBody>
          <a:bodyPr/>
          <a:lstStyle/>
          <a:p>
            <a:fld id="{7268A5C4-149D-4D66-BABE-E6DD2BE69C90}" type="slidenum">
              <a:rPr lang="en-US" smtClean="0"/>
              <a:pPr/>
              <a:t>44</a:t>
            </a:fld>
            <a:endParaRPr lang="en-US" dirty="0"/>
          </a:p>
        </p:txBody>
      </p:sp>
      <p:sp>
        <p:nvSpPr>
          <p:cNvPr id="6" name="Title 2"/>
          <p:cNvSpPr txBox="1">
            <a:spLocks/>
          </p:cNvSpPr>
          <p:nvPr/>
        </p:nvSpPr>
        <p:spPr>
          <a:xfrm>
            <a:off x="457200"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i="0" kern="1200" baseline="0">
                <a:solidFill>
                  <a:schemeClr val="tx1"/>
                </a:solidFill>
                <a:latin typeface="Arial" panose="020B0604020202020204" pitchFamily="34" charset="0"/>
                <a:ea typeface="+mj-ea"/>
                <a:cs typeface="+mj-cs"/>
              </a:defRPr>
            </a:lvl1pPr>
          </a:lstStyle>
          <a:p>
            <a:pPr algn="l"/>
            <a:r>
              <a:rPr lang="en-US" sz="2800" b="0" dirty="0" smtClean="0">
                <a:solidFill>
                  <a:schemeClr val="tx1">
                    <a:lumMod val="75000"/>
                    <a:lumOff val="25000"/>
                  </a:schemeClr>
                </a:solidFill>
                <a:latin typeface="+mn-lt"/>
              </a:rPr>
              <a:t>2020 Census Small Business Participation</a:t>
            </a:r>
            <a:r>
              <a:rPr lang="en-US" sz="2900" b="0" dirty="0" smtClean="0">
                <a:solidFill>
                  <a:schemeClr val="tx1">
                    <a:lumMod val="75000"/>
                    <a:lumOff val="25000"/>
                  </a:schemeClr>
                </a:solidFill>
                <a:latin typeface="+mn-lt"/>
              </a:rPr>
              <a:t/>
            </a:r>
            <a:br>
              <a:rPr lang="en-US" sz="2900" b="0" dirty="0" smtClean="0">
                <a:solidFill>
                  <a:schemeClr val="tx1">
                    <a:lumMod val="75000"/>
                    <a:lumOff val="25000"/>
                  </a:schemeClr>
                </a:solidFill>
                <a:latin typeface="+mn-lt"/>
              </a:rPr>
            </a:br>
            <a:r>
              <a:rPr lang="en-US" sz="2400" b="0" dirty="0" smtClean="0">
                <a:solidFill>
                  <a:schemeClr val="accent1"/>
                </a:solidFill>
                <a:latin typeface="+mn-lt"/>
              </a:rPr>
              <a:t>Contact Information</a:t>
            </a:r>
            <a:endParaRPr lang="en-US" sz="2400" b="0" dirty="0">
              <a:solidFill>
                <a:schemeClr val="accent1"/>
              </a:solidFill>
              <a:latin typeface="+mn-lt"/>
            </a:endParaRPr>
          </a:p>
        </p:txBody>
      </p:sp>
    </p:spTree>
    <p:extLst>
      <p:ext uri="{BB962C8B-B14F-4D97-AF65-F5344CB8AC3E}">
        <p14:creationId xmlns:p14="http://schemas.microsoft.com/office/powerpoint/2010/main" val="3898510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143000"/>
          </a:xfrm>
        </p:spPr>
        <p:txBody>
          <a:bodyPr>
            <a:noAutofit/>
          </a:bodyPr>
          <a:lstStyle/>
          <a:p>
            <a:r>
              <a:rPr lang="en-US" altLang="en-US" dirty="0" smtClean="0">
                <a:latin typeface="Calibri" panose="020F0502020204030204" pitchFamily="34" charset="0"/>
                <a:cs typeface="Times New Roman" panose="02020603050405020304" pitchFamily="18" charset="0"/>
              </a:rPr>
              <a:t>QUESTIONS AND ANSWERS (Q&amp;A) </a:t>
            </a:r>
            <a:endParaRPr lang="en-US" dirty="0">
              <a:latin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457200" y="4267200"/>
            <a:ext cx="7848600" cy="1676400"/>
          </a:xfrm>
        </p:spPr>
        <p:txBody>
          <a:bodyPr>
            <a:noAutofit/>
          </a:bodyPr>
          <a:lstStyle/>
          <a:p>
            <a:pPr marL="0" indent="0" algn="ctr">
              <a:buNone/>
            </a:pPr>
            <a:r>
              <a:rPr lang="en-US" sz="2800" dirty="0" smtClean="0">
                <a:latin typeface="Calibri" panose="020F0502020204030204" pitchFamily="34" charset="0"/>
                <a:cs typeface="Times New Roman" panose="02020603050405020304" pitchFamily="18" charset="0"/>
              </a:rPr>
              <a:t>Kendall Johnson</a:t>
            </a:r>
          </a:p>
          <a:p>
            <a:pPr marL="0" indent="0" algn="ctr">
              <a:buNone/>
            </a:pPr>
            <a:r>
              <a:rPr lang="en-US" sz="2400" dirty="0" smtClean="0">
                <a:latin typeface="Calibri" panose="020F0502020204030204" pitchFamily="34" charset="0"/>
                <a:cs typeface="Times New Roman" panose="02020603050405020304" pitchFamily="18" charset="0"/>
              </a:rPr>
              <a:t>Communications Directorate</a:t>
            </a:r>
            <a:endParaRPr lang="en-US" sz="24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65419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a:bodyPr>
          <a:lstStyle/>
          <a:p>
            <a:r>
              <a:rPr lang="en-US" dirty="0" smtClean="0">
                <a:latin typeface="Calibri" panose="020F0502020204030204" pitchFamily="34" charset="0"/>
                <a:cs typeface="Times New Roman" panose="02020603050405020304" pitchFamily="18" charset="0"/>
              </a:rPr>
              <a:t>QUESTIONS ON THE DRAFT RFP</a:t>
            </a:r>
            <a:endParaRPr lang="en-US" dirty="0">
              <a:latin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457200" y="2209800"/>
            <a:ext cx="8153400" cy="3962400"/>
          </a:xfrm>
        </p:spPr>
        <p:txBody>
          <a:bodyPr>
            <a:normAutofit/>
          </a:bodyPr>
          <a:lstStyle/>
          <a:p>
            <a:pPr>
              <a:buFont typeface="Arial" panose="020B0604020202020204" pitchFamily="34" charset="0"/>
              <a:buChar char="•"/>
            </a:pPr>
            <a:r>
              <a:rPr lang="en-US" altLang="en-US" sz="2800" dirty="0" smtClean="0">
                <a:latin typeface="Calibri" panose="020F0502020204030204" pitchFamily="34" charset="0"/>
                <a:cs typeface="Times New Roman" panose="02020603050405020304" pitchFamily="18" charset="0"/>
              </a:rPr>
              <a:t>Send questions on the Draft RFP to:</a:t>
            </a:r>
          </a:p>
          <a:p>
            <a:pPr marL="0" indent="0">
              <a:buNone/>
            </a:pPr>
            <a:endParaRPr lang="en-US" altLang="en-US" sz="1200" dirty="0" smtClean="0"/>
          </a:p>
          <a:p>
            <a:pPr marL="0" indent="0" algn="ctr">
              <a:buNone/>
            </a:pPr>
            <a:r>
              <a:rPr lang="en-US" altLang="en-US" dirty="0" smtClean="0">
                <a:hlinkClick r:id="rId2"/>
              </a:rPr>
              <a:t>acq.2020.comm@census.gov</a:t>
            </a:r>
            <a:endParaRPr lang="en-US" altLang="en-US" dirty="0"/>
          </a:p>
          <a:p>
            <a:pPr marL="0" indent="0" algn="ctr">
              <a:buNone/>
            </a:pPr>
            <a:endParaRPr lang="en-US" altLang="en-US" dirty="0" smtClean="0"/>
          </a:p>
          <a:p>
            <a:pPr>
              <a:buFont typeface="Arial" panose="020B0604020202020204" pitchFamily="34" charset="0"/>
              <a:buChar char="•"/>
            </a:pPr>
            <a:r>
              <a:rPr lang="en-US" altLang="en-US" sz="2800" dirty="0" smtClean="0"/>
              <a:t>No later than 3:00 p.m. EST on Monday, December 28, 2015</a:t>
            </a:r>
            <a:endParaRPr lang="en-US" altLang="en-US" sz="2800" dirty="0"/>
          </a:p>
        </p:txBody>
      </p:sp>
    </p:spTree>
    <p:extLst>
      <p:ext uri="{BB962C8B-B14F-4D97-AF65-F5344CB8AC3E}">
        <p14:creationId xmlns:p14="http://schemas.microsoft.com/office/powerpoint/2010/main" val="3328152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001000" cy="3886200"/>
          </a:xfrm>
        </p:spPr>
        <p:txBody>
          <a:bodyPr>
            <a:normAutofit/>
          </a:bodyPr>
          <a:lstStyle/>
          <a:p>
            <a:r>
              <a:rPr lang="en-US" altLang="en-US" dirty="0" smtClean="0">
                <a:latin typeface="Calibri" panose="020F0502020204030204" pitchFamily="34" charset="0"/>
                <a:cs typeface="Times New Roman" panose="02020603050405020304" pitchFamily="18" charset="0"/>
              </a:rPr>
              <a:t>CLOSING REMARKS</a:t>
            </a:r>
            <a:br>
              <a:rPr lang="en-US" altLang="en-US" dirty="0" smtClean="0">
                <a:latin typeface="Calibri" panose="020F0502020204030204" pitchFamily="34" charset="0"/>
                <a:cs typeface="Times New Roman" panose="02020603050405020304" pitchFamily="18" charset="0"/>
              </a:rPr>
            </a:br>
            <a:r>
              <a:rPr lang="en-US" altLang="en-US" dirty="0" smtClean="0">
                <a:latin typeface="Calibri" panose="020F0502020204030204" pitchFamily="34" charset="0"/>
                <a:cs typeface="Times New Roman" panose="02020603050405020304" pitchFamily="18" charset="0"/>
              </a:rPr>
              <a:t/>
            </a:r>
            <a:br>
              <a:rPr lang="en-US" altLang="en-US" dirty="0" smtClean="0">
                <a:latin typeface="Calibri" panose="020F0502020204030204" pitchFamily="34" charset="0"/>
                <a:cs typeface="Times New Roman" panose="02020603050405020304" pitchFamily="18" charset="0"/>
              </a:rPr>
            </a:br>
            <a:r>
              <a:rPr lang="en-US" altLang="en-US" sz="3200" b="0" i="1" dirty="0" smtClean="0">
                <a:latin typeface="Calibri" panose="020F0502020204030204" pitchFamily="34" charset="0"/>
                <a:cs typeface="Times New Roman" panose="02020603050405020304" pitchFamily="18" charset="0"/>
              </a:rPr>
              <a:t>Thank you for your participation in the conference and vendor expo.</a:t>
            </a:r>
            <a:endParaRPr lang="en-US" sz="3200" b="0" i="1" dirty="0">
              <a:latin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457200" y="4846637"/>
            <a:ext cx="8229600" cy="1477963"/>
          </a:xfrm>
        </p:spPr>
        <p:txBody>
          <a:bodyPr>
            <a:normAutofit/>
          </a:bodyPr>
          <a:lstStyle/>
          <a:p>
            <a:pPr marL="0" indent="0" algn="ctr">
              <a:lnSpc>
                <a:spcPct val="90000"/>
              </a:lnSpc>
              <a:buNone/>
            </a:pPr>
            <a:r>
              <a:rPr lang="en-US" altLang="en-US" sz="2800" dirty="0" smtClean="0">
                <a:latin typeface="Calibri" panose="020F0502020204030204" pitchFamily="34" charset="0"/>
                <a:cs typeface="Times New Roman" panose="02020603050405020304" pitchFamily="18" charset="0"/>
              </a:rPr>
              <a:t>Kendall Johnson</a:t>
            </a:r>
          </a:p>
          <a:p>
            <a:pPr marL="0" indent="0" algn="ctr">
              <a:lnSpc>
                <a:spcPct val="90000"/>
              </a:lnSpc>
              <a:buNone/>
            </a:pPr>
            <a:r>
              <a:rPr lang="en-US" altLang="en-US" sz="2400" dirty="0" smtClean="0">
                <a:latin typeface="Calibri" panose="020F0502020204030204" pitchFamily="34" charset="0"/>
                <a:cs typeface="Times New Roman" panose="02020603050405020304" pitchFamily="18" charset="0"/>
              </a:rPr>
              <a:t>Communications Directorate</a:t>
            </a:r>
          </a:p>
        </p:txBody>
      </p:sp>
    </p:spTree>
    <p:extLst>
      <p:ext uri="{BB962C8B-B14F-4D97-AF65-F5344CB8AC3E}">
        <p14:creationId xmlns:p14="http://schemas.microsoft.com/office/powerpoint/2010/main" val="1389609405"/>
      </p:ext>
    </p:extLst>
  </p:cSld>
  <p:clrMapOvr>
    <a:masterClrMapping/>
  </p:clrMapOvr>
</p:sld>
</file>

<file path=ppt/theme/theme1.xml><?xml version="1.0" encoding="utf-8"?>
<a:theme xmlns:a="http://schemas.openxmlformats.org/drawingml/2006/main" name="External_General_Basi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External_General_Basic</Template>
  <TotalTime>3095</TotalTime>
  <Words>3219</Words>
  <Application>Microsoft Office PowerPoint</Application>
  <PresentationFormat>On-screen Show (4:3)</PresentationFormat>
  <Paragraphs>613</Paragraphs>
  <Slides>47</Slides>
  <Notes>32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49" baseType="lpstr">
      <vt:lpstr>External_General_Basic</vt:lpstr>
      <vt:lpstr>Bitmap Image</vt:lpstr>
      <vt:lpstr>PRE-SOLICIATION CONFERENCE AND VENDOR EXPO  2020 Census Integrated Communications Contract    U.S. Census Bureau Friday, December 18, 2015 10:00 a.m. to 2:00 p.m. </vt:lpstr>
      <vt:lpstr>WELCOME AND OPENING REMARKS</vt:lpstr>
      <vt:lpstr>2020 Census Operational Plan</vt:lpstr>
      <vt:lpstr>The Decennial Census </vt:lpstr>
      <vt:lpstr>The Decennial Census The 2020 Census Environment </vt:lpstr>
      <vt:lpstr>The 2020 Census Goals and Key Innovation Areas </vt:lpstr>
      <vt:lpstr>The 2020 Census: Establish Where to Count Reengineering Address Canvassing </vt:lpstr>
      <vt:lpstr>PowerPoint Presentation</vt:lpstr>
      <vt:lpstr>The 2020 Census: Count the Population Reengineering Field Operations </vt:lpstr>
      <vt:lpstr>The 2020 Census: Count the Population Utilizing Administrative Records and Third-Party Data </vt:lpstr>
      <vt:lpstr>The 2020 Census A New Design for the 21st Century </vt:lpstr>
      <vt:lpstr>Overview of the 2020 Census Integrated Partnership and Communications (IPC) Program</vt:lpstr>
      <vt:lpstr>2020 Census The Mission</vt:lpstr>
      <vt:lpstr>2020 Census Purpose of the Integrated Partnership and Communications (IPC) Program </vt:lpstr>
      <vt:lpstr>PowerPoint Presentation</vt:lpstr>
      <vt:lpstr>2010 Census Audience Segmentation</vt:lpstr>
      <vt:lpstr>PowerPoint Presentation</vt:lpstr>
      <vt:lpstr>2010 Census Advertising Campaign</vt:lpstr>
      <vt:lpstr>2010 Census Campaign Phases</vt:lpstr>
      <vt:lpstr>2010 Census Top Lessons Learned</vt:lpstr>
      <vt:lpstr>2010 Census Top Lessons Learned (Continued)</vt:lpstr>
      <vt:lpstr>2010 Census Evaluation of the Campaign</vt:lpstr>
      <vt:lpstr>2015 Census Test: Optimizing Self-Response Communications Research</vt:lpstr>
      <vt:lpstr>2015 Census Test: Optimizing Self Response Communications Research (Continued)</vt:lpstr>
      <vt:lpstr>2015 Census Test:  Optimizing Self-Response Paid Advertising  </vt:lpstr>
      <vt:lpstr>2015 Census Test: Optimizing Self-Response Landscape</vt:lpstr>
      <vt:lpstr>The 2020 Census The 2020 Census Key Upcoming Activities</vt:lpstr>
      <vt:lpstr>REQUEST FOR PROPOSAL (RFP) DISCUSSION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SMALL BUSINESS PARTICIPATION </vt:lpstr>
      <vt:lpstr>PowerPoint Presentation</vt:lpstr>
      <vt:lpstr>PowerPoint Presentation</vt:lpstr>
      <vt:lpstr>PowerPoint Presentation</vt:lpstr>
      <vt:lpstr>PowerPoint Presentation</vt:lpstr>
      <vt:lpstr>PowerPoint Presentation</vt:lpstr>
      <vt:lpstr>QUESTIONS AND ANSWERS (Q&amp;A) </vt:lpstr>
      <vt:lpstr>QUESTIONS ON THE DRAFT RFP</vt:lpstr>
      <vt:lpstr>CLOSING REMARKS  Thank you for your participation in the conference and vendor expo.</vt:lpstr>
    </vt:vector>
  </TitlesOfParts>
  <Company>U.S. Department of Commerce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Terrina L Long</dc:creator>
  <cp:lastModifiedBy>Laura A Sewell</cp:lastModifiedBy>
  <cp:revision>104</cp:revision>
  <cp:lastPrinted>2015-12-15T20:35:19Z</cp:lastPrinted>
  <dcterms:created xsi:type="dcterms:W3CDTF">2015-10-05T15:54:37Z</dcterms:created>
  <dcterms:modified xsi:type="dcterms:W3CDTF">2015-12-17T18:07:26Z</dcterms:modified>
</cp:coreProperties>
</file>